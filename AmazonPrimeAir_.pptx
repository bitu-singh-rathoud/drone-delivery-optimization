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71"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7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B3A6B"/>
          </a:solidFill>
          <a:ln w="12700">
            <a:solidFill>
              <a:srgbClr val="1B3A6B"/>
            </a:solidFill>
            <a:prstDash val="solid"/>
          </a:ln>
        </p:spPr>
        <p:txBody>
          <a:bodyPr/>
          <a:lstStyle/>
          <a:p>
            <a:endParaRPr lang="en-US"/>
          </a:p>
        </p:txBody>
      </p:sp>
      <p:sp>
        <p:nvSpPr>
          <p:cNvPr id="3" name="Shape 1"/>
          <p:cNvSpPr/>
          <p:nvPr/>
        </p:nvSpPr>
        <p:spPr>
          <a:xfrm>
            <a:off x="0" y="4480560"/>
            <a:ext cx="4114800" cy="662940"/>
          </a:xfrm>
          <a:prstGeom prst="rect">
            <a:avLst/>
          </a:prstGeom>
          <a:solidFill>
            <a:srgbClr val="E87722"/>
          </a:solidFill>
          <a:ln w="12700">
            <a:solidFill>
              <a:srgbClr val="E87722"/>
            </a:solidFill>
            <a:prstDash val="solid"/>
          </a:ln>
        </p:spPr>
        <p:txBody>
          <a:bodyPr/>
          <a:lstStyle/>
          <a:p>
            <a:endParaRPr lang="en-US"/>
          </a:p>
        </p:txBody>
      </p:sp>
      <p:sp>
        <p:nvSpPr>
          <p:cNvPr id="4" name="Text 2"/>
          <p:cNvSpPr/>
          <p:nvPr/>
        </p:nvSpPr>
        <p:spPr>
          <a:xfrm>
            <a:off x="182880" y="4526280"/>
            <a:ext cx="37490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amazon prime air</a:t>
            </a:r>
            <a:endParaRPr lang="en-US" sz="1400" dirty="0"/>
          </a:p>
        </p:txBody>
      </p:sp>
      <p:sp>
        <p:nvSpPr>
          <p:cNvPr id="5" name="Shape 3"/>
          <p:cNvSpPr/>
          <p:nvPr/>
        </p:nvSpPr>
        <p:spPr>
          <a:xfrm>
            <a:off x="822960" y="457200"/>
            <a:ext cx="2377440" cy="2377440"/>
          </a:xfrm>
          <a:prstGeom prst="ellipse">
            <a:avLst/>
          </a:prstGeom>
          <a:solidFill>
            <a:srgbClr val="C8D8EE"/>
          </a:solidFill>
          <a:ln w="25400">
            <a:solidFill>
              <a:srgbClr val="FFFFFF"/>
            </a:solidFill>
            <a:prstDash val="solid"/>
          </a:ln>
        </p:spPr>
        <p:txBody>
          <a:bodyPr/>
          <a:lstStyle/>
          <a:p>
            <a:endParaRPr lang="en-US"/>
          </a:p>
        </p:txBody>
      </p:sp>
      <p:sp>
        <p:nvSpPr>
          <p:cNvPr id="6" name="Text 4"/>
          <p:cNvSpPr/>
          <p:nvPr/>
        </p:nvSpPr>
        <p:spPr>
          <a:xfrm>
            <a:off x="822960" y="457200"/>
            <a:ext cx="2377440" cy="2377440"/>
          </a:xfrm>
          <a:prstGeom prst="rect">
            <a:avLst/>
          </a:prstGeom>
          <a:noFill/>
          <a:ln/>
        </p:spPr>
        <p:txBody>
          <a:bodyPr wrap="square" lIns="0" tIns="0" rIns="0" bIns="0" rtlCol="0" anchor="ctr"/>
          <a:lstStyle/>
          <a:p>
            <a:pPr marL="0" indent="0" algn="ctr">
              <a:buNone/>
            </a:pPr>
            <a:r>
              <a:rPr lang="en-US" sz="7200" dirty="0">
                <a:solidFill>
                  <a:srgbClr val="000000"/>
                </a:solidFill>
              </a:rPr>
              <a:t>🚁</a:t>
            </a:r>
            <a:endParaRPr lang="en-US" sz="7200" dirty="0"/>
          </a:p>
        </p:txBody>
      </p:sp>
      <p:sp>
        <p:nvSpPr>
          <p:cNvPr id="7" name="Shape 5"/>
          <p:cNvSpPr/>
          <p:nvPr/>
        </p:nvSpPr>
        <p:spPr>
          <a:xfrm>
            <a:off x="182880" y="2971800"/>
            <a:ext cx="3749040" cy="1417320"/>
          </a:xfrm>
          <a:prstGeom prst="rect">
            <a:avLst/>
          </a:prstGeom>
          <a:solidFill>
            <a:srgbClr val="162D55"/>
          </a:solidFill>
          <a:ln w="12700">
            <a:solidFill>
              <a:srgbClr val="162D55"/>
            </a:solidFill>
            <a:prstDash val="solid"/>
          </a:ln>
        </p:spPr>
        <p:txBody>
          <a:bodyPr/>
          <a:lstStyle/>
          <a:p>
            <a:endParaRPr lang="en-US"/>
          </a:p>
        </p:txBody>
      </p:sp>
      <p:sp>
        <p:nvSpPr>
          <p:cNvPr id="8" name="Text 6"/>
          <p:cNvSpPr/>
          <p:nvPr/>
        </p:nvSpPr>
        <p:spPr>
          <a:xfrm>
            <a:off x="274320" y="3017520"/>
            <a:ext cx="3657600" cy="228600"/>
          </a:xfrm>
          <a:prstGeom prst="rect">
            <a:avLst/>
          </a:prstGeom>
          <a:noFill/>
          <a:ln/>
        </p:spPr>
        <p:txBody>
          <a:bodyPr wrap="square" lIns="0" tIns="0" rIns="0" bIns="0"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B001  Shatakshi Pandey</a:t>
            </a:r>
            <a:endParaRPr lang="en-US" sz="1000" dirty="0"/>
          </a:p>
        </p:txBody>
      </p:sp>
      <p:sp>
        <p:nvSpPr>
          <p:cNvPr id="9" name="Text 7"/>
          <p:cNvSpPr/>
          <p:nvPr/>
        </p:nvSpPr>
        <p:spPr>
          <a:xfrm>
            <a:off x="274320" y="3264408"/>
            <a:ext cx="3657600" cy="228600"/>
          </a:xfrm>
          <a:prstGeom prst="rect">
            <a:avLst/>
          </a:prstGeom>
          <a:noFill/>
          <a:ln/>
        </p:spPr>
        <p:txBody>
          <a:bodyPr wrap="square" lIns="0" tIns="0" rIns="0" bIns="0"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B010  Nihar Sahu</a:t>
            </a:r>
            <a:endParaRPr lang="en-US" sz="1000" dirty="0"/>
          </a:p>
        </p:txBody>
      </p:sp>
      <p:sp>
        <p:nvSpPr>
          <p:cNvPr id="10" name="Text 8"/>
          <p:cNvSpPr/>
          <p:nvPr/>
        </p:nvSpPr>
        <p:spPr>
          <a:xfrm>
            <a:off x="274320" y="3511296"/>
            <a:ext cx="3657600" cy="228600"/>
          </a:xfrm>
          <a:prstGeom prst="rect">
            <a:avLst/>
          </a:prstGeom>
          <a:noFill/>
          <a:ln/>
        </p:spPr>
        <p:txBody>
          <a:bodyPr wrap="square" lIns="0" tIns="0" rIns="0" bIns="0"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B018  Firdaus Khan</a:t>
            </a:r>
            <a:endParaRPr lang="en-US" sz="1000" dirty="0"/>
          </a:p>
        </p:txBody>
      </p:sp>
      <p:sp>
        <p:nvSpPr>
          <p:cNvPr id="11" name="Text 9"/>
          <p:cNvSpPr/>
          <p:nvPr/>
        </p:nvSpPr>
        <p:spPr>
          <a:xfrm>
            <a:off x="274320" y="3758184"/>
            <a:ext cx="3657600" cy="228600"/>
          </a:xfrm>
          <a:prstGeom prst="rect">
            <a:avLst/>
          </a:prstGeom>
          <a:noFill/>
          <a:ln/>
        </p:spPr>
        <p:txBody>
          <a:bodyPr wrap="square" lIns="0" tIns="0" rIns="0" bIns="0"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B025  Bitu Singh</a:t>
            </a:r>
            <a:endParaRPr lang="en-US" sz="1000" dirty="0"/>
          </a:p>
        </p:txBody>
      </p:sp>
      <p:sp>
        <p:nvSpPr>
          <p:cNvPr id="12" name="Text 10"/>
          <p:cNvSpPr/>
          <p:nvPr/>
        </p:nvSpPr>
        <p:spPr>
          <a:xfrm>
            <a:off x="274320" y="4005072"/>
            <a:ext cx="3657600" cy="228600"/>
          </a:xfrm>
          <a:prstGeom prst="rect">
            <a:avLst/>
          </a:prstGeom>
          <a:noFill/>
          <a:ln/>
        </p:spPr>
        <p:txBody>
          <a:bodyPr wrap="square" lIns="0" tIns="0" rIns="0" bIns="0" rtlCol="0" anchor="ctr"/>
          <a:lstStyle/>
          <a:p>
            <a:pPr marL="0" indent="0">
              <a:buNone/>
            </a:pPr>
            <a:r>
              <a:rPr lang="en-US" sz="1000" dirty="0">
                <a:solidFill>
                  <a:srgbClr val="C8D8EE"/>
                </a:solidFill>
                <a:latin typeface="Calibri" pitchFamily="34" charset="0"/>
                <a:ea typeface="Calibri" pitchFamily="34" charset="-122"/>
                <a:cs typeface="Calibri" pitchFamily="34" charset="-120"/>
              </a:rPr>
              <a:t>B027  Neha Singh</a:t>
            </a:r>
            <a:endParaRPr lang="en-US" sz="1000" dirty="0"/>
          </a:p>
        </p:txBody>
      </p:sp>
      <p:sp>
        <p:nvSpPr>
          <p:cNvPr id="13" name="Text 11"/>
          <p:cNvSpPr/>
          <p:nvPr/>
        </p:nvSpPr>
        <p:spPr>
          <a:xfrm>
            <a:off x="4389120" y="457200"/>
            <a:ext cx="4572000" cy="731520"/>
          </a:xfrm>
          <a:prstGeom prst="rect">
            <a:avLst/>
          </a:prstGeom>
          <a:noFill/>
          <a:ln/>
        </p:spPr>
        <p:txBody>
          <a:bodyPr wrap="square" lIns="0" tIns="0" rIns="0" bIns="0" rtlCol="0" anchor="ctr"/>
          <a:lstStyle/>
          <a:p>
            <a:pPr marL="0" indent="0">
              <a:buNone/>
            </a:pPr>
            <a:r>
              <a:rPr lang="en-US" sz="5400" b="1" dirty="0">
                <a:solidFill>
                  <a:srgbClr val="1B3A6B"/>
                </a:solidFill>
                <a:latin typeface="Calibri" pitchFamily="34" charset="0"/>
                <a:ea typeface="Calibri" pitchFamily="34" charset="-122"/>
                <a:cs typeface="Calibri" pitchFamily="34" charset="-120"/>
              </a:rPr>
              <a:t>BIG DATA</a:t>
            </a:r>
            <a:endParaRPr lang="en-US" sz="5400" dirty="0"/>
          </a:p>
        </p:txBody>
      </p:sp>
      <p:sp>
        <p:nvSpPr>
          <p:cNvPr id="14" name="Text 12"/>
          <p:cNvSpPr/>
          <p:nvPr/>
        </p:nvSpPr>
        <p:spPr>
          <a:xfrm>
            <a:off x="4389120" y="1143000"/>
            <a:ext cx="4572000" cy="594360"/>
          </a:xfrm>
          <a:prstGeom prst="rect">
            <a:avLst/>
          </a:prstGeom>
          <a:noFill/>
          <a:ln/>
        </p:spPr>
        <p:txBody>
          <a:bodyPr wrap="square" lIns="0" tIns="0" rIns="0" bIns="0" rtlCol="0" anchor="ctr"/>
          <a:lstStyle/>
          <a:p>
            <a:pPr marL="0" indent="0">
              <a:buNone/>
            </a:pPr>
            <a:r>
              <a:rPr lang="en-US" sz="3600" b="1" dirty="0">
                <a:solidFill>
                  <a:srgbClr val="E87722"/>
                </a:solidFill>
                <a:latin typeface="Calibri" pitchFamily="34" charset="0"/>
                <a:ea typeface="Calibri" pitchFamily="34" charset="-122"/>
                <a:cs typeface="Calibri" pitchFamily="34" charset="-120"/>
              </a:rPr>
              <a:t>ARCHITECTURE</a:t>
            </a:r>
            <a:endParaRPr lang="en-US" sz="3600" dirty="0"/>
          </a:p>
        </p:txBody>
      </p:sp>
      <p:sp>
        <p:nvSpPr>
          <p:cNvPr id="15" name="Text 13"/>
          <p:cNvSpPr/>
          <p:nvPr/>
        </p:nvSpPr>
        <p:spPr>
          <a:xfrm>
            <a:off x="4389120" y="1783080"/>
            <a:ext cx="4572000" cy="822960"/>
          </a:xfrm>
          <a:prstGeom prst="rect">
            <a:avLst/>
          </a:prstGeom>
          <a:noFill/>
          <a:ln/>
        </p:spPr>
        <p:txBody>
          <a:bodyPr wrap="square" lIns="0" tIns="0" rIns="0" bIns="0" rtlCol="0" anchor="ctr"/>
          <a:lstStyle/>
          <a:p>
            <a:pPr marL="0" indent="0">
              <a:buNone/>
            </a:pPr>
            <a:r>
              <a:rPr lang="en-US" sz="2000" dirty="0">
                <a:solidFill>
                  <a:srgbClr val="1B3A6B"/>
                </a:solidFill>
                <a:latin typeface="Calibri" pitchFamily="34" charset="0"/>
                <a:ea typeface="Calibri" pitchFamily="34" charset="-122"/>
                <a:cs typeface="Calibri" pitchFamily="34" charset="-120"/>
              </a:rPr>
              <a:t>for Autonomous Drone</a:t>
            </a:r>
            <a:endParaRPr lang="en-US" sz="2000" dirty="0"/>
          </a:p>
          <a:p>
            <a:pPr marL="0" indent="0">
              <a:buNone/>
            </a:pPr>
            <a:r>
              <a:rPr lang="en-US" sz="2000" dirty="0">
                <a:solidFill>
                  <a:srgbClr val="1B3A6B"/>
                </a:solidFill>
                <a:latin typeface="Calibri" pitchFamily="34" charset="0"/>
                <a:ea typeface="Calibri" pitchFamily="34" charset="-122"/>
                <a:cs typeface="Calibri" pitchFamily="34" charset="-120"/>
              </a:rPr>
              <a:t>Swarm Coordination</a:t>
            </a:r>
            <a:endParaRPr lang="en-US" sz="2000" dirty="0"/>
          </a:p>
        </p:txBody>
      </p:sp>
      <p:sp>
        <p:nvSpPr>
          <p:cNvPr id="16" name="Shape 14"/>
          <p:cNvSpPr/>
          <p:nvPr/>
        </p:nvSpPr>
        <p:spPr>
          <a:xfrm>
            <a:off x="4389120" y="2670048"/>
            <a:ext cx="4389120" cy="54864"/>
          </a:xfrm>
          <a:prstGeom prst="rect">
            <a:avLst/>
          </a:prstGeom>
          <a:solidFill>
            <a:srgbClr val="E87722"/>
          </a:solidFill>
          <a:ln w="12700">
            <a:solidFill>
              <a:srgbClr val="E87722"/>
            </a:solidFill>
            <a:prstDash val="solid"/>
          </a:ln>
        </p:spPr>
        <p:txBody>
          <a:bodyPr/>
          <a:lstStyle/>
          <a:p>
            <a:endParaRPr lang="en-US"/>
          </a:p>
        </p:txBody>
      </p:sp>
      <p:sp>
        <p:nvSpPr>
          <p:cNvPr id="17" name="Text 15"/>
          <p:cNvSpPr/>
          <p:nvPr/>
        </p:nvSpPr>
        <p:spPr>
          <a:xfrm>
            <a:off x="4389120" y="2788920"/>
            <a:ext cx="4572000" cy="365760"/>
          </a:xfrm>
          <a:prstGeom prst="rect">
            <a:avLst/>
          </a:prstGeom>
          <a:noFill/>
          <a:ln/>
        </p:spPr>
        <p:txBody>
          <a:bodyPr wrap="square" lIns="0" tIns="0" rIns="0" bIns="0" rtlCol="0" anchor="ctr"/>
          <a:lstStyle/>
          <a:p>
            <a:pPr marL="0" indent="0">
              <a:buNone/>
            </a:pPr>
            <a:r>
              <a:rPr lang="en-US" sz="1600" b="1" i="1" dirty="0">
                <a:solidFill>
                  <a:srgbClr val="E87722"/>
                </a:solidFill>
                <a:latin typeface="Calibri" pitchFamily="34" charset="0"/>
                <a:ea typeface="Calibri" pitchFamily="34" charset="-122"/>
                <a:cs typeface="Calibri" pitchFamily="34" charset="-120"/>
              </a:rPr>
              <a:t>A Case Study of Amazon Prime Air</a:t>
            </a:r>
            <a:endParaRPr lang="en-US" sz="1600" dirty="0"/>
          </a:p>
        </p:txBody>
      </p:sp>
      <p:sp>
        <p:nvSpPr>
          <p:cNvPr id="18" name="Text 16"/>
          <p:cNvSpPr/>
          <p:nvPr/>
        </p:nvSpPr>
        <p:spPr>
          <a:xfrm>
            <a:off x="4389120" y="3200400"/>
            <a:ext cx="4572000" cy="25603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MSc Data Science  |  Big Data Technology</a:t>
            </a:r>
            <a:endParaRPr lang="en-US" sz="1200" dirty="0"/>
          </a:p>
        </p:txBody>
      </p:sp>
      <p:sp>
        <p:nvSpPr>
          <p:cNvPr id="19" name="Shape 17"/>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20" name="Text 18"/>
          <p:cNvSpPr/>
          <p:nvPr/>
        </p:nvSpPr>
        <p:spPr>
          <a:xfrm>
            <a:off x="182880" y="4965192"/>
            <a:ext cx="8778240" cy="16459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BIG DATA ARCHITECTURE  |  AMAZON PRIME AIR CASE STUDY</a:t>
            </a:r>
            <a:endParaRPr lang="en-US" sz="800" dirty="0"/>
          </a:p>
        </p:txBody>
      </p:sp>
      <p:pic>
        <p:nvPicPr>
          <p:cNvPr id="21" name="Image 0">
            <a:extLst>
              <a:ext uri="{FF2B5EF4-FFF2-40B4-BE49-F238E27FC236}">
                <a16:creationId xmlns:a16="http://schemas.microsoft.com/office/drawing/2014/main" id="{723F10C2-F581-1AE8-92DF-FA461E0E5660}"/>
              </a:ext>
            </a:extLst>
          </p:cNvPr>
          <p:cNvPicPr>
            <a:picLocks noChangeAspect="1"/>
          </p:cNvPicPr>
          <p:nvPr/>
        </p:nvPicPr>
        <p:blipFill>
          <a:blip r:embed="rId3"/>
          <a:srcRect/>
          <a:stretch/>
        </p:blipFill>
        <p:spPr>
          <a:xfrm>
            <a:off x="137160" y="22860"/>
            <a:ext cx="3931920" cy="2834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About Amazon &amp; Prime Air</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914400"/>
            <a:ext cx="4023360" cy="361188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914400"/>
            <a:ext cx="4023360" cy="384048"/>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65760" y="941832"/>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ABOUT AMAZON</a:t>
            </a:r>
            <a:endParaRPr lang="en-US" sz="1300" dirty="0"/>
          </a:p>
        </p:txBody>
      </p:sp>
      <p:sp>
        <p:nvSpPr>
          <p:cNvPr id="9" name="Shape 7"/>
          <p:cNvSpPr/>
          <p:nvPr/>
        </p:nvSpPr>
        <p:spPr>
          <a:xfrm>
            <a:off x="320040" y="1389888"/>
            <a:ext cx="1097280" cy="329184"/>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320040" y="1389888"/>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Founded</a:t>
            </a:r>
            <a:endParaRPr lang="en-US" sz="900" dirty="0"/>
          </a:p>
        </p:txBody>
      </p:sp>
      <p:sp>
        <p:nvSpPr>
          <p:cNvPr id="11" name="Text 9"/>
          <p:cNvSpPr/>
          <p:nvPr/>
        </p:nvSpPr>
        <p:spPr>
          <a:xfrm>
            <a:off x="1508760" y="1417320"/>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1994 by Jeff Bezos in Seattle, USA</a:t>
            </a:r>
            <a:endParaRPr lang="en-US" sz="1000" dirty="0"/>
          </a:p>
        </p:txBody>
      </p:sp>
      <p:sp>
        <p:nvSpPr>
          <p:cNvPr id="12" name="Shape 10"/>
          <p:cNvSpPr/>
          <p:nvPr/>
        </p:nvSpPr>
        <p:spPr>
          <a:xfrm>
            <a:off x="320040" y="1865376"/>
            <a:ext cx="1097280" cy="329184"/>
          </a:xfrm>
          <a:prstGeom prst="rect">
            <a:avLst/>
          </a:prstGeom>
          <a:solidFill>
            <a:srgbClr val="1B3A6B"/>
          </a:solidFill>
          <a:ln w="12700">
            <a:solidFill>
              <a:srgbClr val="1B3A6B"/>
            </a:solidFill>
            <a:prstDash val="solid"/>
          </a:ln>
        </p:spPr>
        <p:txBody>
          <a:bodyPr/>
          <a:lstStyle/>
          <a:p>
            <a:endParaRPr lang="en-US"/>
          </a:p>
        </p:txBody>
      </p:sp>
      <p:sp>
        <p:nvSpPr>
          <p:cNvPr id="13" name="Text 11"/>
          <p:cNvSpPr/>
          <p:nvPr/>
        </p:nvSpPr>
        <p:spPr>
          <a:xfrm>
            <a:off x="320040" y="1865376"/>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HQ</a:t>
            </a:r>
            <a:endParaRPr lang="en-US" sz="900" dirty="0"/>
          </a:p>
        </p:txBody>
      </p:sp>
      <p:sp>
        <p:nvSpPr>
          <p:cNvPr id="14" name="Text 12"/>
          <p:cNvSpPr/>
          <p:nvPr/>
        </p:nvSpPr>
        <p:spPr>
          <a:xfrm>
            <a:off x="1508760" y="1892808"/>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Seattle, Washington, USA</a:t>
            </a:r>
            <a:endParaRPr lang="en-US" sz="1000" dirty="0"/>
          </a:p>
        </p:txBody>
      </p:sp>
      <p:sp>
        <p:nvSpPr>
          <p:cNvPr id="15" name="Shape 13"/>
          <p:cNvSpPr/>
          <p:nvPr/>
        </p:nvSpPr>
        <p:spPr>
          <a:xfrm>
            <a:off x="320040" y="2340864"/>
            <a:ext cx="1097280" cy="329184"/>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320040" y="2340864"/>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CEO</a:t>
            </a:r>
            <a:endParaRPr lang="en-US" sz="900" dirty="0"/>
          </a:p>
        </p:txBody>
      </p:sp>
      <p:sp>
        <p:nvSpPr>
          <p:cNvPr id="17" name="Text 15"/>
          <p:cNvSpPr/>
          <p:nvPr/>
        </p:nvSpPr>
        <p:spPr>
          <a:xfrm>
            <a:off x="1508760" y="2368296"/>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Andy Jassy (since 2021)</a:t>
            </a:r>
            <a:endParaRPr lang="en-US" sz="1000" dirty="0"/>
          </a:p>
        </p:txBody>
      </p:sp>
      <p:sp>
        <p:nvSpPr>
          <p:cNvPr id="18" name="Shape 16"/>
          <p:cNvSpPr/>
          <p:nvPr/>
        </p:nvSpPr>
        <p:spPr>
          <a:xfrm>
            <a:off x="320040" y="2816352"/>
            <a:ext cx="1097280" cy="329184"/>
          </a:xfrm>
          <a:prstGeom prst="rect">
            <a:avLst/>
          </a:prstGeom>
          <a:solidFill>
            <a:srgbClr val="1B3A6B"/>
          </a:solidFill>
          <a:ln w="12700">
            <a:solidFill>
              <a:srgbClr val="1B3A6B"/>
            </a:solidFill>
            <a:prstDash val="solid"/>
          </a:ln>
        </p:spPr>
        <p:txBody>
          <a:bodyPr/>
          <a:lstStyle/>
          <a:p>
            <a:endParaRPr lang="en-US"/>
          </a:p>
        </p:txBody>
      </p:sp>
      <p:sp>
        <p:nvSpPr>
          <p:cNvPr id="19" name="Text 17"/>
          <p:cNvSpPr/>
          <p:nvPr/>
        </p:nvSpPr>
        <p:spPr>
          <a:xfrm>
            <a:off x="320040" y="2816352"/>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Employees</a:t>
            </a:r>
            <a:endParaRPr lang="en-US" sz="900" dirty="0"/>
          </a:p>
        </p:txBody>
      </p:sp>
      <p:sp>
        <p:nvSpPr>
          <p:cNvPr id="20" name="Text 18"/>
          <p:cNvSpPr/>
          <p:nvPr/>
        </p:nvSpPr>
        <p:spPr>
          <a:xfrm>
            <a:off x="1508760" y="2843784"/>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1.5 Million+ worldwide</a:t>
            </a:r>
            <a:endParaRPr lang="en-US" sz="1000" dirty="0"/>
          </a:p>
        </p:txBody>
      </p:sp>
      <p:sp>
        <p:nvSpPr>
          <p:cNvPr id="21" name="Shape 19"/>
          <p:cNvSpPr/>
          <p:nvPr/>
        </p:nvSpPr>
        <p:spPr>
          <a:xfrm>
            <a:off x="320040" y="3291840"/>
            <a:ext cx="1097280" cy="329184"/>
          </a:xfrm>
          <a:prstGeom prst="rect">
            <a:avLst/>
          </a:prstGeom>
          <a:solidFill>
            <a:srgbClr val="1B3A6B"/>
          </a:solidFill>
          <a:ln w="12700">
            <a:solidFill>
              <a:srgbClr val="1B3A6B"/>
            </a:solidFill>
            <a:prstDash val="solid"/>
          </a:ln>
        </p:spPr>
        <p:txBody>
          <a:bodyPr/>
          <a:lstStyle/>
          <a:p>
            <a:endParaRPr lang="en-US"/>
          </a:p>
        </p:txBody>
      </p:sp>
      <p:sp>
        <p:nvSpPr>
          <p:cNvPr id="22" name="Text 20"/>
          <p:cNvSpPr/>
          <p:nvPr/>
        </p:nvSpPr>
        <p:spPr>
          <a:xfrm>
            <a:off x="320040" y="3291840"/>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Revenue</a:t>
            </a:r>
            <a:endParaRPr lang="en-US" sz="900" dirty="0"/>
          </a:p>
        </p:txBody>
      </p:sp>
      <p:sp>
        <p:nvSpPr>
          <p:cNvPr id="23" name="Text 21"/>
          <p:cNvSpPr/>
          <p:nvPr/>
        </p:nvSpPr>
        <p:spPr>
          <a:xfrm>
            <a:off x="1508760" y="3319272"/>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$575 Billion+ (2023)</a:t>
            </a:r>
            <a:endParaRPr lang="en-US" sz="1000" dirty="0"/>
          </a:p>
        </p:txBody>
      </p:sp>
      <p:sp>
        <p:nvSpPr>
          <p:cNvPr id="24" name="Shape 22"/>
          <p:cNvSpPr/>
          <p:nvPr/>
        </p:nvSpPr>
        <p:spPr>
          <a:xfrm>
            <a:off x="320040" y="3767328"/>
            <a:ext cx="1097280" cy="329184"/>
          </a:xfrm>
          <a:prstGeom prst="rect">
            <a:avLst/>
          </a:prstGeom>
          <a:solidFill>
            <a:srgbClr val="1B3A6B"/>
          </a:solidFill>
          <a:ln w="12700">
            <a:solidFill>
              <a:srgbClr val="1B3A6B"/>
            </a:solidFill>
            <a:prstDash val="solid"/>
          </a:ln>
        </p:spPr>
        <p:txBody>
          <a:bodyPr/>
          <a:lstStyle/>
          <a:p>
            <a:endParaRPr lang="en-US"/>
          </a:p>
        </p:txBody>
      </p:sp>
      <p:sp>
        <p:nvSpPr>
          <p:cNvPr id="25" name="Text 23"/>
          <p:cNvSpPr/>
          <p:nvPr/>
        </p:nvSpPr>
        <p:spPr>
          <a:xfrm>
            <a:off x="320040" y="3767328"/>
            <a:ext cx="1097280"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Core Business</a:t>
            </a:r>
            <a:endParaRPr lang="en-US" sz="900" dirty="0"/>
          </a:p>
        </p:txBody>
      </p:sp>
      <p:sp>
        <p:nvSpPr>
          <p:cNvPr id="26" name="Text 24"/>
          <p:cNvSpPr/>
          <p:nvPr/>
        </p:nvSpPr>
        <p:spPr>
          <a:xfrm>
            <a:off x="1508760" y="3794760"/>
            <a:ext cx="2651760" cy="27432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E-Commerce, Cloud (AWS), AI, Logistics</a:t>
            </a:r>
            <a:endParaRPr lang="en-US" sz="1000" dirty="0"/>
          </a:p>
        </p:txBody>
      </p:sp>
      <p:sp>
        <p:nvSpPr>
          <p:cNvPr id="27" name="Shape 25"/>
          <p:cNvSpPr/>
          <p:nvPr/>
        </p:nvSpPr>
        <p:spPr>
          <a:xfrm>
            <a:off x="4663440" y="914400"/>
            <a:ext cx="4206240" cy="3611880"/>
          </a:xfrm>
          <a:prstGeom prst="rect">
            <a:avLst/>
          </a:prstGeom>
          <a:solidFill>
            <a:srgbClr val="FFFFFF"/>
          </a:solidFill>
          <a:ln w="12700">
            <a:solidFill>
              <a:srgbClr val="C8D8EE"/>
            </a:solidFill>
            <a:prstDash val="solid"/>
          </a:ln>
        </p:spPr>
        <p:txBody>
          <a:bodyPr/>
          <a:lstStyle/>
          <a:p>
            <a:endParaRPr lang="en-US"/>
          </a:p>
        </p:txBody>
      </p:sp>
      <p:sp>
        <p:nvSpPr>
          <p:cNvPr id="28" name="Shape 26"/>
          <p:cNvSpPr/>
          <p:nvPr/>
        </p:nvSpPr>
        <p:spPr>
          <a:xfrm>
            <a:off x="4663440" y="914400"/>
            <a:ext cx="4206240" cy="384048"/>
          </a:xfrm>
          <a:prstGeom prst="rect">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4754880" y="941832"/>
            <a:ext cx="402336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AMAZON PRIME AIR</a:t>
            </a:r>
            <a:endParaRPr lang="en-US" sz="1300" dirty="0"/>
          </a:p>
        </p:txBody>
      </p:sp>
      <p:sp>
        <p:nvSpPr>
          <p:cNvPr id="30" name="Text 28"/>
          <p:cNvSpPr/>
          <p:nvPr/>
        </p:nvSpPr>
        <p:spPr>
          <a:xfrm>
            <a:off x="4754880" y="1481328"/>
            <a:ext cx="3931920" cy="256032"/>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What is Prime Air?</a:t>
            </a:r>
            <a:endParaRPr lang="en-US" sz="1200" dirty="0"/>
          </a:p>
        </p:txBody>
      </p:sp>
      <p:sp>
        <p:nvSpPr>
          <p:cNvPr id="31" name="Text 29"/>
          <p:cNvSpPr/>
          <p:nvPr/>
        </p:nvSpPr>
        <p:spPr>
          <a:xfrm>
            <a:off x="4754880" y="1737360"/>
            <a:ext cx="3931920" cy="640080"/>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Amazon Prime Air is an autonomous drone delivery service designed to deliver packages up to 5 lbs in 30 minutes or less using unmanned aerial vehicles (UAVs).</a:t>
            </a:r>
            <a:endParaRPr lang="en-US" sz="1000" dirty="0"/>
          </a:p>
        </p:txBody>
      </p:sp>
      <p:sp>
        <p:nvSpPr>
          <p:cNvPr id="32" name="Text 30"/>
          <p:cNvSpPr/>
          <p:nvPr/>
        </p:nvSpPr>
        <p:spPr>
          <a:xfrm>
            <a:off x="4754880" y="2286000"/>
            <a:ext cx="3931920" cy="228600"/>
          </a:xfrm>
          <a:prstGeom prst="rect">
            <a:avLst/>
          </a:prstGeom>
          <a:noFill/>
          <a:ln/>
        </p:spPr>
        <p:txBody>
          <a:bodyPr wrap="square" lIns="0" tIns="0" rIns="0" bIns="0" rtlCol="0" anchor="ctr"/>
          <a:lstStyle/>
          <a:p>
            <a:pPr marL="0" indent="0">
              <a:buNone/>
            </a:pPr>
            <a:r>
              <a:rPr lang="en-US" sz="1100" b="1" dirty="0">
                <a:solidFill>
                  <a:srgbClr val="1B3A6B"/>
                </a:solidFill>
                <a:latin typeface="Calibri" pitchFamily="34" charset="0"/>
                <a:ea typeface="Calibri" pitchFamily="34" charset="-122"/>
                <a:cs typeface="Calibri" pitchFamily="34" charset="-120"/>
              </a:rPr>
              <a:t>Key Highlights:</a:t>
            </a:r>
            <a:endParaRPr lang="en-US" sz="1100" dirty="0"/>
          </a:p>
        </p:txBody>
      </p:sp>
      <p:sp>
        <p:nvSpPr>
          <p:cNvPr id="33" name="Text 31"/>
          <p:cNvSpPr/>
          <p:nvPr/>
        </p:nvSpPr>
        <p:spPr>
          <a:xfrm>
            <a:off x="4754880" y="2542032"/>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Delivers packages within 30 minutes</a:t>
            </a:r>
            <a:endParaRPr lang="en-US" sz="950" dirty="0"/>
          </a:p>
        </p:txBody>
      </p:sp>
      <p:sp>
        <p:nvSpPr>
          <p:cNvPr id="34" name="Text 32"/>
          <p:cNvSpPr/>
          <p:nvPr/>
        </p:nvSpPr>
        <p:spPr>
          <a:xfrm>
            <a:off x="4754880" y="2843784"/>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Handles packages up to 5 lbs (2.3 kg)</a:t>
            </a:r>
            <a:endParaRPr lang="en-US" sz="950" dirty="0"/>
          </a:p>
        </p:txBody>
      </p:sp>
      <p:sp>
        <p:nvSpPr>
          <p:cNvPr id="35" name="Text 33"/>
          <p:cNvSpPr/>
          <p:nvPr/>
        </p:nvSpPr>
        <p:spPr>
          <a:xfrm>
            <a:off x="4754880" y="3145536"/>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Operates via fully autonomous navigation</a:t>
            </a:r>
            <a:endParaRPr lang="en-US" sz="950" dirty="0"/>
          </a:p>
        </p:txBody>
      </p:sp>
      <p:sp>
        <p:nvSpPr>
          <p:cNvPr id="36" name="Text 34"/>
          <p:cNvSpPr/>
          <p:nvPr/>
        </p:nvSpPr>
        <p:spPr>
          <a:xfrm>
            <a:off x="4754880" y="3447288"/>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FAA-approved for commercial operations (2019)</a:t>
            </a:r>
            <a:endParaRPr lang="en-US" sz="950" dirty="0"/>
          </a:p>
        </p:txBody>
      </p:sp>
      <p:sp>
        <p:nvSpPr>
          <p:cNvPr id="37" name="Text 35"/>
          <p:cNvSpPr/>
          <p:nvPr/>
        </p:nvSpPr>
        <p:spPr>
          <a:xfrm>
            <a:off x="4754880" y="3749040"/>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Active in: Lockeford CA, College Station TX</a:t>
            </a:r>
            <a:endParaRPr lang="en-US" sz="950" dirty="0"/>
          </a:p>
        </p:txBody>
      </p:sp>
      <p:sp>
        <p:nvSpPr>
          <p:cNvPr id="38" name="Text 36"/>
          <p:cNvSpPr/>
          <p:nvPr/>
        </p:nvSpPr>
        <p:spPr>
          <a:xfrm>
            <a:off x="4754880" y="4050792"/>
            <a:ext cx="3931920" cy="27432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  Uses AI + Big Data for real-time decisions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How Amazon Collects Data</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8595360" cy="347472"/>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365760" y="1042416"/>
            <a:ext cx="841248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Amazon drones collect 4 major categories of data every second during flight:</a:t>
            </a:r>
            <a:endParaRPr lang="en-US" sz="1100" dirty="0"/>
          </a:p>
        </p:txBody>
      </p:sp>
      <p:sp>
        <p:nvSpPr>
          <p:cNvPr id="8" name="Shape 6"/>
          <p:cNvSpPr/>
          <p:nvPr/>
        </p:nvSpPr>
        <p:spPr>
          <a:xfrm>
            <a:off x="274320" y="1444752"/>
            <a:ext cx="2011680" cy="3063240"/>
          </a:xfrm>
          <a:prstGeom prst="rect">
            <a:avLst/>
          </a:prstGeom>
          <a:solidFill>
            <a:srgbClr val="FFFFFF"/>
          </a:solidFill>
          <a:ln w="12700">
            <a:solidFill>
              <a:srgbClr val="C8D8EE"/>
            </a:solidFill>
            <a:prstDash val="solid"/>
          </a:ln>
        </p:spPr>
        <p:txBody>
          <a:bodyPr/>
          <a:lstStyle/>
          <a:p>
            <a:endParaRPr lang="en-US"/>
          </a:p>
        </p:txBody>
      </p:sp>
      <p:sp>
        <p:nvSpPr>
          <p:cNvPr id="9" name="Shape 7"/>
          <p:cNvSpPr/>
          <p:nvPr/>
        </p:nvSpPr>
        <p:spPr>
          <a:xfrm>
            <a:off x="274320" y="1444752"/>
            <a:ext cx="2011680" cy="59436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274320" y="1463040"/>
            <a:ext cx="2011680" cy="274320"/>
          </a:xfrm>
          <a:prstGeom prst="rect">
            <a:avLst/>
          </a:prstGeom>
          <a:noFill/>
          <a:ln/>
        </p:spPr>
        <p:txBody>
          <a:bodyPr wrap="square" lIns="0" tIns="0" rIns="0" bIns="0" rtlCol="0" anchor="ctr"/>
          <a:lstStyle/>
          <a:p>
            <a:pPr marL="0" indent="0" algn="ctr">
              <a:buNone/>
            </a:pPr>
            <a:endParaRPr lang="en-US" sz="1600" dirty="0"/>
          </a:p>
        </p:txBody>
      </p:sp>
      <p:sp>
        <p:nvSpPr>
          <p:cNvPr id="11" name="Text 9"/>
          <p:cNvSpPr/>
          <p:nvPr/>
        </p:nvSpPr>
        <p:spPr>
          <a:xfrm>
            <a:off x="274320" y="1545336"/>
            <a:ext cx="2011680" cy="4663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Location Data</a:t>
            </a:r>
            <a:endParaRPr lang="en-US" sz="1000" dirty="0"/>
          </a:p>
        </p:txBody>
      </p:sp>
      <p:sp>
        <p:nvSpPr>
          <p:cNvPr id="12" name="Shape 10"/>
          <p:cNvSpPr/>
          <p:nvPr/>
        </p:nvSpPr>
        <p:spPr>
          <a:xfrm>
            <a:off x="384048" y="2121408"/>
            <a:ext cx="109728" cy="109728"/>
          </a:xfrm>
          <a:prstGeom prst="ellipse">
            <a:avLst/>
          </a:prstGeom>
          <a:solidFill>
            <a:srgbClr val="1B3A6B"/>
          </a:solidFill>
          <a:ln w="12700">
            <a:solidFill>
              <a:srgbClr val="1B3A6B"/>
            </a:solidFill>
            <a:prstDash val="solid"/>
          </a:ln>
        </p:spPr>
        <p:txBody>
          <a:bodyPr/>
          <a:lstStyle/>
          <a:p>
            <a:endParaRPr lang="en-US"/>
          </a:p>
        </p:txBody>
      </p:sp>
      <p:sp>
        <p:nvSpPr>
          <p:cNvPr id="13" name="Text 11"/>
          <p:cNvSpPr/>
          <p:nvPr/>
        </p:nvSpPr>
        <p:spPr>
          <a:xfrm>
            <a:off x="548640" y="210312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GPS coordinates</a:t>
            </a:r>
            <a:endParaRPr lang="en-US" sz="950" dirty="0"/>
          </a:p>
        </p:txBody>
      </p:sp>
      <p:sp>
        <p:nvSpPr>
          <p:cNvPr id="14" name="Shape 12"/>
          <p:cNvSpPr/>
          <p:nvPr/>
        </p:nvSpPr>
        <p:spPr>
          <a:xfrm>
            <a:off x="384048" y="2624328"/>
            <a:ext cx="109728" cy="109728"/>
          </a:xfrm>
          <a:prstGeom prst="ellipse">
            <a:avLst/>
          </a:prstGeom>
          <a:solidFill>
            <a:srgbClr val="1B3A6B"/>
          </a:solidFill>
          <a:ln w="12700">
            <a:solidFill>
              <a:srgbClr val="1B3A6B"/>
            </a:solidFill>
            <a:prstDash val="solid"/>
          </a:ln>
        </p:spPr>
        <p:txBody>
          <a:bodyPr/>
          <a:lstStyle/>
          <a:p>
            <a:endParaRPr lang="en-US"/>
          </a:p>
        </p:txBody>
      </p:sp>
      <p:sp>
        <p:nvSpPr>
          <p:cNvPr id="15" name="Text 13"/>
          <p:cNvSpPr/>
          <p:nvPr/>
        </p:nvSpPr>
        <p:spPr>
          <a:xfrm>
            <a:off x="548640" y="260604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Altitude readings</a:t>
            </a:r>
            <a:endParaRPr lang="en-US" sz="950" dirty="0"/>
          </a:p>
        </p:txBody>
      </p:sp>
      <p:sp>
        <p:nvSpPr>
          <p:cNvPr id="16" name="Shape 14"/>
          <p:cNvSpPr/>
          <p:nvPr/>
        </p:nvSpPr>
        <p:spPr>
          <a:xfrm>
            <a:off x="384048" y="3127248"/>
            <a:ext cx="109728" cy="109728"/>
          </a:xfrm>
          <a:prstGeom prst="ellipse">
            <a:avLst/>
          </a:prstGeom>
          <a:solidFill>
            <a:srgbClr val="1B3A6B"/>
          </a:solidFill>
          <a:ln w="12700">
            <a:solidFill>
              <a:srgbClr val="1B3A6B"/>
            </a:solidFill>
            <a:prstDash val="solid"/>
          </a:ln>
        </p:spPr>
        <p:txBody>
          <a:bodyPr/>
          <a:lstStyle/>
          <a:p>
            <a:endParaRPr lang="en-US"/>
          </a:p>
        </p:txBody>
      </p:sp>
      <p:sp>
        <p:nvSpPr>
          <p:cNvPr id="17" name="Text 15"/>
          <p:cNvSpPr/>
          <p:nvPr/>
        </p:nvSpPr>
        <p:spPr>
          <a:xfrm>
            <a:off x="548640" y="310896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Route information</a:t>
            </a:r>
            <a:endParaRPr lang="en-US" sz="950" dirty="0"/>
          </a:p>
        </p:txBody>
      </p:sp>
      <p:sp>
        <p:nvSpPr>
          <p:cNvPr id="18" name="Shape 16"/>
          <p:cNvSpPr/>
          <p:nvPr/>
        </p:nvSpPr>
        <p:spPr>
          <a:xfrm>
            <a:off x="384048" y="3630168"/>
            <a:ext cx="109728" cy="109728"/>
          </a:xfrm>
          <a:prstGeom prst="ellipse">
            <a:avLst/>
          </a:prstGeom>
          <a:solidFill>
            <a:srgbClr val="1B3A6B"/>
          </a:solidFill>
          <a:ln w="12700">
            <a:solidFill>
              <a:srgbClr val="1B3A6B"/>
            </a:solidFill>
            <a:prstDash val="solid"/>
          </a:ln>
        </p:spPr>
        <p:txBody>
          <a:bodyPr/>
          <a:lstStyle/>
          <a:p>
            <a:endParaRPr lang="en-US"/>
          </a:p>
        </p:txBody>
      </p:sp>
      <p:sp>
        <p:nvSpPr>
          <p:cNvPr id="19" name="Text 17"/>
          <p:cNvSpPr/>
          <p:nvPr/>
        </p:nvSpPr>
        <p:spPr>
          <a:xfrm>
            <a:off x="548640" y="361188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Current position</a:t>
            </a:r>
            <a:endParaRPr lang="en-US" sz="950" dirty="0"/>
          </a:p>
        </p:txBody>
      </p:sp>
      <p:sp>
        <p:nvSpPr>
          <p:cNvPr id="20" name="Shape 18"/>
          <p:cNvSpPr/>
          <p:nvPr/>
        </p:nvSpPr>
        <p:spPr>
          <a:xfrm>
            <a:off x="2450592" y="1444752"/>
            <a:ext cx="2011680" cy="3063240"/>
          </a:xfrm>
          <a:prstGeom prst="rect">
            <a:avLst/>
          </a:prstGeom>
          <a:solidFill>
            <a:srgbClr val="FFFFFF"/>
          </a:solidFill>
          <a:ln w="12700">
            <a:solidFill>
              <a:srgbClr val="C8D8EE"/>
            </a:solidFill>
            <a:prstDash val="solid"/>
          </a:ln>
        </p:spPr>
        <p:txBody>
          <a:bodyPr/>
          <a:lstStyle/>
          <a:p>
            <a:endParaRPr lang="en-US"/>
          </a:p>
        </p:txBody>
      </p:sp>
      <p:sp>
        <p:nvSpPr>
          <p:cNvPr id="21" name="Shape 19"/>
          <p:cNvSpPr/>
          <p:nvPr/>
        </p:nvSpPr>
        <p:spPr>
          <a:xfrm>
            <a:off x="2450592" y="1444752"/>
            <a:ext cx="2011680" cy="594360"/>
          </a:xfrm>
          <a:prstGeom prst="rect">
            <a:avLst/>
          </a:prstGeom>
          <a:solidFill>
            <a:srgbClr val="E87722"/>
          </a:solidFill>
          <a:ln w="12700">
            <a:solidFill>
              <a:srgbClr val="E87722"/>
            </a:solidFill>
            <a:prstDash val="solid"/>
          </a:ln>
        </p:spPr>
        <p:txBody>
          <a:bodyPr/>
          <a:lstStyle/>
          <a:p>
            <a:endParaRPr lang="en-US"/>
          </a:p>
        </p:txBody>
      </p:sp>
      <p:sp>
        <p:nvSpPr>
          <p:cNvPr id="22" name="Text 20"/>
          <p:cNvSpPr/>
          <p:nvPr/>
        </p:nvSpPr>
        <p:spPr>
          <a:xfrm>
            <a:off x="2450592" y="1463040"/>
            <a:ext cx="2011680" cy="274320"/>
          </a:xfrm>
          <a:prstGeom prst="rect">
            <a:avLst/>
          </a:prstGeom>
          <a:noFill/>
          <a:ln/>
        </p:spPr>
        <p:txBody>
          <a:bodyPr wrap="square" lIns="0" tIns="0" rIns="0" bIns="0" rtlCol="0" anchor="ctr"/>
          <a:lstStyle/>
          <a:p>
            <a:pPr marL="0" indent="0" algn="ctr">
              <a:buNone/>
            </a:pPr>
            <a:endParaRPr lang="en-US" sz="1600" dirty="0"/>
          </a:p>
        </p:txBody>
      </p:sp>
      <p:sp>
        <p:nvSpPr>
          <p:cNvPr id="23" name="Text 21"/>
          <p:cNvSpPr/>
          <p:nvPr/>
        </p:nvSpPr>
        <p:spPr>
          <a:xfrm>
            <a:off x="2450592" y="1481328"/>
            <a:ext cx="201168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Flight Data</a:t>
            </a:r>
            <a:endParaRPr lang="en-US" sz="1000" dirty="0"/>
          </a:p>
        </p:txBody>
      </p:sp>
      <p:sp>
        <p:nvSpPr>
          <p:cNvPr id="24" name="Shape 22"/>
          <p:cNvSpPr/>
          <p:nvPr/>
        </p:nvSpPr>
        <p:spPr>
          <a:xfrm>
            <a:off x="2560320" y="2121408"/>
            <a:ext cx="109728" cy="109728"/>
          </a:xfrm>
          <a:prstGeom prst="ellipse">
            <a:avLst/>
          </a:prstGeom>
          <a:solidFill>
            <a:srgbClr val="E87722"/>
          </a:solidFill>
          <a:ln w="12700">
            <a:solidFill>
              <a:srgbClr val="E87722"/>
            </a:solidFill>
            <a:prstDash val="solid"/>
          </a:ln>
        </p:spPr>
        <p:txBody>
          <a:bodyPr/>
          <a:lstStyle/>
          <a:p>
            <a:endParaRPr lang="en-US"/>
          </a:p>
        </p:txBody>
      </p:sp>
      <p:sp>
        <p:nvSpPr>
          <p:cNvPr id="25" name="Text 23"/>
          <p:cNvSpPr/>
          <p:nvPr/>
        </p:nvSpPr>
        <p:spPr>
          <a:xfrm>
            <a:off x="2724912" y="210312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Speed &amp; direction</a:t>
            </a:r>
            <a:endParaRPr lang="en-US" sz="950" dirty="0"/>
          </a:p>
        </p:txBody>
      </p:sp>
      <p:sp>
        <p:nvSpPr>
          <p:cNvPr id="26" name="Shape 24"/>
          <p:cNvSpPr/>
          <p:nvPr/>
        </p:nvSpPr>
        <p:spPr>
          <a:xfrm>
            <a:off x="2560320" y="2624328"/>
            <a:ext cx="109728" cy="109728"/>
          </a:xfrm>
          <a:prstGeom prst="ellipse">
            <a:avLst/>
          </a:prstGeom>
          <a:solidFill>
            <a:srgbClr val="E87722"/>
          </a:solidFill>
          <a:ln w="12700">
            <a:solidFill>
              <a:srgbClr val="E87722"/>
            </a:solidFill>
            <a:prstDash val="solid"/>
          </a:ln>
        </p:spPr>
        <p:txBody>
          <a:bodyPr/>
          <a:lstStyle/>
          <a:p>
            <a:endParaRPr lang="en-US"/>
          </a:p>
        </p:txBody>
      </p:sp>
      <p:sp>
        <p:nvSpPr>
          <p:cNvPr id="27" name="Text 25"/>
          <p:cNvSpPr/>
          <p:nvPr/>
        </p:nvSpPr>
        <p:spPr>
          <a:xfrm>
            <a:off x="2724912" y="260604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Battery level</a:t>
            </a:r>
            <a:endParaRPr lang="en-US" sz="950" dirty="0"/>
          </a:p>
        </p:txBody>
      </p:sp>
      <p:sp>
        <p:nvSpPr>
          <p:cNvPr id="28" name="Shape 26"/>
          <p:cNvSpPr/>
          <p:nvPr/>
        </p:nvSpPr>
        <p:spPr>
          <a:xfrm>
            <a:off x="2560320" y="3127248"/>
            <a:ext cx="109728" cy="109728"/>
          </a:xfrm>
          <a:prstGeom prst="ellipse">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2724912" y="310896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Motor performance</a:t>
            </a:r>
            <a:endParaRPr lang="en-US" sz="950" dirty="0"/>
          </a:p>
        </p:txBody>
      </p:sp>
      <p:sp>
        <p:nvSpPr>
          <p:cNvPr id="30" name="Shape 28"/>
          <p:cNvSpPr/>
          <p:nvPr/>
        </p:nvSpPr>
        <p:spPr>
          <a:xfrm>
            <a:off x="2560320" y="3630168"/>
            <a:ext cx="109728" cy="109728"/>
          </a:xfrm>
          <a:prstGeom prst="ellipse">
            <a:avLst/>
          </a:prstGeom>
          <a:solidFill>
            <a:srgbClr val="E87722"/>
          </a:solidFill>
          <a:ln w="12700">
            <a:solidFill>
              <a:srgbClr val="E87722"/>
            </a:solidFill>
            <a:prstDash val="solid"/>
          </a:ln>
        </p:spPr>
        <p:txBody>
          <a:bodyPr/>
          <a:lstStyle/>
          <a:p>
            <a:endParaRPr lang="en-US"/>
          </a:p>
        </p:txBody>
      </p:sp>
      <p:sp>
        <p:nvSpPr>
          <p:cNvPr id="31" name="Text 29"/>
          <p:cNvSpPr/>
          <p:nvPr/>
        </p:nvSpPr>
        <p:spPr>
          <a:xfrm>
            <a:off x="2724912" y="361188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Vibration sensors</a:t>
            </a:r>
            <a:endParaRPr lang="en-US" sz="950" dirty="0"/>
          </a:p>
        </p:txBody>
      </p:sp>
      <p:sp>
        <p:nvSpPr>
          <p:cNvPr id="32" name="Shape 30"/>
          <p:cNvSpPr/>
          <p:nvPr/>
        </p:nvSpPr>
        <p:spPr>
          <a:xfrm>
            <a:off x="4626864" y="1444752"/>
            <a:ext cx="2011680" cy="3063240"/>
          </a:xfrm>
          <a:prstGeom prst="rect">
            <a:avLst/>
          </a:prstGeom>
          <a:solidFill>
            <a:srgbClr val="FFFFFF"/>
          </a:solidFill>
          <a:ln w="12700">
            <a:solidFill>
              <a:srgbClr val="C8D8EE"/>
            </a:solidFill>
            <a:prstDash val="solid"/>
          </a:ln>
        </p:spPr>
        <p:txBody>
          <a:bodyPr/>
          <a:lstStyle/>
          <a:p>
            <a:endParaRPr lang="en-US"/>
          </a:p>
        </p:txBody>
      </p:sp>
      <p:sp>
        <p:nvSpPr>
          <p:cNvPr id="33" name="Shape 31"/>
          <p:cNvSpPr/>
          <p:nvPr/>
        </p:nvSpPr>
        <p:spPr>
          <a:xfrm>
            <a:off x="4626864" y="1444752"/>
            <a:ext cx="2011680" cy="594360"/>
          </a:xfrm>
          <a:prstGeom prst="rect">
            <a:avLst/>
          </a:prstGeom>
          <a:solidFill>
            <a:srgbClr val="1B3A6B"/>
          </a:solidFill>
          <a:ln w="12700">
            <a:solidFill>
              <a:srgbClr val="1B3A6B"/>
            </a:solidFill>
            <a:prstDash val="solid"/>
          </a:ln>
        </p:spPr>
        <p:txBody>
          <a:bodyPr/>
          <a:lstStyle/>
          <a:p>
            <a:endParaRPr lang="en-US"/>
          </a:p>
        </p:txBody>
      </p:sp>
      <p:sp>
        <p:nvSpPr>
          <p:cNvPr id="34" name="Text 32"/>
          <p:cNvSpPr/>
          <p:nvPr/>
        </p:nvSpPr>
        <p:spPr>
          <a:xfrm>
            <a:off x="4626864" y="1463040"/>
            <a:ext cx="2011680" cy="274320"/>
          </a:xfrm>
          <a:prstGeom prst="rect">
            <a:avLst/>
          </a:prstGeom>
          <a:noFill/>
          <a:ln/>
        </p:spPr>
        <p:txBody>
          <a:bodyPr wrap="square" lIns="0" tIns="0" rIns="0" bIns="0" rtlCol="0" anchor="ctr"/>
          <a:lstStyle/>
          <a:p>
            <a:pPr marL="0" indent="0" algn="ctr">
              <a:buNone/>
            </a:pPr>
            <a:endParaRPr lang="en-US" sz="1600" dirty="0"/>
          </a:p>
        </p:txBody>
      </p:sp>
      <p:sp>
        <p:nvSpPr>
          <p:cNvPr id="35" name="Text 33"/>
          <p:cNvSpPr/>
          <p:nvPr/>
        </p:nvSpPr>
        <p:spPr>
          <a:xfrm>
            <a:off x="4626864" y="1481328"/>
            <a:ext cx="2011680" cy="53035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Environmental Data</a:t>
            </a:r>
            <a:endParaRPr lang="en-US" sz="1000" dirty="0"/>
          </a:p>
        </p:txBody>
      </p:sp>
      <p:sp>
        <p:nvSpPr>
          <p:cNvPr id="36" name="Shape 34"/>
          <p:cNvSpPr/>
          <p:nvPr/>
        </p:nvSpPr>
        <p:spPr>
          <a:xfrm>
            <a:off x="4736592" y="2121408"/>
            <a:ext cx="109728" cy="109728"/>
          </a:xfrm>
          <a:prstGeom prst="ellipse">
            <a:avLst/>
          </a:prstGeom>
          <a:solidFill>
            <a:srgbClr val="1B3A6B"/>
          </a:solidFill>
          <a:ln w="12700">
            <a:solidFill>
              <a:srgbClr val="1B3A6B"/>
            </a:solidFill>
            <a:prstDash val="solid"/>
          </a:ln>
        </p:spPr>
        <p:txBody>
          <a:bodyPr/>
          <a:lstStyle/>
          <a:p>
            <a:endParaRPr lang="en-US"/>
          </a:p>
        </p:txBody>
      </p:sp>
      <p:sp>
        <p:nvSpPr>
          <p:cNvPr id="37" name="Text 35"/>
          <p:cNvSpPr/>
          <p:nvPr/>
        </p:nvSpPr>
        <p:spPr>
          <a:xfrm>
            <a:off x="4901184" y="210312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Wind speed &amp; direction</a:t>
            </a:r>
            <a:endParaRPr lang="en-US" sz="950" dirty="0"/>
          </a:p>
        </p:txBody>
      </p:sp>
      <p:sp>
        <p:nvSpPr>
          <p:cNvPr id="38" name="Shape 36"/>
          <p:cNvSpPr/>
          <p:nvPr/>
        </p:nvSpPr>
        <p:spPr>
          <a:xfrm>
            <a:off x="4736592" y="2624328"/>
            <a:ext cx="109728" cy="109728"/>
          </a:xfrm>
          <a:prstGeom prst="ellipse">
            <a:avLst/>
          </a:prstGeom>
          <a:solidFill>
            <a:srgbClr val="1B3A6B"/>
          </a:solidFill>
          <a:ln w="12700">
            <a:solidFill>
              <a:srgbClr val="1B3A6B"/>
            </a:solidFill>
            <a:prstDash val="solid"/>
          </a:ln>
        </p:spPr>
        <p:txBody>
          <a:bodyPr/>
          <a:lstStyle/>
          <a:p>
            <a:endParaRPr lang="en-US"/>
          </a:p>
        </p:txBody>
      </p:sp>
      <p:sp>
        <p:nvSpPr>
          <p:cNvPr id="39" name="Text 37"/>
          <p:cNvSpPr/>
          <p:nvPr/>
        </p:nvSpPr>
        <p:spPr>
          <a:xfrm>
            <a:off x="4901184" y="260604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Weather conditions</a:t>
            </a:r>
            <a:endParaRPr lang="en-US" sz="950" dirty="0"/>
          </a:p>
        </p:txBody>
      </p:sp>
      <p:sp>
        <p:nvSpPr>
          <p:cNvPr id="40" name="Shape 38"/>
          <p:cNvSpPr/>
          <p:nvPr/>
        </p:nvSpPr>
        <p:spPr>
          <a:xfrm>
            <a:off x="4736592" y="3127248"/>
            <a:ext cx="109728" cy="109728"/>
          </a:xfrm>
          <a:prstGeom prst="ellipse">
            <a:avLst/>
          </a:prstGeom>
          <a:solidFill>
            <a:srgbClr val="1B3A6B"/>
          </a:solidFill>
          <a:ln w="12700">
            <a:solidFill>
              <a:srgbClr val="1B3A6B"/>
            </a:solidFill>
            <a:prstDash val="solid"/>
          </a:ln>
        </p:spPr>
        <p:txBody>
          <a:bodyPr/>
          <a:lstStyle/>
          <a:p>
            <a:endParaRPr lang="en-US"/>
          </a:p>
        </p:txBody>
      </p:sp>
      <p:sp>
        <p:nvSpPr>
          <p:cNvPr id="41" name="Text 39"/>
          <p:cNvSpPr/>
          <p:nvPr/>
        </p:nvSpPr>
        <p:spPr>
          <a:xfrm>
            <a:off x="4901184" y="310896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Temperature</a:t>
            </a:r>
            <a:endParaRPr lang="en-US" sz="950" dirty="0"/>
          </a:p>
        </p:txBody>
      </p:sp>
      <p:sp>
        <p:nvSpPr>
          <p:cNvPr id="42" name="Shape 40"/>
          <p:cNvSpPr/>
          <p:nvPr/>
        </p:nvSpPr>
        <p:spPr>
          <a:xfrm>
            <a:off x="4736592" y="3630168"/>
            <a:ext cx="109728" cy="109728"/>
          </a:xfrm>
          <a:prstGeom prst="ellipse">
            <a:avLst/>
          </a:prstGeom>
          <a:solidFill>
            <a:srgbClr val="1B3A6B"/>
          </a:solidFill>
          <a:ln w="12700">
            <a:solidFill>
              <a:srgbClr val="1B3A6B"/>
            </a:solidFill>
            <a:prstDash val="solid"/>
          </a:ln>
        </p:spPr>
        <p:txBody>
          <a:bodyPr/>
          <a:lstStyle/>
          <a:p>
            <a:endParaRPr lang="en-US"/>
          </a:p>
        </p:txBody>
      </p:sp>
      <p:sp>
        <p:nvSpPr>
          <p:cNvPr id="43" name="Text 41"/>
          <p:cNvSpPr/>
          <p:nvPr/>
        </p:nvSpPr>
        <p:spPr>
          <a:xfrm>
            <a:off x="4901184" y="361188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Terrain mapping</a:t>
            </a:r>
            <a:endParaRPr lang="en-US" sz="950" dirty="0"/>
          </a:p>
        </p:txBody>
      </p:sp>
      <p:sp>
        <p:nvSpPr>
          <p:cNvPr id="44" name="Shape 42"/>
          <p:cNvSpPr/>
          <p:nvPr/>
        </p:nvSpPr>
        <p:spPr>
          <a:xfrm>
            <a:off x="6803136" y="1444752"/>
            <a:ext cx="2011680" cy="3063240"/>
          </a:xfrm>
          <a:prstGeom prst="rect">
            <a:avLst/>
          </a:prstGeom>
          <a:solidFill>
            <a:srgbClr val="FFFFFF"/>
          </a:solidFill>
          <a:ln w="12700">
            <a:solidFill>
              <a:srgbClr val="C8D8EE"/>
            </a:solidFill>
            <a:prstDash val="solid"/>
          </a:ln>
        </p:spPr>
        <p:txBody>
          <a:bodyPr/>
          <a:lstStyle/>
          <a:p>
            <a:endParaRPr lang="en-US"/>
          </a:p>
        </p:txBody>
      </p:sp>
      <p:sp>
        <p:nvSpPr>
          <p:cNvPr id="45" name="Shape 43"/>
          <p:cNvSpPr/>
          <p:nvPr/>
        </p:nvSpPr>
        <p:spPr>
          <a:xfrm>
            <a:off x="6803136" y="1444752"/>
            <a:ext cx="2011680" cy="594360"/>
          </a:xfrm>
          <a:prstGeom prst="rect">
            <a:avLst/>
          </a:prstGeom>
          <a:solidFill>
            <a:srgbClr val="E87722"/>
          </a:solidFill>
          <a:ln w="12700">
            <a:solidFill>
              <a:srgbClr val="E87722"/>
            </a:solidFill>
            <a:prstDash val="solid"/>
          </a:ln>
        </p:spPr>
        <p:txBody>
          <a:bodyPr/>
          <a:lstStyle/>
          <a:p>
            <a:endParaRPr lang="en-US"/>
          </a:p>
        </p:txBody>
      </p:sp>
      <p:sp>
        <p:nvSpPr>
          <p:cNvPr id="46" name="Text 44"/>
          <p:cNvSpPr/>
          <p:nvPr/>
        </p:nvSpPr>
        <p:spPr>
          <a:xfrm>
            <a:off x="6803136" y="1463040"/>
            <a:ext cx="2011680" cy="274320"/>
          </a:xfrm>
          <a:prstGeom prst="rect">
            <a:avLst/>
          </a:prstGeom>
          <a:noFill/>
          <a:ln/>
        </p:spPr>
        <p:txBody>
          <a:bodyPr wrap="square" lIns="0" tIns="0" rIns="0" bIns="0" rtlCol="0" anchor="ctr"/>
          <a:lstStyle/>
          <a:p>
            <a:pPr marL="0" indent="0" algn="ctr">
              <a:buNone/>
            </a:pPr>
            <a:endParaRPr lang="en-US" sz="1600" dirty="0"/>
          </a:p>
        </p:txBody>
      </p:sp>
      <p:sp>
        <p:nvSpPr>
          <p:cNvPr id="47" name="Text 45"/>
          <p:cNvSpPr/>
          <p:nvPr/>
        </p:nvSpPr>
        <p:spPr>
          <a:xfrm>
            <a:off x="6803136" y="1463040"/>
            <a:ext cx="201168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Obstacle Data</a:t>
            </a:r>
            <a:endParaRPr lang="en-US" sz="1000" dirty="0"/>
          </a:p>
        </p:txBody>
      </p:sp>
      <p:sp>
        <p:nvSpPr>
          <p:cNvPr id="48" name="Shape 46"/>
          <p:cNvSpPr/>
          <p:nvPr/>
        </p:nvSpPr>
        <p:spPr>
          <a:xfrm>
            <a:off x="6912864" y="2121408"/>
            <a:ext cx="109728" cy="109728"/>
          </a:xfrm>
          <a:prstGeom prst="ellipse">
            <a:avLst/>
          </a:prstGeom>
          <a:solidFill>
            <a:srgbClr val="E87722"/>
          </a:solidFill>
          <a:ln w="12700">
            <a:solidFill>
              <a:srgbClr val="E87722"/>
            </a:solidFill>
            <a:prstDash val="solid"/>
          </a:ln>
        </p:spPr>
        <p:txBody>
          <a:bodyPr/>
          <a:lstStyle/>
          <a:p>
            <a:endParaRPr lang="en-US"/>
          </a:p>
        </p:txBody>
      </p:sp>
      <p:sp>
        <p:nvSpPr>
          <p:cNvPr id="49" name="Text 47"/>
          <p:cNvSpPr/>
          <p:nvPr/>
        </p:nvSpPr>
        <p:spPr>
          <a:xfrm>
            <a:off x="7077456" y="210312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Buildings &amp; trees</a:t>
            </a:r>
            <a:endParaRPr lang="en-US" sz="950" dirty="0"/>
          </a:p>
        </p:txBody>
      </p:sp>
      <p:sp>
        <p:nvSpPr>
          <p:cNvPr id="50" name="Shape 48"/>
          <p:cNvSpPr/>
          <p:nvPr/>
        </p:nvSpPr>
        <p:spPr>
          <a:xfrm>
            <a:off x="6912864" y="2624328"/>
            <a:ext cx="109728" cy="109728"/>
          </a:xfrm>
          <a:prstGeom prst="ellipse">
            <a:avLst/>
          </a:prstGeom>
          <a:solidFill>
            <a:srgbClr val="E87722"/>
          </a:solidFill>
          <a:ln w="12700">
            <a:solidFill>
              <a:srgbClr val="E87722"/>
            </a:solidFill>
            <a:prstDash val="solid"/>
          </a:ln>
        </p:spPr>
        <p:txBody>
          <a:bodyPr/>
          <a:lstStyle/>
          <a:p>
            <a:endParaRPr lang="en-US"/>
          </a:p>
        </p:txBody>
      </p:sp>
      <p:sp>
        <p:nvSpPr>
          <p:cNvPr id="51" name="Text 49"/>
          <p:cNvSpPr/>
          <p:nvPr/>
        </p:nvSpPr>
        <p:spPr>
          <a:xfrm>
            <a:off x="7077456" y="260604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Moving objects</a:t>
            </a:r>
            <a:endParaRPr lang="en-US" sz="950" dirty="0"/>
          </a:p>
        </p:txBody>
      </p:sp>
      <p:sp>
        <p:nvSpPr>
          <p:cNvPr id="52" name="Shape 50"/>
          <p:cNvSpPr/>
          <p:nvPr/>
        </p:nvSpPr>
        <p:spPr>
          <a:xfrm>
            <a:off x="6912864" y="3127248"/>
            <a:ext cx="109728" cy="109728"/>
          </a:xfrm>
          <a:prstGeom prst="ellipse">
            <a:avLst/>
          </a:prstGeom>
          <a:solidFill>
            <a:srgbClr val="E87722"/>
          </a:solidFill>
          <a:ln w="12700">
            <a:solidFill>
              <a:srgbClr val="E87722"/>
            </a:solidFill>
            <a:prstDash val="solid"/>
          </a:ln>
        </p:spPr>
        <p:txBody>
          <a:bodyPr/>
          <a:lstStyle/>
          <a:p>
            <a:endParaRPr lang="en-US"/>
          </a:p>
        </p:txBody>
      </p:sp>
      <p:sp>
        <p:nvSpPr>
          <p:cNvPr id="53" name="Text 51"/>
          <p:cNvSpPr/>
          <p:nvPr/>
        </p:nvSpPr>
        <p:spPr>
          <a:xfrm>
            <a:off x="7077456" y="310896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Other drones</a:t>
            </a:r>
            <a:endParaRPr lang="en-US" sz="950" dirty="0"/>
          </a:p>
        </p:txBody>
      </p:sp>
      <p:sp>
        <p:nvSpPr>
          <p:cNvPr id="54" name="Shape 52"/>
          <p:cNvSpPr/>
          <p:nvPr/>
        </p:nvSpPr>
        <p:spPr>
          <a:xfrm>
            <a:off x="6912864" y="3630168"/>
            <a:ext cx="109728" cy="109728"/>
          </a:xfrm>
          <a:prstGeom prst="ellipse">
            <a:avLst/>
          </a:prstGeom>
          <a:solidFill>
            <a:srgbClr val="E87722"/>
          </a:solidFill>
          <a:ln w="12700">
            <a:solidFill>
              <a:srgbClr val="E87722"/>
            </a:solidFill>
            <a:prstDash val="solid"/>
          </a:ln>
        </p:spPr>
        <p:txBody>
          <a:bodyPr/>
          <a:lstStyle/>
          <a:p>
            <a:endParaRPr lang="en-US"/>
          </a:p>
        </p:txBody>
      </p:sp>
      <p:sp>
        <p:nvSpPr>
          <p:cNvPr id="55" name="Text 53"/>
          <p:cNvSpPr/>
          <p:nvPr/>
        </p:nvSpPr>
        <p:spPr>
          <a:xfrm>
            <a:off x="7077456" y="3611880"/>
            <a:ext cx="1645920" cy="256032"/>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Birds &amp; hazards</a:t>
            </a:r>
            <a:endParaRPr lang="en-US" sz="950" dirty="0"/>
          </a:p>
        </p:txBody>
      </p:sp>
      <p:sp>
        <p:nvSpPr>
          <p:cNvPr id="56" name="Shape 54"/>
          <p:cNvSpPr/>
          <p:nvPr/>
        </p:nvSpPr>
        <p:spPr>
          <a:xfrm>
            <a:off x="274320" y="4590288"/>
            <a:ext cx="8595360" cy="274320"/>
          </a:xfrm>
          <a:prstGeom prst="rect">
            <a:avLst/>
          </a:prstGeom>
          <a:solidFill>
            <a:srgbClr val="EEF4FF"/>
          </a:solidFill>
          <a:ln w="12700">
            <a:solidFill>
              <a:srgbClr val="C8D8EE"/>
            </a:solidFill>
            <a:prstDash val="solid"/>
          </a:ln>
        </p:spPr>
        <p:txBody>
          <a:bodyPr/>
          <a:lstStyle/>
          <a:p>
            <a:endParaRPr lang="en-US"/>
          </a:p>
        </p:txBody>
      </p:sp>
      <p:sp>
        <p:nvSpPr>
          <p:cNvPr id="57" name="Text 55"/>
          <p:cNvSpPr/>
          <p:nvPr/>
        </p:nvSpPr>
        <p:spPr>
          <a:xfrm>
            <a:off x="365760" y="4608576"/>
            <a:ext cx="8412480" cy="237744"/>
          </a:xfrm>
          <a:prstGeom prst="rect">
            <a:avLst/>
          </a:prstGeom>
          <a:noFill/>
          <a:ln/>
        </p:spPr>
        <p:txBody>
          <a:bodyPr wrap="square" lIns="0" tIns="0" rIns="0" bIns="0" rtlCol="0" anchor="ctr"/>
          <a:lstStyle/>
          <a:p>
            <a:pPr marL="0" indent="0">
              <a:buNone/>
            </a:pPr>
            <a:r>
              <a:rPr lang="en-US" sz="900" i="1" dirty="0">
                <a:solidFill>
                  <a:srgbClr val="1B3A6B"/>
                </a:solidFill>
                <a:latin typeface="Calibri" pitchFamily="34" charset="0"/>
                <a:ea typeface="Calibri" pitchFamily="34" charset="-122"/>
                <a:cs typeface="Calibri" pitchFamily="34" charset="-120"/>
              </a:rPr>
              <a:t>This real-time data helps drones: navigate safely  |  avoid obstacles  |  coordinate with other drones  |  deliver packages accurately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Data Collection Techniques</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4206240" cy="178308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1005840"/>
            <a:ext cx="4206240" cy="384048"/>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84048" y="106070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Sensors</a:t>
            </a:r>
            <a:endParaRPr lang="en-US" sz="1300" dirty="0"/>
          </a:p>
        </p:txBody>
      </p:sp>
      <p:sp>
        <p:nvSpPr>
          <p:cNvPr id="9" name="Shape 7"/>
          <p:cNvSpPr/>
          <p:nvPr/>
        </p:nvSpPr>
        <p:spPr>
          <a:xfrm>
            <a:off x="384048" y="1481328"/>
            <a:ext cx="73152" cy="146304"/>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521208" y="1463040"/>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GPS sensor — precise location tracking</a:t>
            </a:r>
            <a:endParaRPr lang="en-US" sz="950" dirty="0"/>
          </a:p>
        </p:txBody>
      </p:sp>
      <p:sp>
        <p:nvSpPr>
          <p:cNvPr id="11" name="Shape 9"/>
          <p:cNvSpPr/>
          <p:nvPr/>
        </p:nvSpPr>
        <p:spPr>
          <a:xfrm>
            <a:off x="384048" y="1737360"/>
            <a:ext cx="73152" cy="146304"/>
          </a:xfrm>
          <a:prstGeom prst="rect">
            <a:avLst/>
          </a:prstGeom>
          <a:solidFill>
            <a:srgbClr val="1B3A6B"/>
          </a:solidFill>
          <a:ln w="12700">
            <a:solidFill>
              <a:srgbClr val="1B3A6B"/>
            </a:solidFill>
            <a:prstDash val="solid"/>
          </a:ln>
        </p:spPr>
        <p:txBody>
          <a:bodyPr/>
          <a:lstStyle/>
          <a:p>
            <a:endParaRPr lang="en-US"/>
          </a:p>
        </p:txBody>
      </p:sp>
      <p:sp>
        <p:nvSpPr>
          <p:cNvPr id="12" name="Text 10"/>
          <p:cNvSpPr/>
          <p:nvPr/>
        </p:nvSpPr>
        <p:spPr>
          <a:xfrm>
            <a:off x="521208" y="1719072"/>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Gyroscope — orientation &amp; stability</a:t>
            </a:r>
            <a:endParaRPr lang="en-US" sz="950" dirty="0"/>
          </a:p>
        </p:txBody>
      </p:sp>
      <p:sp>
        <p:nvSpPr>
          <p:cNvPr id="13" name="Shape 11"/>
          <p:cNvSpPr/>
          <p:nvPr/>
        </p:nvSpPr>
        <p:spPr>
          <a:xfrm>
            <a:off x="384048" y="1993392"/>
            <a:ext cx="73152" cy="146304"/>
          </a:xfrm>
          <a:prstGeom prst="rect">
            <a:avLst/>
          </a:prstGeom>
          <a:solidFill>
            <a:srgbClr val="1B3A6B"/>
          </a:solidFill>
          <a:ln w="12700">
            <a:solidFill>
              <a:srgbClr val="1B3A6B"/>
            </a:solidFill>
            <a:prstDash val="solid"/>
          </a:ln>
        </p:spPr>
        <p:txBody>
          <a:bodyPr/>
          <a:lstStyle/>
          <a:p>
            <a:endParaRPr lang="en-US"/>
          </a:p>
        </p:txBody>
      </p:sp>
      <p:sp>
        <p:nvSpPr>
          <p:cNvPr id="14" name="Text 12"/>
          <p:cNvSpPr/>
          <p:nvPr/>
        </p:nvSpPr>
        <p:spPr>
          <a:xfrm>
            <a:off x="521208" y="1975104"/>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Barometer — altitude measurement</a:t>
            </a:r>
            <a:endParaRPr lang="en-US" sz="950" dirty="0"/>
          </a:p>
        </p:txBody>
      </p:sp>
      <p:sp>
        <p:nvSpPr>
          <p:cNvPr id="15" name="Shape 13"/>
          <p:cNvSpPr/>
          <p:nvPr/>
        </p:nvSpPr>
        <p:spPr>
          <a:xfrm>
            <a:off x="384048" y="2249424"/>
            <a:ext cx="73152" cy="146304"/>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521208" y="2231136"/>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Ultrasonic sensors — close-range detection</a:t>
            </a:r>
            <a:endParaRPr lang="en-US" sz="950" dirty="0"/>
          </a:p>
        </p:txBody>
      </p:sp>
      <p:sp>
        <p:nvSpPr>
          <p:cNvPr id="17" name="Shape 15"/>
          <p:cNvSpPr/>
          <p:nvPr/>
        </p:nvSpPr>
        <p:spPr>
          <a:xfrm>
            <a:off x="384048" y="2505456"/>
            <a:ext cx="73152" cy="146304"/>
          </a:xfrm>
          <a:prstGeom prst="rect">
            <a:avLst/>
          </a:prstGeom>
          <a:solidFill>
            <a:srgbClr val="1B3A6B"/>
          </a:solidFill>
          <a:ln w="12700">
            <a:solidFill>
              <a:srgbClr val="1B3A6B"/>
            </a:solidFill>
            <a:prstDash val="solid"/>
          </a:ln>
        </p:spPr>
        <p:txBody>
          <a:bodyPr/>
          <a:lstStyle/>
          <a:p>
            <a:endParaRPr lang="en-US"/>
          </a:p>
        </p:txBody>
      </p:sp>
      <p:sp>
        <p:nvSpPr>
          <p:cNvPr id="18" name="Text 16"/>
          <p:cNvSpPr/>
          <p:nvPr/>
        </p:nvSpPr>
        <p:spPr>
          <a:xfrm>
            <a:off x="521208" y="2487168"/>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LiDAR — 3D environment mapping</a:t>
            </a:r>
            <a:endParaRPr lang="en-US" sz="950" dirty="0"/>
          </a:p>
        </p:txBody>
      </p:sp>
      <p:sp>
        <p:nvSpPr>
          <p:cNvPr id="19" name="Shape 17"/>
          <p:cNvSpPr/>
          <p:nvPr/>
        </p:nvSpPr>
        <p:spPr>
          <a:xfrm>
            <a:off x="4709160" y="1005840"/>
            <a:ext cx="4206240" cy="1783080"/>
          </a:xfrm>
          <a:prstGeom prst="rect">
            <a:avLst/>
          </a:prstGeom>
          <a:solidFill>
            <a:srgbClr val="FFFFFF"/>
          </a:solidFill>
          <a:ln w="12700">
            <a:solidFill>
              <a:srgbClr val="C8D8EE"/>
            </a:solidFill>
            <a:prstDash val="solid"/>
          </a:ln>
        </p:spPr>
        <p:txBody>
          <a:bodyPr/>
          <a:lstStyle/>
          <a:p>
            <a:endParaRPr lang="en-US"/>
          </a:p>
        </p:txBody>
      </p:sp>
      <p:sp>
        <p:nvSpPr>
          <p:cNvPr id="20" name="Shape 18"/>
          <p:cNvSpPr/>
          <p:nvPr/>
        </p:nvSpPr>
        <p:spPr>
          <a:xfrm>
            <a:off x="4709160" y="1005840"/>
            <a:ext cx="4206240" cy="384048"/>
          </a:xfrm>
          <a:prstGeom prst="rect">
            <a:avLst/>
          </a:prstGeom>
          <a:solidFill>
            <a:srgbClr val="E87722"/>
          </a:solidFill>
          <a:ln w="12700">
            <a:solidFill>
              <a:srgbClr val="E87722"/>
            </a:solidFill>
            <a:prstDash val="solid"/>
          </a:ln>
        </p:spPr>
        <p:txBody>
          <a:bodyPr/>
          <a:lstStyle/>
          <a:p>
            <a:endParaRPr lang="en-US"/>
          </a:p>
        </p:txBody>
      </p:sp>
      <p:sp>
        <p:nvSpPr>
          <p:cNvPr id="21" name="Text 19"/>
          <p:cNvSpPr/>
          <p:nvPr/>
        </p:nvSpPr>
        <p:spPr>
          <a:xfrm>
            <a:off x="4818888" y="106070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Cameras &amp; Computer Vision</a:t>
            </a:r>
            <a:endParaRPr lang="en-US" sz="1300" dirty="0"/>
          </a:p>
        </p:txBody>
      </p:sp>
      <p:sp>
        <p:nvSpPr>
          <p:cNvPr id="22" name="Shape 20"/>
          <p:cNvSpPr/>
          <p:nvPr/>
        </p:nvSpPr>
        <p:spPr>
          <a:xfrm>
            <a:off x="4818888" y="1481328"/>
            <a:ext cx="73152" cy="146304"/>
          </a:xfrm>
          <a:prstGeom prst="rect">
            <a:avLst/>
          </a:prstGeom>
          <a:solidFill>
            <a:srgbClr val="E87722"/>
          </a:solidFill>
          <a:ln w="12700">
            <a:solidFill>
              <a:srgbClr val="E87722"/>
            </a:solidFill>
            <a:prstDash val="solid"/>
          </a:ln>
        </p:spPr>
        <p:txBody>
          <a:bodyPr/>
          <a:lstStyle/>
          <a:p>
            <a:endParaRPr lang="en-US"/>
          </a:p>
        </p:txBody>
      </p:sp>
      <p:sp>
        <p:nvSpPr>
          <p:cNvPr id="23" name="Text 21"/>
          <p:cNvSpPr/>
          <p:nvPr/>
        </p:nvSpPr>
        <p:spPr>
          <a:xfrm>
            <a:off x="4956048" y="1463040"/>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High-res cameras capture surroundings</a:t>
            </a:r>
            <a:endParaRPr lang="en-US" sz="950" dirty="0"/>
          </a:p>
        </p:txBody>
      </p:sp>
      <p:sp>
        <p:nvSpPr>
          <p:cNvPr id="24" name="Shape 22"/>
          <p:cNvSpPr/>
          <p:nvPr/>
        </p:nvSpPr>
        <p:spPr>
          <a:xfrm>
            <a:off x="4818888" y="1737360"/>
            <a:ext cx="73152" cy="146304"/>
          </a:xfrm>
          <a:prstGeom prst="rect">
            <a:avLst/>
          </a:prstGeom>
          <a:solidFill>
            <a:srgbClr val="E87722"/>
          </a:solidFill>
          <a:ln w="12700">
            <a:solidFill>
              <a:srgbClr val="E87722"/>
            </a:solidFill>
            <a:prstDash val="solid"/>
          </a:ln>
        </p:spPr>
        <p:txBody>
          <a:bodyPr/>
          <a:lstStyle/>
          <a:p>
            <a:endParaRPr lang="en-US"/>
          </a:p>
        </p:txBody>
      </p:sp>
      <p:sp>
        <p:nvSpPr>
          <p:cNvPr id="25" name="Text 23"/>
          <p:cNvSpPr/>
          <p:nvPr/>
        </p:nvSpPr>
        <p:spPr>
          <a:xfrm>
            <a:off x="4956048" y="1719072"/>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AI algorithms detect obstacles in real-time</a:t>
            </a:r>
            <a:endParaRPr lang="en-US" sz="950" dirty="0"/>
          </a:p>
        </p:txBody>
      </p:sp>
      <p:sp>
        <p:nvSpPr>
          <p:cNvPr id="26" name="Shape 24"/>
          <p:cNvSpPr/>
          <p:nvPr/>
        </p:nvSpPr>
        <p:spPr>
          <a:xfrm>
            <a:off x="4818888" y="1993392"/>
            <a:ext cx="73152" cy="146304"/>
          </a:xfrm>
          <a:prstGeom prst="rect">
            <a:avLst/>
          </a:prstGeom>
          <a:solidFill>
            <a:srgbClr val="E87722"/>
          </a:solidFill>
          <a:ln w="12700">
            <a:solidFill>
              <a:srgbClr val="E87722"/>
            </a:solidFill>
            <a:prstDash val="solid"/>
          </a:ln>
        </p:spPr>
        <p:txBody>
          <a:bodyPr/>
          <a:lstStyle/>
          <a:p>
            <a:endParaRPr lang="en-US"/>
          </a:p>
        </p:txBody>
      </p:sp>
      <p:sp>
        <p:nvSpPr>
          <p:cNvPr id="27" name="Text 25"/>
          <p:cNvSpPr/>
          <p:nvPr/>
        </p:nvSpPr>
        <p:spPr>
          <a:xfrm>
            <a:off x="4956048" y="1975104"/>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Identifies safe landing zones</a:t>
            </a:r>
            <a:endParaRPr lang="en-US" sz="950" dirty="0"/>
          </a:p>
        </p:txBody>
      </p:sp>
      <p:sp>
        <p:nvSpPr>
          <p:cNvPr id="28" name="Shape 26"/>
          <p:cNvSpPr/>
          <p:nvPr/>
        </p:nvSpPr>
        <p:spPr>
          <a:xfrm>
            <a:off x="4818888" y="2249424"/>
            <a:ext cx="73152" cy="146304"/>
          </a:xfrm>
          <a:prstGeom prst="rect">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4956048" y="2231136"/>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Detects moving objects &amp; people</a:t>
            </a:r>
            <a:endParaRPr lang="en-US" sz="950" dirty="0"/>
          </a:p>
        </p:txBody>
      </p:sp>
      <p:sp>
        <p:nvSpPr>
          <p:cNvPr id="30" name="Shape 28"/>
          <p:cNvSpPr/>
          <p:nvPr/>
        </p:nvSpPr>
        <p:spPr>
          <a:xfrm>
            <a:off x="4818888" y="2505456"/>
            <a:ext cx="73152" cy="146304"/>
          </a:xfrm>
          <a:prstGeom prst="rect">
            <a:avLst/>
          </a:prstGeom>
          <a:solidFill>
            <a:srgbClr val="E87722"/>
          </a:solidFill>
          <a:ln w="12700">
            <a:solidFill>
              <a:srgbClr val="E87722"/>
            </a:solidFill>
            <a:prstDash val="solid"/>
          </a:ln>
        </p:spPr>
        <p:txBody>
          <a:bodyPr/>
          <a:lstStyle/>
          <a:p>
            <a:endParaRPr lang="en-US"/>
          </a:p>
        </p:txBody>
      </p:sp>
      <p:sp>
        <p:nvSpPr>
          <p:cNvPr id="31" name="Text 29"/>
          <p:cNvSpPr/>
          <p:nvPr/>
        </p:nvSpPr>
        <p:spPr>
          <a:xfrm>
            <a:off x="4956048" y="2487168"/>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Stereo vision for depth perception</a:t>
            </a:r>
            <a:endParaRPr lang="en-US" sz="950" dirty="0"/>
          </a:p>
        </p:txBody>
      </p:sp>
      <p:sp>
        <p:nvSpPr>
          <p:cNvPr id="32" name="Shape 30"/>
          <p:cNvSpPr/>
          <p:nvPr/>
        </p:nvSpPr>
        <p:spPr>
          <a:xfrm>
            <a:off x="274320" y="2926080"/>
            <a:ext cx="4206240" cy="1783080"/>
          </a:xfrm>
          <a:prstGeom prst="rect">
            <a:avLst/>
          </a:prstGeom>
          <a:solidFill>
            <a:srgbClr val="FFFFFF"/>
          </a:solidFill>
          <a:ln w="12700">
            <a:solidFill>
              <a:srgbClr val="C8D8EE"/>
            </a:solidFill>
            <a:prstDash val="solid"/>
          </a:ln>
        </p:spPr>
        <p:txBody>
          <a:bodyPr/>
          <a:lstStyle/>
          <a:p>
            <a:endParaRPr lang="en-US"/>
          </a:p>
        </p:txBody>
      </p:sp>
      <p:sp>
        <p:nvSpPr>
          <p:cNvPr id="33" name="Shape 31"/>
          <p:cNvSpPr/>
          <p:nvPr/>
        </p:nvSpPr>
        <p:spPr>
          <a:xfrm>
            <a:off x="274320" y="2926080"/>
            <a:ext cx="4206240" cy="384048"/>
          </a:xfrm>
          <a:prstGeom prst="rect">
            <a:avLst/>
          </a:prstGeom>
          <a:solidFill>
            <a:srgbClr val="1B3A6B"/>
          </a:solidFill>
          <a:ln w="12700">
            <a:solidFill>
              <a:srgbClr val="1B3A6B"/>
            </a:solidFill>
            <a:prstDash val="solid"/>
          </a:ln>
        </p:spPr>
        <p:txBody>
          <a:bodyPr/>
          <a:lstStyle/>
          <a:p>
            <a:endParaRPr lang="en-US"/>
          </a:p>
        </p:txBody>
      </p:sp>
      <p:sp>
        <p:nvSpPr>
          <p:cNvPr id="34" name="Text 32"/>
          <p:cNvSpPr/>
          <p:nvPr/>
        </p:nvSpPr>
        <p:spPr>
          <a:xfrm>
            <a:off x="384048" y="298094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5G &amp; IoT Communication</a:t>
            </a:r>
            <a:endParaRPr lang="en-US" sz="1300" dirty="0"/>
          </a:p>
        </p:txBody>
      </p:sp>
      <p:sp>
        <p:nvSpPr>
          <p:cNvPr id="35" name="Shape 33"/>
          <p:cNvSpPr/>
          <p:nvPr/>
        </p:nvSpPr>
        <p:spPr>
          <a:xfrm>
            <a:off x="384048" y="3401568"/>
            <a:ext cx="73152" cy="146304"/>
          </a:xfrm>
          <a:prstGeom prst="rect">
            <a:avLst/>
          </a:prstGeom>
          <a:solidFill>
            <a:srgbClr val="1B3A6B"/>
          </a:solidFill>
          <a:ln w="12700">
            <a:solidFill>
              <a:srgbClr val="1B3A6B"/>
            </a:solidFill>
            <a:prstDash val="solid"/>
          </a:ln>
        </p:spPr>
        <p:txBody>
          <a:bodyPr/>
          <a:lstStyle/>
          <a:p>
            <a:endParaRPr lang="en-US"/>
          </a:p>
        </p:txBody>
      </p:sp>
      <p:sp>
        <p:nvSpPr>
          <p:cNvPr id="36" name="Text 34"/>
          <p:cNvSpPr/>
          <p:nvPr/>
        </p:nvSpPr>
        <p:spPr>
          <a:xfrm>
            <a:off x="521208" y="3383280"/>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5G enables real-time cloud communication</a:t>
            </a:r>
            <a:endParaRPr lang="en-US" sz="950" dirty="0"/>
          </a:p>
        </p:txBody>
      </p:sp>
      <p:sp>
        <p:nvSpPr>
          <p:cNvPr id="37" name="Shape 35"/>
          <p:cNvSpPr/>
          <p:nvPr/>
        </p:nvSpPr>
        <p:spPr>
          <a:xfrm>
            <a:off x="384048" y="3657600"/>
            <a:ext cx="73152" cy="146304"/>
          </a:xfrm>
          <a:prstGeom prst="rect">
            <a:avLst/>
          </a:prstGeom>
          <a:solidFill>
            <a:srgbClr val="1B3A6B"/>
          </a:solidFill>
          <a:ln w="12700">
            <a:solidFill>
              <a:srgbClr val="1B3A6B"/>
            </a:solidFill>
            <a:prstDash val="solid"/>
          </a:ln>
        </p:spPr>
        <p:txBody>
          <a:bodyPr/>
          <a:lstStyle/>
          <a:p>
            <a:endParaRPr lang="en-US"/>
          </a:p>
        </p:txBody>
      </p:sp>
      <p:sp>
        <p:nvSpPr>
          <p:cNvPr id="38" name="Text 36"/>
          <p:cNvSpPr/>
          <p:nvPr/>
        </p:nvSpPr>
        <p:spPr>
          <a:xfrm>
            <a:off x="521208" y="3639312"/>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Drones act as IoT devices on network</a:t>
            </a:r>
            <a:endParaRPr lang="en-US" sz="950" dirty="0"/>
          </a:p>
        </p:txBody>
      </p:sp>
      <p:sp>
        <p:nvSpPr>
          <p:cNvPr id="39" name="Shape 37"/>
          <p:cNvSpPr/>
          <p:nvPr/>
        </p:nvSpPr>
        <p:spPr>
          <a:xfrm>
            <a:off x="384048" y="3913632"/>
            <a:ext cx="73152" cy="146304"/>
          </a:xfrm>
          <a:prstGeom prst="rect">
            <a:avLst/>
          </a:prstGeom>
          <a:solidFill>
            <a:srgbClr val="1B3A6B"/>
          </a:solidFill>
          <a:ln w="12700">
            <a:solidFill>
              <a:srgbClr val="1B3A6B"/>
            </a:solidFill>
            <a:prstDash val="solid"/>
          </a:ln>
        </p:spPr>
        <p:txBody>
          <a:bodyPr/>
          <a:lstStyle/>
          <a:p>
            <a:endParaRPr lang="en-US"/>
          </a:p>
        </p:txBody>
      </p:sp>
      <p:sp>
        <p:nvSpPr>
          <p:cNvPr id="40" name="Text 38"/>
          <p:cNvSpPr/>
          <p:nvPr/>
        </p:nvSpPr>
        <p:spPr>
          <a:xfrm>
            <a:off x="521208" y="3895344"/>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Low latency data transmission (&lt;10ms)</a:t>
            </a:r>
            <a:endParaRPr lang="en-US" sz="950" dirty="0"/>
          </a:p>
        </p:txBody>
      </p:sp>
      <p:sp>
        <p:nvSpPr>
          <p:cNvPr id="41" name="Shape 39"/>
          <p:cNvSpPr/>
          <p:nvPr/>
        </p:nvSpPr>
        <p:spPr>
          <a:xfrm>
            <a:off x="384048" y="4169664"/>
            <a:ext cx="73152" cy="146304"/>
          </a:xfrm>
          <a:prstGeom prst="rect">
            <a:avLst/>
          </a:prstGeom>
          <a:solidFill>
            <a:srgbClr val="1B3A6B"/>
          </a:solidFill>
          <a:ln w="12700">
            <a:solidFill>
              <a:srgbClr val="1B3A6B"/>
            </a:solidFill>
            <a:prstDash val="solid"/>
          </a:ln>
        </p:spPr>
        <p:txBody>
          <a:bodyPr/>
          <a:lstStyle/>
          <a:p>
            <a:endParaRPr lang="en-US"/>
          </a:p>
        </p:txBody>
      </p:sp>
      <p:sp>
        <p:nvSpPr>
          <p:cNvPr id="42" name="Text 40"/>
          <p:cNvSpPr/>
          <p:nvPr/>
        </p:nvSpPr>
        <p:spPr>
          <a:xfrm>
            <a:off x="521208" y="4151376"/>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Continuous uplink to AWS cloud servers</a:t>
            </a:r>
            <a:endParaRPr lang="en-US" sz="950" dirty="0"/>
          </a:p>
        </p:txBody>
      </p:sp>
      <p:sp>
        <p:nvSpPr>
          <p:cNvPr id="43" name="Shape 41"/>
          <p:cNvSpPr/>
          <p:nvPr/>
        </p:nvSpPr>
        <p:spPr>
          <a:xfrm>
            <a:off x="384048" y="4425696"/>
            <a:ext cx="73152" cy="146304"/>
          </a:xfrm>
          <a:prstGeom prst="rect">
            <a:avLst/>
          </a:prstGeom>
          <a:solidFill>
            <a:srgbClr val="1B3A6B"/>
          </a:solidFill>
          <a:ln w="12700">
            <a:solidFill>
              <a:srgbClr val="1B3A6B"/>
            </a:solidFill>
            <a:prstDash val="solid"/>
          </a:ln>
        </p:spPr>
        <p:txBody>
          <a:bodyPr/>
          <a:lstStyle/>
          <a:p>
            <a:endParaRPr lang="en-US"/>
          </a:p>
        </p:txBody>
      </p:sp>
      <p:sp>
        <p:nvSpPr>
          <p:cNvPr id="44" name="Text 42"/>
          <p:cNvSpPr/>
          <p:nvPr/>
        </p:nvSpPr>
        <p:spPr>
          <a:xfrm>
            <a:off x="521208" y="4407408"/>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Redundant communication channels</a:t>
            </a:r>
            <a:endParaRPr lang="en-US" sz="950" dirty="0"/>
          </a:p>
        </p:txBody>
      </p:sp>
      <p:sp>
        <p:nvSpPr>
          <p:cNvPr id="45" name="Shape 43"/>
          <p:cNvSpPr/>
          <p:nvPr/>
        </p:nvSpPr>
        <p:spPr>
          <a:xfrm>
            <a:off x="4709160" y="2926080"/>
            <a:ext cx="4206240" cy="1783080"/>
          </a:xfrm>
          <a:prstGeom prst="rect">
            <a:avLst/>
          </a:prstGeom>
          <a:solidFill>
            <a:srgbClr val="FFFFFF"/>
          </a:solidFill>
          <a:ln w="12700">
            <a:solidFill>
              <a:srgbClr val="C8D8EE"/>
            </a:solidFill>
            <a:prstDash val="solid"/>
          </a:ln>
        </p:spPr>
        <p:txBody>
          <a:bodyPr/>
          <a:lstStyle/>
          <a:p>
            <a:endParaRPr lang="en-US"/>
          </a:p>
        </p:txBody>
      </p:sp>
      <p:sp>
        <p:nvSpPr>
          <p:cNvPr id="46" name="Shape 44"/>
          <p:cNvSpPr/>
          <p:nvPr/>
        </p:nvSpPr>
        <p:spPr>
          <a:xfrm>
            <a:off x="4709160" y="2926080"/>
            <a:ext cx="4206240" cy="384048"/>
          </a:xfrm>
          <a:prstGeom prst="rect">
            <a:avLst/>
          </a:prstGeom>
          <a:solidFill>
            <a:srgbClr val="E87722"/>
          </a:solidFill>
          <a:ln w="12700">
            <a:solidFill>
              <a:srgbClr val="E87722"/>
            </a:solidFill>
            <a:prstDash val="solid"/>
          </a:ln>
        </p:spPr>
        <p:txBody>
          <a:bodyPr/>
          <a:lstStyle/>
          <a:p>
            <a:endParaRPr lang="en-US"/>
          </a:p>
        </p:txBody>
      </p:sp>
      <p:sp>
        <p:nvSpPr>
          <p:cNvPr id="47" name="Text 45"/>
          <p:cNvSpPr/>
          <p:nvPr/>
        </p:nvSpPr>
        <p:spPr>
          <a:xfrm>
            <a:off x="4818888" y="2980944"/>
            <a:ext cx="39319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Drone-to-Drone (V2V)</a:t>
            </a:r>
            <a:endParaRPr lang="en-US" sz="1300" dirty="0"/>
          </a:p>
        </p:txBody>
      </p:sp>
      <p:sp>
        <p:nvSpPr>
          <p:cNvPr id="48" name="Shape 46"/>
          <p:cNvSpPr/>
          <p:nvPr/>
        </p:nvSpPr>
        <p:spPr>
          <a:xfrm>
            <a:off x="4818888" y="3401568"/>
            <a:ext cx="73152" cy="146304"/>
          </a:xfrm>
          <a:prstGeom prst="rect">
            <a:avLst/>
          </a:prstGeom>
          <a:solidFill>
            <a:srgbClr val="E87722"/>
          </a:solidFill>
          <a:ln w="12700">
            <a:solidFill>
              <a:srgbClr val="E87722"/>
            </a:solidFill>
            <a:prstDash val="solid"/>
          </a:ln>
        </p:spPr>
        <p:txBody>
          <a:bodyPr/>
          <a:lstStyle/>
          <a:p>
            <a:endParaRPr lang="en-US"/>
          </a:p>
        </p:txBody>
      </p:sp>
      <p:sp>
        <p:nvSpPr>
          <p:cNvPr id="49" name="Text 47"/>
          <p:cNvSpPr/>
          <p:nvPr/>
        </p:nvSpPr>
        <p:spPr>
          <a:xfrm>
            <a:off x="4956048" y="3383280"/>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Vehicle-to-Vehicle data sharing</a:t>
            </a:r>
            <a:endParaRPr lang="en-US" sz="950" dirty="0"/>
          </a:p>
        </p:txBody>
      </p:sp>
      <p:sp>
        <p:nvSpPr>
          <p:cNvPr id="50" name="Shape 48"/>
          <p:cNvSpPr/>
          <p:nvPr/>
        </p:nvSpPr>
        <p:spPr>
          <a:xfrm>
            <a:off x="4818888" y="3657600"/>
            <a:ext cx="73152" cy="146304"/>
          </a:xfrm>
          <a:prstGeom prst="rect">
            <a:avLst/>
          </a:prstGeom>
          <a:solidFill>
            <a:srgbClr val="E87722"/>
          </a:solidFill>
          <a:ln w="12700">
            <a:solidFill>
              <a:srgbClr val="E87722"/>
            </a:solidFill>
            <a:prstDash val="solid"/>
          </a:ln>
        </p:spPr>
        <p:txBody>
          <a:bodyPr/>
          <a:lstStyle/>
          <a:p>
            <a:endParaRPr lang="en-US"/>
          </a:p>
        </p:txBody>
      </p:sp>
      <p:sp>
        <p:nvSpPr>
          <p:cNvPr id="51" name="Text 49"/>
          <p:cNvSpPr/>
          <p:nvPr/>
        </p:nvSpPr>
        <p:spPr>
          <a:xfrm>
            <a:off x="4956048" y="3639312"/>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Share position &amp; route information</a:t>
            </a:r>
            <a:endParaRPr lang="en-US" sz="950" dirty="0"/>
          </a:p>
        </p:txBody>
      </p:sp>
      <p:sp>
        <p:nvSpPr>
          <p:cNvPr id="52" name="Shape 50"/>
          <p:cNvSpPr/>
          <p:nvPr/>
        </p:nvSpPr>
        <p:spPr>
          <a:xfrm>
            <a:off x="4818888" y="3913632"/>
            <a:ext cx="73152" cy="146304"/>
          </a:xfrm>
          <a:prstGeom prst="rect">
            <a:avLst/>
          </a:prstGeom>
          <a:solidFill>
            <a:srgbClr val="E87722"/>
          </a:solidFill>
          <a:ln w="12700">
            <a:solidFill>
              <a:srgbClr val="E87722"/>
            </a:solidFill>
            <a:prstDash val="solid"/>
          </a:ln>
        </p:spPr>
        <p:txBody>
          <a:bodyPr/>
          <a:lstStyle/>
          <a:p>
            <a:endParaRPr lang="en-US"/>
          </a:p>
        </p:txBody>
      </p:sp>
      <p:sp>
        <p:nvSpPr>
          <p:cNvPr id="53" name="Text 51"/>
          <p:cNvSpPr/>
          <p:nvPr/>
        </p:nvSpPr>
        <p:spPr>
          <a:xfrm>
            <a:off x="4956048" y="3895344"/>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Collision avoidance coordination</a:t>
            </a:r>
            <a:endParaRPr lang="en-US" sz="950" dirty="0"/>
          </a:p>
        </p:txBody>
      </p:sp>
      <p:sp>
        <p:nvSpPr>
          <p:cNvPr id="54" name="Shape 52"/>
          <p:cNvSpPr/>
          <p:nvPr/>
        </p:nvSpPr>
        <p:spPr>
          <a:xfrm>
            <a:off x="4818888" y="4169664"/>
            <a:ext cx="73152" cy="146304"/>
          </a:xfrm>
          <a:prstGeom prst="rect">
            <a:avLst/>
          </a:prstGeom>
          <a:solidFill>
            <a:srgbClr val="E87722"/>
          </a:solidFill>
          <a:ln w="12700">
            <a:solidFill>
              <a:srgbClr val="E87722"/>
            </a:solidFill>
            <a:prstDash val="solid"/>
          </a:ln>
        </p:spPr>
        <p:txBody>
          <a:bodyPr/>
          <a:lstStyle/>
          <a:p>
            <a:endParaRPr lang="en-US"/>
          </a:p>
        </p:txBody>
      </p:sp>
      <p:sp>
        <p:nvSpPr>
          <p:cNvPr id="55" name="Text 53"/>
          <p:cNvSpPr/>
          <p:nvPr/>
        </p:nvSpPr>
        <p:spPr>
          <a:xfrm>
            <a:off x="4956048" y="4151376"/>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Swarm intelligence algorithms</a:t>
            </a:r>
            <a:endParaRPr lang="en-US" sz="950" dirty="0"/>
          </a:p>
        </p:txBody>
      </p:sp>
      <p:sp>
        <p:nvSpPr>
          <p:cNvPr id="56" name="Shape 54"/>
          <p:cNvSpPr/>
          <p:nvPr/>
        </p:nvSpPr>
        <p:spPr>
          <a:xfrm>
            <a:off x="4818888" y="4425696"/>
            <a:ext cx="73152" cy="146304"/>
          </a:xfrm>
          <a:prstGeom prst="rect">
            <a:avLst/>
          </a:prstGeom>
          <a:solidFill>
            <a:srgbClr val="E87722"/>
          </a:solidFill>
          <a:ln w="12700">
            <a:solidFill>
              <a:srgbClr val="E87722"/>
            </a:solidFill>
            <a:prstDash val="solid"/>
          </a:ln>
        </p:spPr>
        <p:txBody>
          <a:bodyPr/>
          <a:lstStyle/>
          <a:p>
            <a:endParaRPr lang="en-US"/>
          </a:p>
        </p:txBody>
      </p:sp>
      <p:sp>
        <p:nvSpPr>
          <p:cNvPr id="57" name="Text 55"/>
          <p:cNvSpPr/>
          <p:nvPr/>
        </p:nvSpPr>
        <p:spPr>
          <a:xfrm>
            <a:off x="4956048" y="4407408"/>
            <a:ext cx="3840480" cy="237744"/>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Mesh networking between drones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Data Collection Architecture Diagram</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28600" y="1463040"/>
            <a:ext cx="1097280" cy="1463040"/>
          </a:xfrm>
          <a:prstGeom prst="rect">
            <a:avLst/>
          </a:prstGeom>
          <a:solidFill>
            <a:srgbClr val="FFFFFF"/>
          </a:solidFill>
          <a:ln w="25400">
            <a:solidFill>
              <a:srgbClr val="1B3A6B"/>
            </a:solidFill>
            <a:prstDash val="solid"/>
          </a:ln>
        </p:spPr>
        <p:txBody>
          <a:bodyPr/>
          <a:lstStyle/>
          <a:p>
            <a:endParaRPr lang="en-US"/>
          </a:p>
        </p:txBody>
      </p:sp>
      <p:sp>
        <p:nvSpPr>
          <p:cNvPr id="7" name="Shape 5"/>
          <p:cNvSpPr/>
          <p:nvPr/>
        </p:nvSpPr>
        <p:spPr>
          <a:xfrm>
            <a:off x="228600" y="1463040"/>
            <a:ext cx="1097280" cy="384048"/>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228600"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9" name="Text 7"/>
          <p:cNvSpPr/>
          <p:nvPr/>
        </p:nvSpPr>
        <p:spPr>
          <a:xfrm>
            <a:off x="265176"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Drone Sensors</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&amp; Cameras</a:t>
            </a:r>
            <a:endParaRPr lang="en-US" sz="900" dirty="0"/>
          </a:p>
        </p:txBody>
      </p:sp>
      <p:sp>
        <p:nvSpPr>
          <p:cNvPr id="10" name="Text 8"/>
          <p:cNvSpPr/>
          <p:nvPr/>
        </p:nvSpPr>
        <p:spPr>
          <a:xfrm>
            <a:off x="265176"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GPS, LiDAR,</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Gyroscope, Camera</a:t>
            </a:r>
            <a:endParaRPr lang="en-US" sz="800" dirty="0"/>
          </a:p>
        </p:txBody>
      </p:sp>
      <p:sp>
        <p:nvSpPr>
          <p:cNvPr id="11" name="Shape 9"/>
          <p:cNvSpPr/>
          <p:nvPr/>
        </p:nvSpPr>
        <p:spPr>
          <a:xfrm>
            <a:off x="1371600"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12" name="Text 10"/>
          <p:cNvSpPr/>
          <p:nvPr/>
        </p:nvSpPr>
        <p:spPr>
          <a:xfrm>
            <a:off x="1417320"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13" name="Shape 11"/>
          <p:cNvSpPr/>
          <p:nvPr/>
        </p:nvSpPr>
        <p:spPr>
          <a:xfrm>
            <a:off x="1490472" y="1463040"/>
            <a:ext cx="1097280" cy="1463040"/>
          </a:xfrm>
          <a:prstGeom prst="rect">
            <a:avLst/>
          </a:prstGeom>
          <a:solidFill>
            <a:srgbClr val="FFFFFF"/>
          </a:solidFill>
          <a:ln w="25400">
            <a:solidFill>
              <a:srgbClr val="4A90D9"/>
            </a:solidFill>
            <a:prstDash val="solid"/>
          </a:ln>
        </p:spPr>
        <p:txBody>
          <a:bodyPr/>
          <a:lstStyle/>
          <a:p>
            <a:endParaRPr lang="en-US"/>
          </a:p>
        </p:txBody>
      </p:sp>
      <p:sp>
        <p:nvSpPr>
          <p:cNvPr id="14" name="Shape 12"/>
          <p:cNvSpPr/>
          <p:nvPr/>
        </p:nvSpPr>
        <p:spPr>
          <a:xfrm>
            <a:off x="1490472" y="1463040"/>
            <a:ext cx="1097280" cy="384048"/>
          </a:xfrm>
          <a:prstGeom prst="rect">
            <a:avLst/>
          </a:prstGeom>
          <a:solidFill>
            <a:srgbClr val="4A90D9"/>
          </a:solidFill>
          <a:ln w="12700">
            <a:solidFill>
              <a:srgbClr val="4A90D9"/>
            </a:solidFill>
            <a:prstDash val="solid"/>
          </a:ln>
        </p:spPr>
        <p:txBody>
          <a:bodyPr/>
          <a:lstStyle/>
          <a:p>
            <a:endParaRPr lang="en-US"/>
          </a:p>
        </p:txBody>
      </p:sp>
      <p:sp>
        <p:nvSpPr>
          <p:cNvPr id="15" name="Text 13"/>
          <p:cNvSpPr/>
          <p:nvPr/>
        </p:nvSpPr>
        <p:spPr>
          <a:xfrm>
            <a:off x="1490472"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16" name="Text 14"/>
          <p:cNvSpPr/>
          <p:nvPr/>
        </p:nvSpPr>
        <p:spPr>
          <a:xfrm>
            <a:off x="1527048"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Data</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Collection</a:t>
            </a:r>
            <a:endParaRPr lang="en-US" sz="900" dirty="0"/>
          </a:p>
        </p:txBody>
      </p:sp>
      <p:sp>
        <p:nvSpPr>
          <p:cNvPr id="17" name="Text 15"/>
          <p:cNvSpPr/>
          <p:nvPr/>
        </p:nvSpPr>
        <p:spPr>
          <a:xfrm>
            <a:off x="1527048"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Raw sensor</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data captured</a:t>
            </a:r>
            <a:endParaRPr lang="en-US" sz="800" dirty="0"/>
          </a:p>
        </p:txBody>
      </p:sp>
      <p:sp>
        <p:nvSpPr>
          <p:cNvPr id="18" name="Shape 16"/>
          <p:cNvSpPr/>
          <p:nvPr/>
        </p:nvSpPr>
        <p:spPr>
          <a:xfrm>
            <a:off x="2633472"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19" name="Text 17"/>
          <p:cNvSpPr/>
          <p:nvPr/>
        </p:nvSpPr>
        <p:spPr>
          <a:xfrm>
            <a:off x="2679192"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20" name="Shape 18"/>
          <p:cNvSpPr/>
          <p:nvPr/>
        </p:nvSpPr>
        <p:spPr>
          <a:xfrm>
            <a:off x="2752344" y="1463040"/>
            <a:ext cx="1097280" cy="1463040"/>
          </a:xfrm>
          <a:prstGeom prst="rect">
            <a:avLst/>
          </a:prstGeom>
          <a:solidFill>
            <a:srgbClr val="FFFFFF"/>
          </a:solidFill>
          <a:ln w="25400">
            <a:solidFill>
              <a:srgbClr val="1B3A6B"/>
            </a:solidFill>
            <a:prstDash val="solid"/>
          </a:ln>
        </p:spPr>
        <p:txBody>
          <a:bodyPr/>
          <a:lstStyle/>
          <a:p>
            <a:endParaRPr lang="en-US"/>
          </a:p>
        </p:txBody>
      </p:sp>
      <p:sp>
        <p:nvSpPr>
          <p:cNvPr id="21" name="Shape 19"/>
          <p:cNvSpPr/>
          <p:nvPr/>
        </p:nvSpPr>
        <p:spPr>
          <a:xfrm>
            <a:off x="2752344" y="1463040"/>
            <a:ext cx="1097280" cy="384048"/>
          </a:xfrm>
          <a:prstGeom prst="rect">
            <a:avLst/>
          </a:prstGeom>
          <a:solidFill>
            <a:srgbClr val="1B3A6B"/>
          </a:solidFill>
          <a:ln w="12700">
            <a:solidFill>
              <a:srgbClr val="1B3A6B"/>
            </a:solidFill>
            <a:prstDash val="solid"/>
          </a:ln>
        </p:spPr>
        <p:txBody>
          <a:bodyPr/>
          <a:lstStyle/>
          <a:p>
            <a:endParaRPr lang="en-US"/>
          </a:p>
        </p:txBody>
      </p:sp>
      <p:sp>
        <p:nvSpPr>
          <p:cNvPr id="22" name="Text 20"/>
          <p:cNvSpPr/>
          <p:nvPr/>
        </p:nvSpPr>
        <p:spPr>
          <a:xfrm>
            <a:off x="2752344"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23" name="Text 21"/>
          <p:cNvSpPr/>
          <p:nvPr/>
        </p:nvSpPr>
        <p:spPr>
          <a:xfrm>
            <a:off x="2788920"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Wireless Network</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(5G / IoT)</a:t>
            </a:r>
            <a:endParaRPr lang="en-US" sz="900" dirty="0"/>
          </a:p>
        </p:txBody>
      </p:sp>
      <p:sp>
        <p:nvSpPr>
          <p:cNvPr id="24" name="Text 22"/>
          <p:cNvSpPr/>
          <p:nvPr/>
        </p:nvSpPr>
        <p:spPr>
          <a:xfrm>
            <a:off x="2788920"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Real-time</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transmission</a:t>
            </a:r>
            <a:endParaRPr lang="en-US" sz="800" dirty="0"/>
          </a:p>
        </p:txBody>
      </p:sp>
      <p:sp>
        <p:nvSpPr>
          <p:cNvPr id="25" name="Shape 23"/>
          <p:cNvSpPr/>
          <p:nvPr/>
        </p:nvSpPr>
        <p:spPr>
          <a:xfrm>
            <a:off x="3895344"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26" name="Text 24"/>
          <p:cNvSpPr/>
          <p:nvPr/>
        </p:nvSpPr>
        <p:spPr>
          <a:xfrm>
            <a:off x="3941064"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27" name="Shape 25"/>
          <p:cNvSpPr/>
          <p:nvPr/>
        </p:nvSpPr>
        <p:spPr>
          <a:xfrm>
            <a:off x="4014216" y="1463040"/>
            <a:ext cx="1097280" cy="1463040"/>
          </a:xfrm>
          <a:prstGeom prst="rect">
            <a:avLst/>
          </a:prstGeom>
          <a:solidFill>
            <a:srgbClr val="FFFFFF"/>
          </a:solidFill>
          <a:ln w="25400">
            <a:solidFill>
              <a:srgbClr val="E87722"/>
            </a:solidFill>
            <a:prstDash val="solid"/>
          </a:ln>
        </p:spPr>
        <p:txBody>
          <a:bodyPr/>
          <a:lstStyle/>
          <a:p>
            <a:endParaRPr lang="en-US"/>
          </a:p>
        </p:txBody>
      </p:sp>
      <p:sp>
        <p:nvSpPr>
          <p:cNvPr id="28" name="Shape 26"/>
          <p:cNvSpPr/>
          <p:nvPr/>
        </p:nvSpPr>
        <p:spPr>
          <a:xfrm>
            <a:off x="4014216" y="1463040"/>
            <a:ext cx="1097280" cy="384048"/>
          </a:xfrm>
          <a:prstGeom prst="rect">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4014216"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30" name="Text 28"/>
          <p:cNvSpPr/>
          <p:nvPr/>
        </p:nvSpPr>
        <p:spPr>
          <a:xfrm>
            <a:off x="4050792"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Cloud Storage</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(AWS S3)</a:t>
            </a:r>
            <a:endParaRPr lang="en-US" sz="900" dirty="0"/>
          </a:p>
        </p:txBody>
      </p:sp>
      <p:sp>
        <p:nvSpPr>
          <p:cNvPr id="31" name="Text 29"/>
          <p:cNvSpPr/>
          <p:nvPr/>
        </p:nvSpPr>
        <p:spPr>
          <a:xfrm>
            <a:off x="4050792"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Petabyte-scale</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storage</a:t>
            </a:r>
            <a:endParaRPr lang="en-US" sz="800" dirty="0"/>
          </a:p>
        </p:txBody>
      </p:sp>
      <p:sp>
        <p:nvSpPr>
          <p:cNvPr id="32" name="Shape 30"/>
          <p:cNvSpPr/>
          <p:nvPr/>
        </p:nvSpPr>
        <p:spPr>
          <a:xfrm>
            <a:off x="5157216"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33" name="Text 31"/>
          <p:cNvSpPr/>
          <p:nvPr/>
        </p:nvSpPr>
        <p:spPr>
          <a:xfrm>
            <a:off x="5202936"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34" name="Shape 32"/>
          <p:cNvSpPr/>
          <p:nvPr/>
        </p:nvSpPr>
        <p:spPr>
          <a:xfrm>
            <a:off x="5276088" y="1463040"/>
            <a:ext cx="1097280" cy="1463040"/>
          </a:xfrm>
          <a:prstGeom prst="rect">
            <a:avLst/>
          </a:prstGeom>
          <a:solidFill>
            <a:srgbClr val="FFFFFF"/>
          </a:solidFill>
          <a:ln w="25400">
            <a:solidFill>
              <a:srgbClr val="1B3A6B"/>
            </a:solidFill>
            <a:prstDash val="solid"/>
          </a:ln>
        </p:spPr>
        <p:txBody>
          <a:bodyPr/>
          <a:lstStyle/>
          <a:p>
            <a:endParaRPr lang="en-US"/>
          </a:p>
        </p:txBody>
      </p:sp>
      <p:sp>
        <p:nvSpPr>
          <p:cNvPr id="35" name="Shape 33"/>
          <p:cNvSpPr/>
          <p:nvPr/>
        </p:nvSpPr>
        <p:spPr>
          <a:xfrm>
            <a:off x="5276088" y="1463040"/>
            <a:ext cx="1097280" cy="384048"/>
          </a:xfrm>
          <a:prstGeom prst="rect">
            <a:avLst/>
          </a:prstGeom>
          <a:solidFill>
            <a:srgbClr val="1B3A6B"/>
          </a:solidFill>
          <a:ln w="12700">
            <a:solidFill>
              <a:srgbClr val="1B3A6B"/>
            </a:solidFill>
            <a:prstDash val="solid"/>
          </a:ln>
        </p:spPr>
        <p:txBody>
          <a:bodyPr/>
          <a:lstStyle/>
          <a:p>
            <a:endParaRPr lang="en-US"/>
          </a:p>
        </p:txBody>
      </p:sp>
      <p:sp>
        <p:nvSpPr>
          <p:cNvPr id="36" name="Text 34"/>
          <p:cNvSpPr/>
          <p:nvPr/>
        </p:nvSpPr>
        <p:spPr>
          <a:xfrm>
            <a:off x="5276088"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37" name="Text 35"/>
          <p:cNvSpPr/>
          <p:nvPr/>
        </p:nvSpPr>
        <p:spPr>
          <a:xfrm>
            <a:off x="5312664"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Big Data</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Processing</a:t>
            </a:r>
            <a:endParaRPr lang="en-US" sz="900" dirty="0"/>
          </a:p>
        </p:txBody>
      </p:sp>
      <p:sp>
        <p:nvSpPr>
          <p:cNvPr id="38" name="Text 36"/>
          <p:cNvSpPr/>
          <p:nvPr/>
        </p:nvSpPr>
        <p:spPr>
          <a:xfrm>
            <a:off x="5312664"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Kafka, Spark,</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Flink, Lambda</a:t>
            </a:r>
            <a:endParaRPr lang="en-US" sz="800" dirty="0"/>
          </a:p>
        </p:txBody>
      </p:sp>
      <p:sp>
        <p:nvSpPr>
          <p:cNvPr id="39" name="Shape 37"/>
          <p:cNvSpPr/>
          <p:nvPr/>
        </p:nvSpPr>
        <p:spPr>
          <a:xfrm>
            <a:off x="6419088"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40" name="Text 38"/>
          <p:cNvSpPr/>
          <p:nvPr/>
        </p:nvSpPr>
        <p:spPr>
          <a:xfrm>
            <a:off x="6464808"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41" name="Shape 39"/>
          <p:cNvSpPr/>
          <p:nvPr/>
        </p:nvSpPr>
        <p:spPr>
          <a:xfrm>
            <a:off x="6537960" y="1463040"/>
            <a:ext cx="1097280" cy="1463040"/>
          </a:xfrm>
          <a:prstGeom prst="rect">
            <a:avLst/>
          </a:prstGeom>
          <a:solidFill>
            <a:srgbClr val="FFFFFF"/>
          </a:solidFill>
          <a:ln w="25400">
            <a:solidFill>
              <a:srgbClr val="4A90D9"/>
            </a:solidFill>
            <a:prstDash val="solid"/>
          </a:ln>
        </p:spPr>
        <p:txBody>
          <a:bodyPr/>
          <a:lstStyle/>
          <a:p>
            <a:endParaRPr lang="en-US"/>
          </a:p>
        </p:txBody>
      </p:sp>
      <p:sp>
        <p:nvSpPr>
          <p:cNvPr id="42" name="Shape 40"/>
          <p:cNvSpPr/>
          <p:nvPr/>
        </p:nvSpPr>
        <p:spPr>
          <a:xfrm>
            <a:off x="6537960" y="1463040"/>
            <a:ext cx="1097280" cy="384048"/>
          </a:xfrm>
          <a:prstGeom prst="rect">
            <a:avLst/>
          </a:prstGeom>
          <a:solidFill>
            <a:srgbClr val="4A90D9"/>
          </a:solidFill>
          <a:ln w="12700">
            <a:solidFill>
              <a:srgbClr val="4A90D9"/>
            </a:solidFill>
            <a:prstDash val="solid"/>
          </a:ln>
        </p:spPr>
        <p:txBody>
          <a:bodyPr/>
          <a:lstStyle/>
          <a:p>
            <a:endParaRPr lang="en-US"/>
          </a:p>
        </p:txBody>
      </p:sp>
      <p:sp>
        <p:nvSpPr>
          <p:cNvPr id="43" name="Text 41"/>
          <p:cNvSpPr/>
          <p:nvPr/>
        </p:nvSpPr>
        <p:spPr>
          <a:xfrm>
            <a:off x="6537960"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44" name="Text 42"/>
          <p:cNvSpPr/>
          <p:nvPr/>
        </p:nvSpPr>
        <p:spPr>
          <a:xfrm>
            <a:off x="6574536"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AI Decision</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Making</a:t>
            </a:r>
            <a:endParaRPr lang="en-US" sz="900" dirty="0"/>
          </a:p>
        </p:txBody>
      </p:sp>
      <p:sp>
        <p:nvSpPr>
          <p:cNvPr id="45" name="Text 43"/>
          <p:cNvSpPr/>
          <p:nvPr/>
        </p:nvSpPr>
        <p:spPr>
          <a:xfrm>
            <a:off x="6574536"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ML models &amp;</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route optimization</a:t>
            </a:r>
            <a:endParaRPr lang="en-US" sz="800" dirty="0"/>
          </a:p>
        </p:txBody>
      </p:sp>
      <p:sp>
        <p:nvSpPr>
          <p:cNvPr id="46" name="Shape 44"/>
          <p:cNvSpPr/>
          <p:nvPr/>
        </p:nvSpPr>
        <p:spPr>
          <a:xfrm>
            <a:off x="7680960" y="2157984"/>
            <a:ext cx="118872" cy="73152"/>
          </a:xfrm>
          <a:prstGeom prst="rect">
            <a:avLst/>
          </a:prstGeom>
          <a:solidFill>
            <a:srgbClr val="E87722"/>
          </a:solidFill>
          <a:ln w="12700">
            <a:solidFill>
              <a:srgbClr val="E87722"/>
            </a:solidFill>
            <a:prstDash val="solid"/>
          </a:ln>
        </p:spPr>
        <p:txBody>
          <a:bodyPr/>
          <a:lstStyle/>
          <a:p>
            <a:endParaRPr lang="en-US"/>
          </a:p>
        </p:txBody>
      </p:sp>
      <p:sp>
        <p:nvSpPr>
          <p:cNvPr id="47" name="Text 45"/>
          <p:cNvSpPr/>
          <p:nvPr/>
        </p:nvSpPr>
        <p:spPr>
          <a:xfrm>
            <a:off x="7726680" y="2103120"/>
            <a:ext cx="137160" cy="182880"/>
          </a:xfrm>
          <a:prstGeom prst="rect">
            <a:avLst/>
          </a:prstGeom>
          <a:noFill/>
          <a:ln/>
        </p:spPr>
        <p:txBody>
          <a:bodyPr wrap="square" lIns="0" tIns="0" rIns="0" bIns="0" rtlCol="0" anchor="ctr"/>
          <a:lstStyle/>
          <a:p>
            <a:pPr marL="0" indent="0" algn="ctr">
              <a:buNone/>
            </a:pPr>
            <a:r>
              <a:rPr lang="en-US" sz="900" dirty="0">
                <a:solidFill>
                  <a:srgbClr val="E87722"/>
                </a:solidFill>
              </a:rPr>
              <a:t>▶</a:t>
            </a:r>
            <a:endParaRPr lang="en-US" sz="900" dirty="0"/>
          </a:p>
        </p:txBody>
      </p:sp>
      <p:sp>
        <p:nvSpPr>
          <p:cNvPr id="48" name="Shape 46"/>
          <p:cNvSpPr/>
          <p:nvPr/>
        </p:nvSpPr>
        <p:spPr>
          <a:xfrm>
            <a:off x="7799832" y="1463040"/>
            <a:ext cx="1097280" cy="1463040"/>
          </a:xfrm>
          <a:prstGeom prst="rect">
            <a:avLst/>
          </a:prstGeom>
          <a:solidFill>
            <a:srgbClr val="FFFFFF"/>
          </a:solidFill>
          <a:ln w="25400">
            <a:solidFill>
              <a:srgbClr val="E87722"/>
            </a:solidFill>
            <a:prstDash val="solid"/>
          </a:ln>
        </p:spPr>
        <p:txBody>
          <a:bodyPr/>
          <a:lstStyle/>
          <a:p>
            <a:endParaRPr lang="en-US"/>
          </a:p>
        </p:txBody>
      </p:sp>
      <p:sp>
        <p:nvSpPr>
          <p:cNvPr id="49" name="Shape 47"/>
          <p:cNvSpPr/>
          <p:nvPr/>
        </p:nvSpPr>
        <p:spPr>
          <a:xfrm>
            <a:off x="7799832" y="1463040"/>
            <a:ext cx="1097280" cy="384048"/>
          </a:xfrm>
          <a:prstGeom prst="rect">
            <a:avLst/>
          </a:prstGeom>
          <a:solidFill>
            <a:srgbClr val="E87722"/>
          </a:solidFill>
          <a:ln w="12700">
            <a:solidFill>
              <a:srgbClr val="E87722"/>
            </a:solidFill>
            <a:prstDash val="solid"/>
          </a:ln>
        </p:spPr>
        <p:txBody>
          <a:bodyPr/>
          <a:lstStyle/>
          <a:p>
            <a:endParaRPr lang="en-US"/>
          </a:p>
        </p:txBody>
      </p:sp>
      <p:sp>
        <p:nvSpPr>
          <p:cNvPr id="50" name="Text 48"/>
          <p:cNvSpPr/>
          <p:nvPr/>
        </p:nvSpPr>
        <p:spPr>
          <a:xfrm>
            <a:off x="7799832" y="1490472"/>
            <a:ext cx="1097280" cy="320040"/>
          </a:xfrm>
          <a:prstGeom prst="rect">
            <a:avLst/>
          </a:prstGeom>
          <a:noFill/>
          <a:ln/>
        </p:spPr>
        <p:txBody>
          <a:bodyPr wrap="square" lIns="0" tIns="0" rIns="0" bIns="0" rtlCol="0" anchor="ctr"/>
          <a:lstStyle/>
          <a:p>
            <a:pPr marL="0" indent="0" algn="ctr">
              <a:buNone/>
            </a:pPr>
            <a:endParaRPr lang="en-US" sz="1800" dirty="0"/>
          </a:p>
        </p:txBody>
      </p:sp>
      <p:sp>
        <p:nvSpPr>
          <p:cNvPr id="51" name="Text 49"/>
          <p:cNvSpPr/>
          <p:nvPr/>
        </p:nvSpPr>
        <p:spPr>
          <a:xfrm>
            <a:off x="7836408" y="1883664"/>
            <a:ext cx="1024128" cy="502920"/>
          </a:xfrm>
          <a:prstGeom prst="rect">
            <a:avLst/>
          </a:prstGeom>
          <a:noFill/>
          <a:ln/>
        </p:spPr>
        <p:txBody>
          <a:bodyPr wrap="square" lIns="0" tIns="0" rIns="0" bIns="0" rtlCol="0" anchor="ctr"/>
          <a:lstStyle/>
          <a:p>
            <a:pPr marL="0" indent="0" algn="ctr">
              <a:buNone/>
            </a:pPr>
            <a:r>
              <a:rPr lang="en-US" sz="900" b="1" dirty="0">
                <a:solidFill>
                  <a:srgbClr val="1B3A6B"/>
                </a:solidFill>
                <a:latin typeface="Calibri" pitchFamily="34" charset="0"/>
                <a:ea typeface="Calibri" pitchFamily="34" charset="-122"/>
                <a:cs typeface="Calibri" pitchFamily="34" charset="-120"/>
              </a:rPr>
              <a:t>Safe Drone</a:t>
            </a:r>
            <a:endParaRPr lang="en-US" sz="900" dirty="0"/>
          </a:p>
          <a:p>
            <a:pPr marL="0" indent="0" algn="ctr">
              <a:buNone/>
            </a:pPr>
            <a:r>
              <a:rPr lang="en-US" sz="900" b="1" dirty="0">
                <a:solidFill>
                  <a:srgbClr val="1B3A6B"/>
                </a:solidFill>
                <a:latin typeface="Calibri" pitchFamily="34" charset="0"/>
                <a:ea typeface="Calibri" pitchFamily="34" charset="-122"/>
                <a:cs typeface="Calibri" pitchFamily="34" charset="-120"/>
              </a:rPr>
              <a:t>Delivery</a:t>
            </a:r>
            <a:endParaRPr lang="en-US" sz="900" dirty="0"/>
          </a:p>
        </p:txBody>
      </p:sp>
      <p:sp>
        <p:nvSpPr>
          <p:cNvPr id="52" name="Text 50"/>
          <p:cNvSpPr/>
          <p:nvPr/>
        </p:nvSpPr>
        <p:spPr>
          <a:xfrm>
            <a:off x="7836408" y="2395728"/>
            <a:ext cx="1024128" cy="457200"/>
          </a:xfrm>
          <a:prstGeom prst="rect">
            <a:avLst/>
          </a:prstGeom>
          <a:noFill/>
          <a:ln/>
        </p:spPr>
        <p:txBody>
          <a:bodyPr wrap="square" lIns="0" tIns="0" rIns="0" bIns="0" rtlCol="0" anchor="ctr"/>
          <a:lstStyle/>
          <a:p>
            <a:pPr marL="0" indent="0" algn="ctr">
              <a:buNone/>
            </a:pPr>
            <a:r>
              <a:rPr lang="en-US" sz="800" i="1" dirty="0">
                <a:solidFill>
                  <a:srgbClr val="444444"/>
                </a:solidFill>
                <a:latin typeface="Calibri" pitchFamily="34" charset="0"/>
                <a:ea typeface="Calibri" pitchFamily="34" charset="-122"/>
                <a:cs typeface="Calibri" pitchFamily="34" charset="-120"/>
              </a:rPr>
              <a:t>30-min delivery</a:t>
            </a:r>
            <a:endParaRPr lang="en-US" sz="800" dirty="0"/>
          </a:p>
          <a:p>
            <a:pPr marL="0" indent="0" algn="ctr">
              <a:buNone/>
            </a:pPr>
            <a:r>
              <a:rPr lang="en-US" sz="800" i="1" dirty="0">
                <a:solidFill>
                  <a:srgbClr val="444444"/>
                </a:solidFill>
                <a:latin typeface="Calibri" pitchFamily="34" charset="0"/>
                <a:ea typeface="Calibri" pitchFamily="34" charset="-122"/>
                <a:cs typeface="Calibri" pitchFamily="34" charset="-120"/>
              </a:rPr>
              <a:t>achieved</a:t>
            </a:r>
            <a:endParaRPr lang="en-US" sz="800" dirty="0"/>
          </a:p>
        </p:txBody>
      </p:sp>
      <p:sp>
        <p:nvSpPr>
          <p:cNvPr id="53" name="Shape 51"/>
          <p:cNvSpPr/>
          <p:nvPr/>
        </p:nvSpPr>
        <p:spPr>
          <a:xfrm>
            <a:off x="274320" y="3063240"/>
            <a:ext cx="8595360" cy="457200"/>
          </a:xfrm>
          <a:prstGeom prst="rect">
            <a:avLst/>
          </a:prstGeom>
          <a:solidFill>
            <a:srgbClr val="EEF4FF"/>
          </a:solidFill>
          <a:ln w="12700">
            <a:solidFill>
              <a:srgbClr val="4A90D9"/>
            </a:solidFill>
            <a:prstDash val="solid"/>
          </a:ln>
        </p:spPr>
        <p:txBody>
          <a:bodyPr/>
          <a:lstStyle/>
          <a:p>
            <a:endParaRPr lang="en-US"/>
          </a:p>
        </p:txBody>
      </p:sp>
      <p:sp>
        <p:nvSpPr>
          <p:cNvPr id="54" name="Text 52"/>
          <p:cNvSpPr/>
          <p:nvPr/>
        </p:nvSpPr>
        <p:spPr>
          <a:xfrm>
            <a:off x="411480" y="3090672"/>
            <a:ext cx="8321040" cy="402336"/>
          </a:xfrm>
          <a:prstGeom prst="rect">
            <a:avLst/>
          </a:prstGeom>
          <a:noFill/>
          <a:ln/>
        </p:spPr>
        <p:txBody>
          <a:bodyPr wrap="square" lIns="0" tIns="0" rIns="0" bIns="0" rtlCol="0" anchor="ctr"/>
          <a:lstStyle/>
          <a:p>
            <a:pPr marL="0" indent="0">
              <a:buNone/>
            </a:pPr>
            <a:r>
              <a:rPr lang="en-US" sz="950" i="1" dirty="0">
                <a:solidFill>
                  <a:srgbClr val="1B3A6B"/>
                </a:solidFill>
                <a:latin typeface="Calibri" pitchFamily="34" charset="0"/>
                <a:ea typeface="Calibri" pitchFamily="34" charset="-122"/>
                <a:cs typeface="Calibri" pitchFamily="34" charset="-120"/>
              </a:rPr>
              <a:t>"In Amazon Prime Air, drones collect real-time data using sensors, cameras, GPS &amp; communication networks. This data is transmitted to cloud systems where Big Data analytics and AI help drones navigate safely and coordinate delivery operations."</a:t>
            </a:r>
            <a:endParaRPr lang="en-US" sz="950" dirty="0"/>
          </a:p>
        </p:txBody>
      </p:sp>
      <p:sp>
        <p:nvSpPr>
          <p:cNvPr id="55" name="Text 53"/>
          <p:cNvSpPr/>
          <p:nvPr/>
        </p:nvSpPr>
        <p:spPr>
          <a:xfrm>
            <a:off x="274320" y="3593592"/>
            <a:ext cx="8595360" cy="256032"/>
          </a:xfrm>
          <a:prstGeom prst="rect">
            <a:avLst/>
          </a:prstGeom>
          <a:noFill/>
          <a:ln/>
        </p:spPr>
        <p:txBody>
          <a:bodyPr wrap="square" lIns="0" tIns="0" rIns="0" bIns="0" rtlCol="0" anchor="ctr"/>
          <a:lstStyle/>
          <a:p>
            <a:pPr marL="0" indent="0" algn="ctr">
              <a:buNone/>
            </a:pPr>
            <a:r>
              <a:rPr lang="en-US" sz="900" i="1" dirty="0">
                <a:solidFill>
                  <a:srgbClr val="444444"/>
                </a:solidFill>
                <a:latin typeface="Calibri" pitchFamily="34" charset="0"/>
                <a:ea typeface="Calibri" pitchFamily="34" charset="-122"/>
                <a:cs typeface="Calibri" pitchFamily="34" charset="-120"/>
              </a:rPr>
              <a:t>Data Volume: Each drone generates ~1GB/hour  |  1,000-drone swarm = ~1TB+/day  |  All processed in real-time via AWS infrastructure</a:t>
            </a:r>
            <a:endParaRPr lang="en-US" sz="900" dirty="0"/>
          </a:p>
        </p:txBody>
      </p:sp>
      <p:sp>
        <p:nvSpPr>
          <p:cNvPr id="56" name="Shape 54"/>
          <p:cNvSpPr/>
          <p:nvPr/>
        </p:nvSpPr>
        <p:spPr>
          <a:xfrm>
            <a:off x="274320" y="3913632"/>
            <a:ext cx="8595360" cy="859536"/>
          </a:xfrm>
          <a:prstGeom prst="rect">
            <a:avLst/>
          </a:prstGeom>
          <a:solidFill>
            <a:srgbClr val="FFFFFF"/>
          </a:solidFill>
          <a:ln w="12700">
            <a:solidFill>
              <a:srgbClr val="C8D8EE"/>
            </a:solidFill>
            <a:prstDash val="solid"/>
          </a:ln>
        </p:spPr>
        <p:txBody>
          <a:bodyPr/>
          <a:lstStyle/>
          <a:p>
            <a:endParaRPr lang="en-US"/>
          </a:p>
        </p:txBody>
      </p:sp>
      <p:sp>
        <p:nvSpPr>
          <p:cNvPr id="57" name="Text 55"/>
          <p:cNvSpPr/>
          <p:nvPr/>
        </p:nvSpPr>
        <p:spPr>
          <a:xfrm>
            <a:off x="411480" y="3950208"/>
            <a:ext cx="2743200" cy="228600"/>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Drone-to-Drone (V2V) Communication:</a:t>
            </a:r>
            <a:endParaRPr lang="en-US" sz="1000" dirty="0"/>
          </a:p>
        </p:txBody>
      </p:sp>
      <p:sp>
        <p:nvSpPr>
          <p:cNvPr id="58" name="Shape 56"/>
          <p:cNvSpPr/>
          <p:nvPr/>
        </p:nvSpPr>
        <p:spPr>
          <a:xfrm>
            <a:off x="411480" y="4215384"/>
            <a:ext cx="109728" cy="128016"/>
          </a:xfrm>
          <a:prstGeom prst="ellipse">
            <a:avLst/>
          </a:prstGeom>
          <a:solidFill>
            <a:srgbClr val="E87722"/>
          </a:solidFill>
          <a:ln w="12700">
            <a:solidFill>
              <a:srgbClr val="E87722"/>
            </a:solidFill>
            <a:prstDash val="solid"/>
          </a:ln>
        </p:spPr>
        <p:txBody>
          <a:bodyPr/>
          <a:lstStyle/>
          <a:p>
            <a:endParaRPr lang="en-US"/>
          </a:p>
        </p:txBody>
      </p:sp>
      <p:sp>
        <p:nvSpPr>
          <p:cNvPr id="59" name="Text 57"/>
          <p:cNvSpPr/>
          <p:nvPr/>
        </p:nvSpPr>
        <p:spPr>
          <a:xfrm>
            <a:off x="566928" y="4224528"/>
            <a:ext cx="3749040" cy="201168"/>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Drone A  ⟷  Drone B</a:t>
            </a:r>
            <a:endParaRPr lang="en-US" sz="950" dirty="0"/>
          </a:p>
        </p:txBody>
      </p:sp>
      <p:sp>
        <p:nvSpPr>
          <p:cNvPr id="60" name="Shape 58"/>
          <p:cNvSpPr/>
          <p:nvPr/>
        </p:nvSpPr>
        <p:spPr>
          <a:xfrm>
            <a:off x="4526280" y="4215384"/>
            <a:ext cx="109728" cy="128016"/>
          </a:xfrm>
          <a:prstGeom prst="ellipse">
            <a:avLst/>
          </a:prstGeom>
          <a:solidFill>
            <a:srgbClr val="E87722"/>
          </a:solidFill>
          <a:ln w="12700">
            <a:solidFill>
              <a:srgbClr val="E87722"/>
            </a:solidFill>
            <a:prstDash val="solid"/>
          </a:ln>
        </p:spPr>
        <p:txBody>
          <a:bodyPr/>
          <a:lstStyle/>
          <a:p>
            <a:endParaRPr lang="en-US"/>
          </a:p>
        </p:txBody>
      </p:sp>
      <p:sp>
        <p:nvSpPr>
          <p:cNvPr id="61" name="Text 59"/>
          <p:cNvSpPr/>
          <p:nvPr/>
        </p:nvSpPr>
        <p:spPr>
          <a:xfrm>
            <a:off x="4681728" y="4224528"/>
            <a:ext cx="3749040" cy="201168"/>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Drone B  ⟷  Drone C</a:t>
            </a:r>
            <a:endParaRPr lang="en-US" sz="950" dirty="0"/>
          </a:p>
        </p:txBody>
      </p:sp>
      <p:sp>
        <p:nvSpPr>
          <p:cNvPr id="62" name="Shape 60"/>
          <p:cNvSpPr/>
          <p:nvPr/>
        </p:nvSpPr>
        <p:spPr>
          <a:xfrm>
            <a:off x="411480" y="4471416"/>
            <a:ext cx="109728" cy="128016"/>
          </a:xfrm>
          <a:prstGeom prst="ellipse">
            <a:avLst/>
          </a:prstGeom>
          <a:solidFill>
            <a:srgbClr val="E87722"/>
          </a:solidFill>
          <a:ln w="12700">
            <a:solidFill>
              <a:srgbClr val="E87722"/>
            </a:solidFill>
            <a:prstDash val="solid"/>
          </a:ln>
        </p:spPr>
        <p:txBody>
          <a:bodyPr/>
          <a:lstStyle/>
          <a:p>
            <a:endParaRPr lang="en-US"/>
          </a:p>
        </p:txBody>
      </p:sp>
      <p:sp>
        <p:nvSpPr>
          <p:cNvPr id="63" name="Text 61"/>
          <p:cNvSpPr/>
          <p:nvPr/>
        </p:nvSpPr>
        <p:spPr>
          <a:xfrm>
            <a:off x="566928" y="4480560"/>
            <a:ext cx="3749040" cy="201168"/>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All Drones  ⟷  AWS Cloud</a:t>
            </a:r>
            <a:endParaRPr lang="en-US" sz="950" dirty="0"/>
          </a:p>
        </p:txBody>
      </p:sp>
      <p:sp>
        <p:nvSpPr>
          <p:cNvPr id="64" name="Shape 62"/>
          <p:cNvSpPr/>
          <p:nvPr/>
        </p:nvSpPr>
        <p:spPr>
          <a:xfrm>
            <a:off x="4526280" y="4471416"/>
            <a:ext cx="109728" cy="128016"/>
          </a:xfrm>
          <a:prstGeom prst="ellipse">
            <a:avLst/>
          </a:prstGeom>
          <a:solidFill>
            <a:srgbClr val="E87722"/>
          </a:solidFill>
          <a:ln w="12700">
            <a:solidFill>
              <a:srgbClr val="E87722"/>
            </a:solidFill>
            <a:prstDash val="solid"/>
          </a:ln>
        </p:spPr>
        <p:txBody>
          <a:bodyPr/>
          <a:lstStyle/>
          <a:p>
            <a:endParaRPr lang="en-US"/>
          </a:p>
        </p:txBody>
      </p:sp>
      <p:sp>
        <p:nvSpPr>
          <p:cNvPr id="65" name="Text 63"/>
          <p:cNvSpPr/>
          <p:nvPr/>
        </p:nvSpPr>
        <p:spPr>
          <a:xfrm>
            <a:off x="4681728" y="4480560"/>
            <a:ext cx="3749040" cy="201168"/>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Cloud  ⟷  Control Center</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The 5 V's of Big Data in Drone Systems</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2724912" cy="182880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1005840"/>
            <a:ext cx="2724912" cy="457200"/>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65760" y="1033272"/>
            <a:ext cx="2377440"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V1  VOLUME</a:t>
            </a:r>
            <a:endParaRPr lang="en-US" sz="1200" dirty="0"/>
          </a:p>
        </p:txBody>
      </p:sp>
      <p:sp>
        <p:nvSpPr>
          <p:cNvPr id="9" name="Text 7"/>
          <p:cNvSpPr/>
          <p:nvPr/>
        </p:nvSpPr>
        <p:spPr>
          <a:xfrm>
            <a:off x="365760" y="1252728"/>
            <a:ext cx="237744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Massive Scale</a:t>
            </a:r>
            <a:endParaRPr lang="en-US" sz="900" dirty="0"/>
          </a:p>
        </p:txBody>
      </p:sp>
      <p:sp>
        <p:nvSpPr>
          <p:cNvPr id="10" name="Shape 8"/>
          <p:cNvSpPr/>
          <p:nvPr/>
        </p:nvSpPr>
        <p:spPr>
          <a:xfrm>
            <a:off x="365760" y="1517904"/>
            <a:ext cx="1463040" cy="219456"/>
          </a:xfrm>
          <a:prstGeom prst="rect">
            <a:avLst/>
          </a:prstGeom>
          <a:solidFill>
            <a:srgbClr val="1B3A6B"/>
          </a:solidFill>
          <a:ln w="12700">
            <a:solidFill>
              <a:srgbClr val="1B3A6B"/>
            </a:solidFill>
            <a:prstDash val="solid"/>
          </a:ln>
        </p:spPr>
        <p:txBody>
          <a:bodyPr/>
          <a:lstStyle/>
          <a:p>
            <a:endParaRPr lang="en-US"/>
          </a:p>
        </p:txBody>
      </p:sp>
      <p:sp>
        <p:nvSpPr>
          <p:cNvPr id="11" name="Text 9"/>
          <p:cNvSpPr/>
          <p:nvPr/>
        </p:nvSpPr>
        <p:spPr>
          <a:xfrm>
            <a:off x="365760" y="1517904"/>
            <a:ext cx="146304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~1TB+/day</a:t>
            </a:r>
            <a:endParaRPr lang="en-US" sz="900" dirty="0"/>
          </a:p>
        </p:txBody>
      </p:sp>
      <p:sp>
        <p:nvSpPr>
          <p:cNvPr id="12" name="Text 10"/>
          <p:cNvSpPr/>
          <p:nvPr/>
        </p:nvSpPr>
        <p:spPr>
          <a:xfrm>
            <a:off x="365760" y="1783080"/>
            <a:ext cx="2542032" cy="96012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Each drone generates ~1GB/hour of sensor data. A 1,000-drone swarm produces terabytes daily — location, telemetry, images, and logs.</a:t>
            </a:r>
            <a:endParaRPr lang="en-US" sz="850" dirty="0"/>
          </a:p>
        </p:txBody>
      </p:sp>
      <p:sp>
        <p:nvSpPr>
          <p:cNvPr id="13" name="Shape 11"/>
          <p:cNvSpPr/>
          <p:nvPr/>
        </p:nvSpPr>
        <p:spPr>
          <a:xfrm>
            <a:off x="3182112" y="1005840"/>
            <a:ext cx="2724912" cy="1828800"/>
          </a:xfrm>
          <a:prstGeom prst="rect">
            <a:avLst/>
          </a:prstGeom>
          <a:solidFill>
            <a:srgbClr val="FFFFFF"/>
          </a:solidFill>
          <a:ln w="12700">
            <a:solidFill>
              <a:srgbClr val="C8D8EE"/>
            </a:solidFill>
            <a:prstDash val="solid"/>
          </a:ln>
        </p:spPr>
        <p:txBody>
          <a:bodyPr/>
          <a:lstStyle/>
          <a:p>
            <a:endParaRPr lang="en-US"/>
          </a:p>
        </p:txBody>
      </p:sp>
      <p:sp>
        <p:nvSpPr>
          <p:cNvPr id="14" name="Shape 12"/>
          <p:cNvSpPr/>
          <p:nvPr/>
        </p:nvSpPr>
        <p:spPr>
          <a:xfrm>
            <a:off x="3182112" y="1005840"/>
            <a:ext cx="2724912" cy="457200"/>
          </a:xfrm>
          <a:prstGeom prst="rect">
            <a:avLst/>
          </a:prstGeom>
          <a:solidFill>
            <a:srgbClr val="4A90D9"/>
          </a:solidFill>
          <a:ln w="12700">
            <a:solidFill>
              <a:srgbClr val="4A90D9"/>
            </a:solidFill>
            <a:prstDash val="solid"/>
          </a:ln>
        </p:spPr>
        <p:txBody>
          <a:bodyPr/>
          <a:lstStyle/>
          <a:p>
            <a:endParaRPr lang="en-US"/>
          </a:p>
        </p:txBody>
      </p:sp>
      <p:sp>
        <p:nvSpPr>
          <p:cNvPr id="15" name="Text 13"/>
          <p:cNvSpPr/>
          <p:nvPr/>
        </p:nvSpPr>
        <p:spPr>
          <a:xfrm>
            <a:off x="3273552" y="1033272"/>
            <a:ext cx="2377440"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V2  VELOCITY</a:t>
            </a:r>
            <a:endParaRPr lang="en-US" sz="1200" dirty="0"/>
          </a:p>
        </p:txBody>
      </p:sp>
      <p:sp>
        <p:nvSpPr>
          <p:cNvPr id="16" name="Text 14"/>
          <p:cNvSpPr/>
          <p:nvPr/>
        </p:nvSpPr>
        <p:spPr>
          <a:xfrm>
            <a:off x="3273552" y="1252728"/>
            <a:ext cx="237744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Real-Time Speed</a:t>
            </a:r>
            <a:endParaRPr lang="en-US" sz="900" dirty="0"/>
          </a:p>
        </p:txBody>
      </p:sp>
      <p:sp>
        <p:nvSpPr>
          <p:cNvPr id="17" name="Shape 15"/>
          <p:cNvSpPr/>
          <p:nvPr/>
        </p:nvSpPr>
        <p:spPr>
          <a:xfrm>
            <a:off x="3273552" y="1517904"/>
            <a:ext cx="1463040" cy="219456"/>
          </a:xfrm>
          <a:prstGeom prst="rect">
            <a:avLst/>
          </a:prstGeom>
          <a:solidFill>
            <a:srgbClr val="4A90D9"/>
          </a:solidFill>
          <a:ln w="12700">
            <a:solidFill>
              <a:srgbClr val="4A90D9"/>
            </a:solidFill>
            <a:prstDash val="solid"/>
          </a:ln>
        </p:spPr>
        <p:txBody>
          <a:bodyPr/>
          <a:lstStyle/>
          <a:p>
            <a:endParaRPr lang="en-US"/>
          </a:p>
        </p:txBody>
      </p:sp>
      <p:sp>
        <p:nvSpPr>
          <p:cNvPr id="18" name="Text 16"/>
          <p:cNvSpPr/>
          <p:nvPr/>
        </p:nvSpPr>
        <p:spPr>
          <a:xfrm>
            <a:off x="3273552" y="1517904"/>
            <a:ext cx="146304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&lt;10ms latency</a:t>
            </a:r>
            <a:endParaRPr lang="en-US" sz="900" dirty="0"/>
          </a:p>
        </p:txBody>
      </p:sp>
      <p:sp>
        <p:nvSpPr>
          <p:cNvPr id="19" name="Text 17"/>
          <p:cNvSpPr/>
          <p:nvPr/>
        </p:nvSpPr>
        <p:spPr>
          <a:xfrm>
            <a:off x="3273552" y="1783080"/>
            <a:ext cx="2542032" cy="96012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Data must be processed in milliseconds. Flight corrections, collision avoidance, and routing need instantaneous analysis for safe delivery.</a:t>
            </a:r>
            <a:endParaRPr lang="en-US" sz="850" dirty="0"/>
          </a:p>
        </p:txBody>
      </p:sp>
      <p:sp>
        <p:nvSpPr>
          <p:cNvPr id="20" name="Shape 18"/>
          <p:cNvSpPr/>
          <p:nvPr/>
        </p:nvSpPr>
        <p:spPr>
          <a:xfrm>
            <a:off x="6089904" y="1005840"/>
            <a:ext cx="2724912" cy="1828800"/>
          </a:xfrm>
          <a:prstGeom prst="rect">
            <a:avLst/>
          </a:prstGeom>
          <a:solidFill>
            <a:srgbClr val="FFFFFF"/>
          </a:solidFill>
          <a:ln w="12700">
            <a:solidFill>
              <a:srgbClr val="C8D8EE"/>
            </a:solidFill>
            <a:prstDash val="solid"/>
          </a:ln>
        </p:spPr>
        <p:txBody>
          <a:bodyPr/>
          <a:lstStyle/>
          <a:p>
            <a:endParaRPr lang="en-US"/>
          </a:p>
        </p:txBody>
      </p:sp>
      <p:sp>
        <p:nvSpPr>
          <p:cNvPr id="21" name="Shape 19"/>
          <p:cNvSpPr/>
          <p:nvPr/>
        </p:nvSpPr>
        <p:spPr>
          <a:xfrm>
            <a:off x="6089904" y="1005840"/>
            <a:ext cx="2724912" cy="457200"/>
          </a:xfrm>
          <a:prstGeom prst="rect">
            <a:avLst/>
          </a:prstGeom>
          <a:solidFill>
            <a:srgbClr val="E87722"/>
          </a:solidFill>
          <a:ln w="12700">
            <a:solidFill>
              <a:srgbClr val="E87722"/>
            </a:solidFill>
            <a:prstDash val="solid"/>
          </a:ln>
        </p:spPr>
        <p:txBody>
          <a:bodyPr/>
          <a:lstStyle/>
          <a:p>
            <a:endParaRPr lang="en-US"/>
          </a:p>
        </p:txBody>
      </p:sp>
      <p:sp>
        <p:nvSpPr>
          <p:cNvPr id="22" name="Text 20"/>
          <p:cNvSpPr/>
          <p:nvPr/>
        </p:nvSpPr>
        <p:spPr>
          <a:xfrm>
            <a:off x="6181344" y="1033272"/>
            <a:ext cx="2377440"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V3  VARIETY</a:t>
            </a:r>
            <a:endParaRPr lang="en-US" sz="1200" dirty="0"/>
          </a:p>
        </p:txBody>
      </p:sp>
      <p:sp>
        <p:nvSpPr>
          <p:cNvPr id="23" name="Text 21"/>
          <p:cNvSpPr/>
          <p:nvPr/>
        </p:nvSpPr>
        <p:spPr>
          <a:xfrm>
            <a:off x="6181344" y="1252728"/>
            <a:ext cx="237744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Diverse Formats</a:t>
            </a:r>
            <a:endParaRPr lang="en-US" sz="900" dirty="0"/>
          </a:p>
        </p:txBody>
      </p:sp>
      <p:sp>
        <p:nvSpPr>
          <p:cNvPr id="24" name="Shape 22"/>
          <p:cNvSpPr/>
          <p:nvPr/>
        </p:nvSpPr>
        <p:spPr>
          <a:xfrm>
            <a:off x="6181344" y="1517904"/>
            <a:ext cx="1463040" cy="219456"/>
          </a:xfrm>
          <a:prstGeom prst="rect">
            <a:avLst/>
          </a:prstGeom>
          <a:solidFill>
            <a:srgbClr val="E87722"/>
          </a:solidFill>
          <a:ln w="12700">
            <a:solidFill>
              <a:srgbClr val="E87722"/>
            </a:solidFill>
            <a:prstDash val="solid"/>
          </a:ln>
        </p:spPr>
        <p:txBody>
          <a:bodyPr/>
          <a:lstStyle/>
          <a:p>
            <a:endParaRPr lang="en-US"/>
          </a:p>
        </p:txBody>
      </p:sp>
      <p:sp>
        <p:nvSpPr>
          <p:cNvPr id="25" name="Text 23"/>
          <p:cNvSpPr/>
          <p:nvPr/>
        </p:nvSpPr>
        <p:spPr>
          <a:xfrm>
            <a:off x="6181344" y="1517904"/>
            <a:ext cx="146304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 data types</a:t>
            </a:r>
            <a:endParaRPr lang="en-US" sz="900" dirty="0"/>
          </a:p>
        </p:txBody>
      </p:sp>
      <p:sp>
        <p:nvSpPr>
          <p:cNvPr id="26" name="Text 24"/>
          <p:cNvSpPr/>
          <p:nvPr/>
        </p:nvSpPr>
        <p:spPr>
          <a:xfrm>
            <a:off x="6181344" y="1783080"/>
            <a:ext cx="2542032" cy="96012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Structured GPS logs, unstructured camera feeds, semi-structured weather APIs, LiDAR point clouds, and audio sensor readings.</a:t>
            </a:r>
            <a:endParaRPr lang="en-US" sz="850" dirty="0"/>
          </a:p>
        </p:txBody>
      </p:sp>
      <p:sp>
        <p:nvSpPr>
          <p:cNvPr id="27" name="Shape 25"/>
          <p:cNvSpPr/>
          <p:nvPr/>
        </p:nvSpPr>
        <p:spPr>
          <a:xfrm>
            <a:off x="1417320" y="2907792"/>
            <a:ext cx="3291840" cy="1828800"/>
          </a:xfrm>
          <a:prstGeom prst="rect">
            <a:avLst/>
          </a:prstGeom>
          <a:solidFill>
            <a:srgbClr val="FFFFFF"/>
          </a:solidFill>
          <a:ln w="12700">
            <a:solidFill>
              <a:srgbClr val="C8D8EE"/>
            </a:solidFill>
            <a:prstDash val="solid"/>
          </a:ln>
        </p:spPr>
        <p:txBody>
          <a:bodyPr/>
          <a:lstStyle/>
          <a:p>
            <a:endParaRPr lang="en-US"/>
          </a:p>
        </p:txBody>
      </p:sp>
      <p:sp>
        <p:nvSpPr>
          <p:cNvPr id="28" name="Shape 26"/>
          <p:cNvSpPr/>
          <p:nvPr/>
        </p:nvSpPr>
        <p:spPr>
          <a:xfrm>
            <a:off x="1417320" y="2907792"/>
            <a:ext cx="3291840" cy="457200"/>
          </a:xfrm>
          <a:prstGeom prst="rect">
            <a:avLst/>
          </a:prstGeom>
          <a:solidFill>
            <a:srgbClr val="1B3A6B"/>
          </a:solidFill>
          <a:ln w="12700">
            <a:solidFill>
              <a:srgbClr val="1B3A6B"/>
            </a:solidFill>
            <a:prstDash val="solid"/>
          </a:ln>
        </p:spPr>
        <p:txBody>
          <a:bodyPr/>
          <a:lstStyle/>
          <a:p>
            <a:endParaRPr lang="en-US"/>
          </a:p>
        </p:txBody>
      </p:sp>
      <p:sp>
        <p:nvSpPr>
          <p:cNvPr id="29" name="Text 27"/>
          <p:cNvSpPr/>
          <p:nvPr/>
        </p:nvSpPr>
        <p:spPr>
          <a:xfrm>
            <a:off x="1527048" y="2935224"/>
            <a:ext cx="3017520"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V4  VERACITY</a:t>
            </a:r>
            <a:endParaRPr lang="en-US" sz="1200" dirty="0"/>
          </a:p>
        </p:txBody>
      </p:sp>
      <p:sp>
        <p:nvSpPr>
          <p:cNvPr id="30" name="Text 28"/>
          <p:cNvSpPr/>
          <p:nvPr/>
        </p:nvSpPr>
        <p:spPr>
          <a:xfrm>
            <a:off x="1527048" y="3154680"/>
            <a:ext cx="301752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Data Quality</a:t>
            </a:r>
            <a:endParaRPr lang="en-US" sz="900" dirty="0"/>
          </a:p>
        </p:txBody>
      </p:sp>
      <p:sp>
        <p:nvSpPr>
          <p:cNvPr id="31" name="Shape 29"/>
          <p:cNvSpPr/>
          <p:nvPr/>
        </p:nvSpPr>
        <p:spPr>
          <a:xfrm>
            <a:off x="1527048" y="3419856"/>
            <a:ext cx="1645920" cy="219456"/>
          </a:xfrm>
          <a:prstGeom prst="rect">
            <a:avLst/>
          </a:prstGeom>
          <a:solidFill>
            <a:srgbClr val="1B3A6B"/>
          </a:solidFill>
          <a:ln w="12700">
            <a:solidFill>
              <a:srgbClr val="1B3A6B"/>
            </a:solidFill>
            <a:prstDash val="solid"/>
          </a:ln>
        </p:spPr>
        <p:txBody>
          <a:bodyPr/>
          <a:lstStyle/>
          <a:p>
            <a:endParaRPr lang="en-US"/>
          </a:p>
        </p:txBody>
      </p:sp>
      <p:sp>
        <p:nvSpPr>
          <p:cNvPr id="32" name="Text 30"/>
          <p:cNvSpPr/>
          <p:nvPr/>
        </p:nvSpPr>
        <p:spPr>
          <a:xfrm>
            <a:off x="1527048" y="3419856"/>
            <a:ext cx="16459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99.99% accuracy</a:t>
            </a:r>
            <a:endParaRPr lang="en-US" sz="900" dirty="0"/>
          </a:p>
        </p:txBody>
      </p:sp>
      <p:sp>
        <p:nvSpPr>
          <p:cNvPr id="33" name="Text 31"/>
          <p:cNvSpPr/>
          <p:nvPr/>
        </p:nvSpPr>
        <p:spPr>
          <a:xfrm>
            <a:off x="1527048" y="3675888"/>
            <a:ext cx="3072384" cy="9144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Sensor noise, GPS drift, and interference affect reliability. AI-driven validation ensures only accurate data drives autonomous decisions.</a:t>
            </a:r>
            <a:endParaRPr lang="en-US" sz="850" dirty="0"/>
          </a:p>
        </p:txBody>
      </p:sp>
      <p:sp>
        <p:nvSpPr>
          <p:cNvPr id="34" name="Shape 32"/>
          <p:cNvSpPr/>
          <p:nvPr/>
        </p:nvSpPr>
        <p:spPr>
          <a:xfrm>
            <a:off x="4983480" y="2907792"/>
            <a:ext cx="3291840" cy="1828800"/>
          </a:xfrm>
          <a:prstGeom prst="rect">
            <a:avLst/>
          </a:prstGeom>
          <a:solidFill>
            <a:srgbClr val="FFFFFF"/>
          </a:solidFill>
          <a:ln w="12700">
            <a:solidFill>
              <a:srgbClr val="C8D8EE"/>
            </a:solidFill>
            <a:prstDash val="solid"/>
          </a:ln>
        </p:spPr>
        <p:txBody>
          <a:bodyPr/>
          <a:lstStyle/>
          <a:p>
            <a:endParaRPr lang="en-US"/>
          </a:p>
        </p:txBody>
      </p:sp>
      <p:sp>
        <p:nvSpPr>
          <p:cNvPr id="35" name="Shape 33"/>
          <p:cNvSpPr/>
          <p:nvPr/>
        </p:nvSpPr>
        <p:spPr>
          <a:xfrm>
            <a:off x="4983480" y="2907792"/>
            <a:ext cx="3291840" cy="457200"/>
          </a:xfrm>
          <a:prstGeom prst="rect">
            <a:avLst/>
          </a:prstGeom>
          <a:solidFill>
            <a:srgbClr val="E87722"/>
          </a:solidFill>
          <a:ln w="12700">
            <a:solidFill>
              <a:srgbClr val="E87722"/>
            </a:solidFill>
            <a:prstDash val="solid"/>
          </a:ln>
        </p:spPr>
        <p:txBody>
          <a:bodyPr/>
          <a:lstStyle/>
          <a:p>
            <a:endParaRPr lang="en-US"/>
          </a:p>
        </p:txBody>
      </p:sp>
      <p:sp>
        <p:nvSpPr>
          <p:cNvPr id="36" name="Text 34"/>
          <p:cNvSpPr/>
          <p:nvPr/>
        </p:nvSpPr>
        <p:spPr>
          <a:xfrm>
            <a:off x="5093208" y="2935224"/>
            <a:ext cx="3017520"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V5  VALUE</a:t>
            </a:r>
            <a:endParaRPr lang="en-US" sz="1200" dirty="0"/>
          </a:p>
        </p:txBody>
      </p:sp>
      <p:sp>
        <p:nvSpPr>
          <p:cNvPr id="37" name="Text 35"/>
          <p:cNvSpPr/>
          <p:nvPr/>
        </p:nvSpPr>
        <p:spPr>
          <a:xfrm>
            <a:off x="5093208" y="3154680"/>
            <a:ext cx="3017520" cy="182880"/>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Business Impact</a:t>
            </a:r>
            <a:endParaRPr lang="en-US" sz="900" dirty="0"/>
          </a:p>
        </p:txBody>
      </p:sp>
      <p:sp>
        <p:nvSpPr>
          <p:cNvPr id="38" name="Shape 36"/>
          <p:cNvSpPr/>
          <p:nvPr/>
        </p:nvSpPr>
        <p:spPr>
          <a:xfrm>
            <a:off x="5093208" y="3419856"/>
            <a:ext cx="1645920" cy="219456"/>
          </a:xfrm>
          <a:prstGeom prst="rect">
            <a:avLst/>
          </a:prstGeom>
          <a:solidFill>
            <a:srgbClr val="E87722"/>
          </a:solidFill>
          <a:ln w="12700">
            <a:solidFill>
              <a:srgbClr val="E87722"/>
            </a:solidFill>
            <a:prstDash val="solid"/>
          </a:ln>
        </p:spPr>
        <p:txBody>
          <a:bodyPr/>
          <a:lstStyle/>
          <a:p>
            <a:endParaRPr lang="en-US"/>
          </a:p>
        </p:txBody>
      </p:sp>
      <p:sp>
        <p:nvSpPr>
          <p:cNvPr id="39" name="Text 37"/>
          <p:cNvSpPr/>
          <p:nvPr/>
        </p:nvSpPr>
        <p:spPr>
          <a:xfrm>
            <a:off x="5093208" y="3419856"/>
            <a:ext cx="16459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30-min delivery</a:t>
            </a:r>
            <a:endParaRPr lang="en-US" sz="900" dirty="0"/>
          </a:p>
        </p:txBody>
      </p:sp>
      <p:sp>
        <p:nvSpPr>
          <p:cNvPr id="40" name="Text 38"/>
          <p:cNvSpPr/>
          <p:nvPr/>
        </p:nvSpPr>
        <p:spPr>
          <a:xfrm>
            <a:off x="5093208" y="3675888"/>
            <a:ext cx="3072384" cy="9144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Analyzing delivery routes, battery patterns, and failure rates enables optimization — reducing costs and improving delivery SLAs.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Frameworks &amp; Methods</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4206240" cy="1207008"/>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1005840"/>
            <a:ext cx="1554480" cy="256032"/>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20040" y="104241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DATA INGESTION</a:t>
            </a:r>
            <a:endParaRPr lang="en-US" sz="650" dirty="0"/>
          </a:p>
        </p:txBody>
      </p:sp>
      <p:sp>
        <p:nvSpPr>
          <p:cNvPr id="9" name="Shape 7"/>
          <p:cNvSpPr/>
          <p:nvPr/>
        </p:nvSpPr>
        <p:spPr>
          <a:xfrm>
            <a:off x="3108960" y="1060704"/>
            <a:ext cx="1280160" cy="182880"/>
          </a:xfrm>
          <a:prstGeom prst="rect">
            <a:avLst/>
          </a:prstGeom>
          <a:solidFill>
            <a:srgbClr val="EEF4FF"/>
          </a:solidFill>
          <a:ln w="6350">
            <a:solidFill>
              <a:srgbClr val="4A90D9"/>
            </a:solidFill>
            <a:prstDash val="solid"/>
          </a:ln>
        </p:spPr>
        <p:txBody>
          <a:bodyPr/>
          <a:lstStyle/>
          <a:p>
            <a:endParaRPr lang="en-US"/>
          </a:p>
        </p:txBody>
      </p:sp>
      <p:sp>
        <p:nvSpPr>
          <p:cNvPr id="10" name="Text 8"/>
          <p:cNvSpPr/>
          <p:nvPr/>
        </p:nvSpPr>
        <p:spPr>
          <a:xfrm>
            <a:off x="3108960" y="106070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Used since 2018</a:t>
            </a:r>
            <a:endParaRPr lang="en-US" sz="650" dirty="0"/>
          </a:p>
        </p:txBody>
      </p:sp>
      <p:sp>
        <p:nvSpPr>
          <p:cNvPr id="11" name="Text 9"/>
          <p:cNvSpPr/>
          <p:nvPr/>
        </p:nvSpPr>
        <p:spPr>
          <a:xfrm>
            <a:off x="365760" y="128016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Apache Kafka</a:t>
            </a:r>
            <a:endParaRPr lang="en-US" sz="1400" dirty="0"/>
          </a:p>
        </p:txBody>
      </p:sp>
      <p:sp>
        <p:nvSpPr>
          <p:cNvPr id="12" name="Text 10"/>
          <p:cNvSpPr/>
          <p:nvPr/>
        </p:nvSpPr>
        <p:spPr>
          <a:xfrm>
            <a:off x="365760" y="153619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Kafka acts as the central nervous system for drone data. It collects millions of real-time events per second from all drones — GPS, battery, LiDAR, camera frames — and routes them to the right processing systems without any data loss, even under extreme load.</a:t>
            </a:r>
            <a:endParaRPr lang="en-US" sz="850" dirty="0"/>
          </a:p>
        </p:txBody>
      </p:sp>
      <p:sp>
        <p:nvSpPr>
          <p:cNvPr id="13" name="Shape 11"/>
          <p:cNvSpPr/>
          <p:nvPr/>
        </p:nvSpPr>
        <p:spPr>
          <a:xfrm>
            <a:off x="4709160" y="1005840"/>
            <a:ext cx="4206240" cy="1207008"/>
          </a:xfrm>
          <a:prstGeom prst="rect">
            <a:avLst/>
          </a:prstGeom>
          <a:solidFill>
            <a:srgbClr val="FFFFFF"/>
          </a:solidFill>
          <a:ln w="12700">
            <a:solidFill>
              <a:srgbClr val="C8D8EE"/>
            </a:solidFill>
            <a:prstDash val="solid"/>
          </a:ln>
        </p:spPr>
        <p:txBody>
          <a:bodyPr/>
          <a:lstStyle/>
          <a:p>
            <a:endParaRPr lang="en-US"/>
          </a:p>
        </p:txBody>
      </p:sp>
      <p:sp>
        <p:nvSpPr>
          <p:cNvPr id="14" name="Shape 12"/>
          <p:cNvSpPr/>
          <p:nvPr/>
        </p:nvSpPr>
        <p:spPr>
          <a:xfrm>
            <a:off x="4709160" y="1005840"/>
            <a:ext cx="1554480" cy="256032"/>
          </a:xfrm>
          <a:prstGeom prst="rect">
            <a:avLst/>
          </a:prstGeom>
          <a:solidFill>
            <a:srgbClr val="E87722"/>
          </a:solidFill>
          <a:ln w="12700">
            <a:solidFill>
              <a:srgbClr val="E87722"/>
            </a:solidFill>
            <a:prstDash val="solid"/>
          </a:ln>
        </p:spPr>
        <p:txBody>
          <a:bodyPr/>
          <a:lstStyle/>
          <a:p>
            <a:endParaRPr lang="en-US"/>
          </a:p>
        </p:txBody>
      </p:sp>
      <p:sp>
        <p:nvSpPr>
          <p:cNvPr id="15" name="Text 13"/>
          <p:cNvSpPr/>
          <p:nvPr/>
        </p:nvSpPr>
        <p:spPr>
          <a:xfrm>
            <a:off x="4754880" y="104241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BATCH PROCESSING</a:t>
            </a:r>
            <a:endParaRPr lang="en-US" sz="650" dirty="0"/>
          </a:p>
        </p:txBody>
      </p:sp>
      <p:sp>
        <p:nvSpPr>
          <p:cNvPr id="16" name="Shape 14"/>
          <p:cNvSpPr/>
          <p:nvPr/>
        </p:nvSpPr>
        <p:spPr>
          <a:xfrm>
            <a:off x="7543800" y="1060704"/>
            <a:ext cx="1280160" cy="182880"/>
          </a:xfrm>
          <a:prstGeom prst="rect">
            <a:avLst/>
          </a:prstGeom>
          <a:solidFill>
            <a:srgbClr val="EEF4FF"/>
          </a:solidFill>
          <a:ln w="6350">
            <a:solidFill>
              <a:srgbClr val="4A90D9"/>
            </a:solidFill>
            <a:prstDash val="solid"/>
          </a:ln>
        </p:spPr>
        <p:txBody>
          <a:bodyPr/>
          <a:lstStyle/>
          <a:p>
            <a:endParaRPr lang="en-US"/>
          </a:p>
        </p:txBody>
      </p:sp>
      <p:sp>
        <p:nvSpPr>
          <p:cNvPr id="17" name="Text 15"/>
          <p:cNvSpPr/>
          <p:nvPr/>
        </p:nvSpPr>
        <p:spPr>
          <a:xfrm>
            <a:off x="7543800" y="106070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Used since 2019</a:t>
            </a:r>
            <a:endParaRPr lang="en-US" sz="650" dirty="0"/>
          </a:p>
        </p:txBody>
      </p:sp>
      <p:sp>
        <p:nvSpPr>
          <p:cNvPr id="18" name="Text 16"/>
          <p:cNvSpPr/>
          <p:nvPr/>
        </p:nvSpPr>
        <p:spPr>
          <a:xfrm>
            <a:off x="4800600" y="128016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Apache Spark</a:t>
            </a:r>
            <a:endParaRPr lang="en-US" sz="1400" dirty="0"/>
          </a:p>
        </p:txBody>
      </p:sp>
      <p:sp>
        <p:nvSpPr>
          <p:cNvPr id="19" name="Text 17"/>
          <p:cNvSpPr/>
          <p:nvPr/>
        </p:nvSpPr>
        <p:spPr>
          <a:xfrm>
            <a:off x="4800600" y="153619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Spark processes massive historical datasets — past flight logs, delivery records, maintenance history. It powers weekly ML model retraining and generates optimized route maps. Handles terabytes of drone data in hours using distributed computing across AWS clusters.</a:t>
            </a:r>
            <a:endParaRPr lang="en-US" sz="850" dirty="0"/>
          </a:p>
        </p:txBody>
      </p:sp>
      <p:sp>
        <p:nvSpPr>
          <p:cNvPr id="20" name="Shape 18"/>
          <p:cNvSpPr/>
          <p:nvPr/>
        </p:nvSpPr>
        <p:spPr>
          <a:xfrm>
            <a:off x="274320" y="2331720"/>
            <a:ext cx="4206240" cy="1207008"/>
          </a:xfrm>
          <a:prstGeom prst="rect">
            <a:avLst/>
          </a:prstGeom>
          <a:solidFill>
            <a:srgbClr val="FFFFFF"/>
          </a:solidFill>
          <a:ln w="12700">
            <a:solidFill>
              <a:srgbClr val="C8D8EE"/>
            </a:solidFill>
            <a:prstDash val="solid"/>
          </a:ln>
        </p:spPr>
        <p:txBody>
          <a:bodyPr/>
          <a:lstStyle/>
          <a:p>
            <a:endParaRPr lang="en-US"/>
          </a:p>
        </p:txBody>
      </p:sp>
      <p:sp>
        <p:nvSpPr>
          <p:cNvPr id="21" name="Shape 19"/>
          <p:cNvSpPr/>
          <p:nvPr/>
        </p:nvSpPr>
        <p:spPr>
          <a:xfrm>
            <a:off x="274320" y="2331720"/>
            <a:ext cx="1554480" cy="256032"/>
          </a:xfrm>
          <a:prstGeom prst="rect">
            <a:avLst/>
          </a:prstGeom>
          <a:solidFill>
            <a:srgbClr val="1B3A6B"/>
          </a:solidFill>
          <a:ln w="12700">
            <a:solidFill>
              <a:srgbClr val="1B3A6B"/>
            </a:solidFill>
            <a:prstDash val="solid"/>
          </a:ln>
        </p:spPr>
        <p:txBody>
          <a:bodyPr/>
          <a:lstStyle/>
          <a:p>
            <a:endParaRPr lang="en-US"/>
          </a:p>
        </p:txBody>
      </p:sp>
      <p:sp>
        <p:nvSpPr>
          <p:cNvPr id="22" name="Text 20"/>
          <p:cNvSpPr/>
          <p:nvPr/>
        </p:nvSpPr>
        <p:spPr>
          <a:xfrm>
            <a:off x="320040" y="236829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STREAM PROCESSING</a:t>
            </a:r>
            <a:endParaRPr lang="en-US" sz="650" dirty="0"/>
          </a:p>
        </p:txBody>
      </p:sp>
      <p:sp>
        <p:nvSpPr>
          <p:cNvPr id="23" name="Shape 21"/>
          <p:cNvSpPr/>
          <p:nvPr/>
        </p:nvSpPr>
        <p:spPr>
          <a:xfrm>
            <a:off x="3108960" y="2386584"/>
            <a:ext cx="1280160" cy="182880"/>
          </a:xfrm>
          <a:prstGeom prst="rect">
            <a:avLst/>
          </a:prstGeom>
          <a:solidFill>
            <a:srgbClr val="EEF4FF"/>
          </a:solidFill>
          <a:ln w="6350">
            <a:solidFill>
              <a:srgbClr val="4A90D9"/>
            </a:solidFill>
            <a:prstDash val="solid"/>
          </a:ln>
        </p:spPr>
        <p:txBody>
          <a:bodyPr/>
          <a:lstStyle/>
          <a:p>
            <a:endParaRPr lang="en-US"/>
          </a:p>
        </p:txBody>
      </p:sp>
      <p:sp>
        <p:nvSpPr>
          <p:cNvPr id="24" name="Text 22"/>
          <p:cNvSpPr/>
          <p:nvPr/>
        </p:nvSpPr>
        <p:spPr>
          <a:xfrm>
            <a:off x="3108960" y="238658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Used since 2020</a:t>
            </a:r>
            <a:endParaRPr lang="en-US" sz="650" dirty="0"/>
          </a:p>
        </p:txBody>
      </p:sp>
      <p:sp>
        <p:nvSpPr>
          <p:cNvPr id="25" name="Text 23"/>
          <p:cNvSpPr/>
          <p:nvPr/>
        </p:nvSpPr>
        <p:spPr>
          <a:xfrm>
            <a:off x="365760" y="260604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Apache Flink</a:t>
            </a:r>
            <a:endParaRPr lang="en-US" sz="1400" dirty="0"/>
          </a:p>
        </p:txBody>
      </p:sp>
      <p:sp>
        <p:nvSpPr>
          <p:cNvPr id="26" name="Text 24"/>
          <p:cNvSpPr/>
          <p:nvPr/>
        </p:nvSpPr>
        <p:spPr>
          <a:xfrm>
            <a:off x="365760" y="286207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Flink processes live drone data streams with sub-50ms latency. It runs continuous queries: 'Is drone X about to collide?' or 'Has wind speed exceeded safe limits?' and triggers instant flight corrections — making real-time autonomous decisions non-stop, 24/7.</a:t>
            </a:r>
            <a:endParaRPr lang="en-US" sz="850" dirty="0"/>
          </a:p>
        </p:txBody>
      </p:sp>
      <p:sp>
        <p:nvSpPr>
          <p:cNvPr id="27" name="Shape 25"/>
          <p:cNvSpPr/>
          <p:nvPr/>
        </p:nvSpPr>
        <p:spPr>
          <a:xfrm>
            <a:off x="4709160" y="2331720"/>
            <a:ext cx="4206240" cy="1207008"/>
          </a:xfrm>
          <a:prstGeom prst="rect">
            <a:avLst/>
          </a:prstGeom>
          <a:solidFill>
            <a:srgbClr val="FFFFFF"/>
          </a:solidFill>
          <a:ln w="12700">
            <a:solidFill>
              <a:srgbClr val="C8D8EE"/>
            </a:solidFill>
            <a:prstDash val="solid"/>
          </a:ln>
        </p:spPr>
        <p:txBody>
          <a:bodyPr/>
          <a:lstStyle/>
          <a:p>
            <a:endParaRPr lang="en-US"/>
          </a:p>
        </p:txBody>
      </p:sp>
      <p:sp>
        <p:nvSpPr>
          <p:cNvPr id="28" name="Shape 26"/>
          <p:cNvSpPr/>
          <p:nvPr/>
        </p:nvSpPr>
        <p:spPr>
          <a:xfrm>
            <a:off x="4709160" y="2331720"/>
            <a:ext cx="1554480" cy="256032"/>
          </a:xfrm>
          <a:prstGeom prst="rect">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4754880" y="236829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STORAGE &amp; WAREHOUSE</a:t>
            </a:r>
            <a:endParaRPr lang="en-US" sz="650" dirty="0"/>
          </a:p>
        </p:txBody>
      </p:sp>
      <p:sp>
        <p:nvSpPr>
          <p:cNvPr id="30" name="Shape 28"/>
          <p:cNvSpPr/>
          <p:nvPr/>
        </p:nvSpPr>
        <p:spPr>
          <a:xfrm>
            <a:off x="7543800" y="2386584"/>
            <a:ext cx="1280160" cy="182880"/>
          </a:xfrm>
          <a:prstGeom prst="rect">
            <a:avLst/>
          </a:prstGeom>
          <a:solidFill>
            <a:srgbClr val="EEF4FF"/>
          </a:solidFill>
          <a:ln w="6350">
            <a:solidFill>
              <a:srgbClr val="4A90D9"/>
            </a:solidFill>
            <a:prstDash val="solid"/>
          </a:ln>
        </p:spPr>
        <p:txBody>
          <a:bodyPr/>
          <a:lstStyle/>
          <a:p>
            <a:endParaRPr lang="en-US"/>
          </a:p>
        </p:txBody>
      </p:sp>
      <p:sp>
        <p:nvSpPr>
          <p:cNvPr id="31" name="Text 29"/>
          <p:cNvSpPr/>
          <p:nvPr/>
        </p:nvSpPr>
        <p:spPr>
          <a:xfrm>
            <a:off x="7543800" y="238658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Core since 2017</a:t>
            </a:r>
            <a:endParaRPr lang="en-US" sz="650" dirty="0"/>
          </a:p>
        </p:txBody>
      </p:sp>
      <p:sp>
        <p:nvSpPr>
          <p:cNvPr id="32" name="Text 30"/>
          <p:cNvSpPr/>
          <p:nvPr/>
        </p:nvSpPr>
        <p:spPr>
          <a:xfrm>
            <a:off x="4800600" y="260604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AWS S3 + Redshift</a:t>
            </a:r>
            <a:endParaRPr lang="en-US" sz="1400" dirty="0"/>
          </a:p>
        </p:txBody>
      </p:sp>
      <p:sp>
        <p:nvSpPr>
          <p:cNvPr id="33" name="Text 31"/>
          <p:cNvSpPr/>
          <p:nvPr/>
        </p:nvSpPr>
        <p:spPr>
          <a:xfrm>
            <a:off x="4800600" y="286207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AWS S3 stores raw petabyte-scale drone telemetry with 99.999% durability. Redshift warehouses cleaned, structured data for analytics teams to query delivery performance, SLA compliance, and battery degradation trends using standard SQL at massive scale.</a:t>
            </a:r>
            <a:endParaRPr lang="en-US" sz="850" dirty="0"/>
          </a:p>
        </p:txBody>
      </p:sp>
      <p:sp>
        <p:nvSpPr>
          <p:cNvPr id="34" name="Shape 32"/>
          <p:cNvSpPr/>
          <p:nvPr/>
        </p:nvSpPr>
        <p:spPr>
          <a:xfrm>
            <a:off x="274320" y="3657600"/>
            <a:ext cx="4206240" cy="1207008"/>
          </a:xfrm>
          <a:prstGeom prst="rect">
            <a:avLst/>
          </a:prstGeom>
          <a:solidFill>
            <a:srgbClr val="FFFFFF"/>
          </a:solidFill>
          <a:ln w="12700">
            <a:solidFill>
              <a:srgbClr val="C8D8EE"/>
            </a:solidFill>
            <a:prstDash val="solid"/>
          </a:ln>
        </p:spPr>
        <p:txBody>
          <a:bodyPr/>
          <a:lstStyle/>
          <a:p>
            <a:endParaRPr lang="en-US"/>
          </a:p>
        </p:txBody>
      </p:sp>
      <p:sp>
        <p:nvSpPr>
          <p:cNvPr id="35" name="Shape 33"/>
          <p:cNvSpPr/>
          <p:nvPr/>
        </p:nvSpPr>
        <p:spPr>
          <a:xfrm>
            <a:off x="274320" y="3657600"/>
            <a:ext cx="1554480" cy="256032"/>
          </a:xfrm>
          <a:prstGeom prst="rect">
            <a:avLst/>
          </a:prstGeom>
          <a:solidFill>
            <a:srgbClr val="1B3A6B"/>
          </a:solidFill>
          <a:ln w="12700">
            <a:solidFill>
              <a:srgbClr val="1B3A6B"/>
            </a:solidFill>
            <a:prstDash val="solid"/>
          </a:ln>
        </p:spPr>
        <p:txBody>
          <a:bodyPr/>
          <a:lstStyle/>
          <a:p>
            <a:endParaRPr lang="en-US"/>
          </a:p>
        </p:txBody>
      </p:sp>
      <p:sp>
        <p:nvSpPr>
          <p:cNvPr id="36" name="Text 34"/>
          <p:cNvSpPr/>
          <p:nvPr/>
        </p:nvSpPr>
        <p:spPr>
          <a:xfrm>
            <a:off x="320040" y="369417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ON-DEVICE AI PROCESSING</a:t>
            </a:r>
            <a:endParaRPr lang="en-US" sz="650" dirty="0"/>
          </a:p>
        </p:txBody>
      </p:sp>
      <p:sp>
        <p:nvSpPr>
          <p:cNvPr id="37" name="Shape 35"/>
          <p:cNvSpPr/>
          <p:nvPr/>
        </p:nvSpPr>
        <p:spPr>
          <a:xfrm>
            <a:off x="3108960" y="3712464"/>
            <a:ext cx="1280160" cy="182880"/>
          </a:xfrm>
          <a:prstGeom prst="rect">
            <a:avLst/>
          </a:prstGeom>
          <a:solidFill>
            <a:srgbClr val="EEF4FF"/>
          </a:solidFill>
          <a:ln w="6350">
            <a:solidFill>
              <a:srgbClr val="4A90D9"/>
            </a:solidFill>
            <a:prstDash val="solid"/>
          </a:ln>
        </p:spPr>
        <p:txBody>
          <a:bodyPr/>
          <a:lstStyle/>
          <a:p>
            <a:endParaRPr lang="en-US"/>
          </a:p>
        </p:txBody>
      </p:sp>
      <p:sp>
        <p:nvSpPr>
          <p:cNvPr id="38" name="Text 36"/>
          <p:cNvSpPr/>
          <p:nvPr/>
        </p:nvSpPr>
        <p:spPr>
          <a:xfrm>
            <a:off x="3108960" y="371246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Since 2024 MK30 drone</a:t>
            </a:r>
            <a:endParaRPr lang="en-US" sz="650" dirty="0"/>
          </a:p>
        </p:txBody>
      </p:sp>
      <p:sp>
        <p:nvSpPr>
          <p:cNvPr id="39" name="Text 37"/>
          <p:cNvSpPr/>
          <p:nvPr/>
        </p:nvSpPr>
        <p:spPr>
          <a:xfrm>
            <a:off x="365760" y="393192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Edge Computing (MK30)</a:t>
            </a:r>
            <a:endParaRPr lang="en-US" sz="1400" dirty="0"/>
          </a:p>
        </p:txBody>
      </p:sp>
      <p:sp>
        <p:nvSpPr>
          <p:cNvPr id="40" name="Text 38"/>
          <p:cNvSpPr/>
          <p:nvPr/>
        </p:nvSpPr>
        <p:spPr>
          <a:xfrm>
            <a:off x="365760" y="418795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Amazon's MK30 drone processes critical safety data ON the device itself — no cloud round-trip needed. Obstacle detection, emergency landing decisions, and collision avoidance all run locally in microseconds. This makes the drone truly autonomous even in poor network zones.</a:t>
            </a:r>
            <a:endParaRPr lang="en-US" sz="850" dirty="0"/>
          </a:p>
        </p:txBody>
      </p:sp>
      <p:sp>
        <p:nvSpPr>
          <p:cNvPr id="41" name="Shape 39"/>
          <p:cNvSpPr/>
          <p:nvPr/>
        </p:nvSpPr>
        <p:spPr>
          <a:xfrm>
            <a:off x="4709160" y="3657600"/>
            <a:ext cx="4206240" cy="1207008"/>
          </a:xfrm>
          <a:prstGeom prst="rect">
            <a:avLst/>
          </a:prstGeom>
          <a:solidFill>
            <a:srgbClr val="FFFFFF"/>
          </a:solidFill>
          <a:ln w="12700">
            <a:solidFill>
              <a:srgbClr val="C8D8EE"/>
            </a:solidFill>
            <a:prstDash val="solid"/>
          </a:ln>
        </p:spPr>
        <p:txBody>
          <a:bodyPr/>
          <a:lstStyle/>
          <a:p>
            <a:endParaRPr lang="en-US"/>
          </a:p>
        </p:txBody>
      </p:sp>
      <p:sp>
        <p:nvSpPr>
          <p:cNvPr id="42" name="Shape 40"/>
          <p:cNvSpPr/>
          <p:nvPr/>
        </p:nvSpPr>
        <p:spPr>
          <a:xfrm>
            <a:off x="4709160" y="3657600"/>
            <a:ext cx="1554480" cy="256032"/>
          </a:xfrm>
          <a:prstGeom prst="rect">
            <a:avLst/>
          </a:prstGeom>
          <a:solidFill>
            <a:srgbClr val="E87722"/>
          </a:solidFill>
          <a:ln w="12700">
            <a:solidFill>
              <a:srgbClr val="E87722"/>
            </a:solidFill>
            <a:prstDash val="solid"/>
          </a:ln>
        </p:spPr>
        <p:txBody>
          <a:bodyPr/>
          <a:lstStyle/>
          <a:p>
            <a:endParaRPr lang="en-US"/>
          </a:p>
        </p:txBody>
      </p:sp>
      <p:sp>
        <p:nvSpPr>
          <p:cNvPr id="43" name="Text 41"/>
          <p:cNvSpPr/>
          <p:nvPr/>
        </p:nvSpPr>
        <p:spPr>
          <a:xfrm>
            <a:off x="4754880" y="3694176"/>
            <a:ext cx="1463040" cy="182880"/>
          </a:xfrm>
          <a:prstGeom prst="rect">
            <a:avLst/>
          </a:prstGeom>
          <a:noFill/>
          <a:ln/>
        </p:spPr>
        <p:txBody>
          <a:bodyPr wrap="square" lIns="0" tIns="0" rIns="0" bIns="0" rtlCol="0" anchor="ctr"/>
          <a:lstStyle/>
          <a:p>
            <a:pPr marL="0" indent="0">
              <a:buNone/>
            </a:pPr>
            <a:r>
              <a:rPr lang="en-US" sz="650" b="1" dirty="0">
                <a:solidFill>
                  <a:srgbClr val="FFFFFF"/>
                </a:solidFill>
                <a:latin typeface="Calibri" pitchFamily="34" charset="0"/>
                <a:ea typeface="Calibri" pitchFamily="34" charset="-122"/>
                <a:cs typeface="Calibri" pitchFamily="34" charset="-120"/>
              </a:rPr>
              <a:t>ML PIPELINE</a:t>
            </a:r>
            <a:endParaRPr lang="en-US" sz="650" dirty="0"/>
          </a:p>
        </p:txBody>
      </p:sp>
      <p:sp>
        <p:nvSpPr>
          <p:cNvPr id="44" name="Shape 42"/>
          <p:cNvSpPr/>
          <p:nvPr/>
        </p:nvSpPr>
        <p:spPr>
          <a:xfrm>
            <a:off x="7543800" y="3712464"/>
            <a:ext cx="1280160" cy="182880"/>
          </a:xfrm>
          <a:prstGeom prst="rect">
            <a:avLst/>
          </a:prstGeom>
          <a:solidFill>
            <a:srgbClr val="EEF4FF"/>
          </a:solidFill>
          <a:ln w="6350">
            <a:solidFill>
              <a:srgbClr val="4A90D9"/>
            </a:solidFill>
            <a:prstDash val="solid"/>
          </a:ln>
        </p:spPr>
        <p:txBody>
          <a:bodyPr/>
          <a:lstStyle/>
          <a:p>
            <a:endParaRPr lang="en-US"/>
          </a:p>
        </p:txBody>
      </p:sp>
      <p:sp>
        <p:nvSpPr>
          <p:cNvPr id="45" name="Text 43"/>
          <p:cNvSpPr/>
          <p:nvPr/>
        </p:nvSpPr>
        <p:spPr>
          <a:xfrm>
            <a:off x="7543800" y="3712464"/>
            <a:ext cx="1280160" cy="182880"/>
          </a:xfrm>
          <a:prstGeom prst="rect">
            <a:avLst/>
          </a:prstGeom>
          <a:noFill/>
          <a:ln/>
        </p:spPr>
        <p:txBody>
          <a:bodyPr wrap="square" lIns="0" tIns="0" rIns="0" bIns="0" rtlCol="0" anchor="ctr"/>
          <a:lstStyle/>
          <a:p>
            <a:pPr marL="0" indent="0" algn="ctr">
              <a:buNone/>
            </a:pPr>
            <a:r>
              <a:rPr lang="en-US" sz="650" dirty="0">
                <a:solidFill>
                  <a:srgbClr val="4A90D9"/>
                </a:solidFill>
                <a:latin typeface="Calibri" pitchFamily="34" charset="0"/>
                <a:ea typeface="Calibri" pitchFamily="34" charset="-122"/>
                <a:cs typeface="Calibri" pitchFamily="34" charset="-120"/>
              </a:rPr>
              <a:t>Used since 2021</a:t>
            </a:r>
            <a:endParaRPr lang="en-US" sz="650" dirty="0"/>
          </a:p>
        </p:txBody>
      </p:sp>
      <p:sp>
        <p:nvSpPr>
          <p:cNvPr id="46" name="Text 44"/>
          <p:cNvSpPr/>
          <p:nvPr/>
        </p:nvSpPr>
        <p:spPr>
          <a:xfrm>
            <a:off x="4800600" y="3931920"/>
            <a:ext cx="3931920" cy="256032"/>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AWS SageMaker</a:t>
            </a:r>
            <a:endParaRPr lang="en-US" sz="1400" dirty="0"/>
          </a:p>
        </p:txBody>
      </p:sp>
      <p:sp>
        <p:nvSpPr>
          <p:cNvPr id="47" name="Text 45"/>
          <p:cNvSpPr/>
          <p:nvPr/>
        </p:nvSpPr>
        <p:spPr>
          <a:xfrm>
            <a:off x="4800600" y="4187952"/>
            <a:ext cx="3977640" cy="621792"/>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SageMaker trains, tests and deploys ML models that power flight path optimization, demand prediction, and anomaly detection. Models are automatically retrained every week using the latest flight data, continuously improving drone performance and reducing delivery failures.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Big Data Architecture Overview</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IN" dirty="0"/>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28600" y="1005840"/>
            <a:ext cx="1609344" cy="347472"/>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265176" y="1033272"/>
            <a:ext cx="153619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SOURCES</a:t>
            </a:r>
            <a:endParaRPr lang="en-US" sz="800" dirty="0"/>
          </a:p>
        </p:txBody>
      </p:sp>
      <p:sp>
        <p:nvSpPr>
          <p:cNvPr id="8" name="Shape 6"/>
          <p:cNvSpPr/>
          <p:nvPr/>
        </p:nvSpPr>
        <p:spPr>
          <a:xfrm>
            <a:off x="228600" y="1444752"/>
            <a:ext cx="1609344" cy="594360"/>
          </a:xfrm>
          <a:prstGeom prst="rect">
            <a:avLst/>
          </a:prstGeom>
          <a:solidFill>
            <a:srgbClr val="F0F6FF"/>
          </a:solidFill>
          <a:ln w="12700">
            <a:solidFill>
              <a:srgbClr val="4A90D9"/>
            </a:solidFill>
            <a:prstDash val="solid"/>
          </a:ln>
        </p:spPr>
        <p:txBody>
          <a:bodyPr/>
          <a:lstStyle/>
          <a:p>
            <a:endParaRPr lang="en-US"/>
          </a:p>
        </p:txBody>
      </p:sp>
      <p:sp>
        <p:nvSpPr>
          <p:cNvPr id="9" name="Text 7"/>
          <p:cNvSpPr/>
          <p:nvPr/>
        </p:nvSpPr>
        <p:spPr>
          <a:xfrm>
            <a:off x="283464" y="1463040"/>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Drone Sensors</a:t>
            </a:r>
            <a:endParaRPr lang="en-US" sz="1000" dirty="0"/>
          </a:p>
        </p:txBody>
      </p:sp>
      <p:sp>
        <p:nvSpPr>
          <p:cNvPr id="10" name="Shape 8"/>
          <p:cNvSpPr/>
          <p:nvPr/>
        </p:nvSpPr>
        <p:spPr>
          <a:xfrm>
            <a:off x="228600" y="2194560"/>
            <a:ext cx="1609344" cy="594360"/>
          </a:xfrm>
          <a:prstGeom prst="rect">
            <a:avLst/>
          </a:prstGeom>
          <a:solidFill>
            <a:srgbClr val="F0F6FF"/>
          </a:solidFill>
          <a:ln w="12700">
            <a:solidFill>
              <a:srgbClr val="4A90D9"/>
            </a:solidFill>
            <a:prstDash val="solid"/>
          </a:ln>
        </p:spPr>
        <p:txBody>
          <a:bodyPr/>
          <a:lstStyle/>
          <a:p>
            <a:endParaRPr lang="en-US"/>
          </a:p>
        </p:txBody>
      </p:sp>
      <p:sp>
        <p:nvSpPr>
          <p:cNvPr id="11" name="Text 9"/>
          <p:cNvSpPr/>
          <p:nvPr/>
        </p:nvSpPr>
        <p:spPr>
          <a:xfrm>
            <a:off x="283464" y="2212848"/>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GPS / LiDAR</a:t>
            </a:r>
            <a:endParaRPr lang="en-US" sz="1000" dirty="0"/>
          </a:p>
        </p:txBody>
      </p:sp>
      <p:sp>
        <p:nvSpPr>
          <p:cNvPr id="12" name="Shape 10"/>
          <p:cNvSpPr/>
          <p:nvPr/>
        </p:nvSpPr>
        <p:spPr>
          <a:xfrm>
            <a:off x="228600" y="2944368"/>
            <a:ext cx="1609344" cy="594360"/>
          </a:xfrm>
          <a:prstGeom prst="rect">
            <a:avLst/>
          </a:prstGeom>
          <a:solidFill>
            <a:srgbClr val="F0F6FF"/>
          </a:solidFill>
          <a:ln w="12700">
            <a:solidFill>
              <a:srgbClr val="4A90D9"/>
            </a:solidFill>
            <a:prstDash val="solid"/>
          </a:ln>
        </p:spPr>
        <p:txBody>
          <a:bodyPr/>
          <a:lstStyle/>
          <a:p>
            <a:endParaRPr lang="en-US"/>
          </a:p>
        </p:txBody>
      </p:sp>
      <p:sp>
        <p:nvSpPr>
          <p:cNvPr id="13" name="Text 11"/>
          <p:cNvSpPr/>
          <p:nvPr/>
        </p:nvSpPr>
        <p:spPr>
          <a:xfrm>
            <a:off x="283464" y="2962656"/>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Weather APIs</a:t>
            </a:r>
            <a:endParaRPr lang="en-US" sz="1000" dirty="0"/>
          </a:p>
        </p:txBody>
      </p:sp>
      <p:sp>
        <p:nvSpPr>
          <p:cNvPr id="14" name="Shape 12"/>
          <p:cNvSpPr/>
          <p:nvPr/>
        </p:nvSpPr>
        <p:spPr>
          <a:xfrm>
            <a:off x="228600" y="3694176"/>
            <a:ext cx="1609344" cy="594360"/>
          </a:xfrm>
          <a:prstGeom prst="rect">
            <a:avLst/>
          </a:prstGeom>
          <a:solidFill>
            <a:srgbClr val="F0F6FF"/>
          </a:solidFill>
          <a:ln w="12700">
            <a:solidFill>
              <a:srgbClr val="4A90D9"/>
            </a:solidFill>
            <a:prstDash val="solid"/>
          </a:ln>
        </p:spPr>
        <p:txBody>
          <a:bodyPr/>
          <a:lstStyle/>
          <a:p>
            <a:endParaRPr lang="en-US"/>
          </a:p>
        </p:txBody>
      </p:sp>
      <p:sp>
        <p:nvSpPr>
          <p:cNvPr id="15" name="Text 13"/>
          <p:cNvSpPr/>
          <p:nvPr/>
        </p:nvSpPr>
        <p:spPr>
          <a:xfrm>
            <a:off x="283464" y="3712464"/>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Camera Feeds</a:t>
            </a:r>
            <a:endParaRPr lang="en-US" sz="1000" dirty="0"/>
          </a:p>
        </p:txBody>
      </p:sp>
      <p:sp>
        <p:nvSpPr>
          <p:cNvPr id="16" name="Text 14"/>
          <p:cNvSpPr/>
          <p:nvPr/>
        </p:nvSpPr>
        <p:spPr>
          <a:xfrm>
            <a:off x="1810512" y="2368296"/>
            <a:ext cx="182880" cy="274320"/>
          </a:xfrm>
          <a:prstGeom prst="rect">
            <a:avLst/>
          </a:prstGeom>
          <a:noFill/>
          <a:ln/>
        </p:spPr>
        <p:txBody>
          <a:bodyPr wrap="square" lIns="0" tIns="0" rIns="0" bIns="0" rtlCol="0" anchor="ctr"/>
          <a:lstStyle/>
          <a:p>
            <a:pPr marL="0" indent="0" algn="ctr">
              <a:buNone/>
            </a:pPr>
            <a:r>
              <a:rPr lang="en-US" sz="1400" b="1" dirty="0">
                <a:solidFill>
                  <a:srgbClr val="E87722"/>
                </a:solidFill>
              </a:rPr>
              <a:t>▶</a:t>
            </a:r>
            <a:endParaRPr lang="en-US" sz="1400" dirty="0"/>
          </a:p>
        </p:txBody>
      </p:sp>
      <p:sp>
        <p:nvSpPr>
          <p:cNvPr id="17" name="Shape 15"/>
          <p:cNvSpPr/>
          <p:nvPr/>
        </p:nvSpPr>
        <p:spPr>
          <a:xfrm>
            <a:off x="1965960" y="1005840"/>
            <a:ext cx="1609344" cy="347472"/>
          </a:xfrm>
          <a:prstGeom prst="rect">
            <a:avLst/>
          </a:prstGeom>
          <a:solidFill>
            <a:srgbClr val="1B3A6B"/>
          </a:solidFill>
          <a:ln w="12700">
            <a:solidFill>
              <a:srgbClr val="1B3A6B"/>
            </a:solidFill>
            <a:prstDash val="solid"/>
          </a:ln>
        </p:spPr>
        <p:txBody>
          <a:bodyPr/>
          <a:lstStyle/>
          <a:p>
            <a:endParaRPr lang="en-US"/>
          </a:p>
        </p:txBody>
      </p:sp>
      <p:sp>
        <p:nvSpPr>
          <p:cNvPr id="18" name="Text 16"/>
          <p:cNvSpPr/>
          <p:nvPr/>
        </p:nvSpPr>
        <p:spPr>
          <a:xfrm>
            <a:off x="2002536" y="1033272"/>
            <a:ext cx="153619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INGESTION LAYER</a:t>
            </a:r>
            <a:endParaRPr lang="en-US" sz="800" dirty="0"/>
          </a:p>
        </p:txBody>
      </p:sp>
      <p:sp>
        <p:nvSpPr>
          <p:cNvPr id="19" name="Shape 17"/>
          <p:cNvSpPr/>
          <p:nvPr/>
        </p:nvSpPr>
        <p:spPr>
          <a:xfrm>
            <a:off x="1965960" y="1444752"/>
            <a:ext cx="1609344" cy="594360"/>
          </a:xfrm>
          <a:prstGeom prst="rect">
            <a:avLst/>
          </a:prstGeom>
          <a:solidFill>
            <a:srgbClr val="F0F6FF"/>
          </a:solidFill>
          <a:ln w="12700">
            <a:solidFill>
              <a:srgbClr val="4A90D9"/>
            </a:solidFill>
            <a:prstDash val="solid"/>
          </a:ln>
        </p:spPr>
        <p:txBody>
          <a:bodyPr/>
          <a:lstStyle/>
          <a:p>
            <a:endParaRPr lang="en-US"/>
          </a:p>
        </p:txBody>
      </p:sp>
      <p:sp>
        <p:nvSpPr>
          <p:cNvPr id="20" name="Text 18"/>
          <p:cNvSpPr/>
          <p:nvPr/>
        </p:nvSpPr>
        <p:spPr>
          <a:xfrm>
            <a:off x="2020824" y="1463040"/>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Apache Kafka</a:t>
            </a:r>
            <a:endParaRPr lang="en-US" sz="1000" dirty="0"/>
          </a:p>
        </p:txBody>
      </p:sp>
      <p:sp>
        <p:nvSpPr>
          <p:cNvPr id="21" name="Shape 19"/>
          <p:cNvSpPr/>
          <p:nvPr/>
        </p:nvSpPr>
        <p:spPr>
          <a:xfrm>
            <a:off x="1965960" y="2194560"/>
            <a:ext cx="1609344" cy="594360"/>
          </a:xfrm>
          <a:prstGeom prst="rect">
            <a:avLst/>
          </a:prstGeom>
          <a:solidFill>
            <a:srgbClr val="F0F6FF"/>
          </a:solidFill>
          <a:ln w="12700">
            <a:solidFill>
              <a:srgbClr val="4A90D9"/>
            </a:solidFill>
            <a:prstDash val="solid"/>
          </a:ln>
        </p:spPr>
        <p:txBody>
          <a:bodyPr/>
          <a:lstStyle/>
          <a:p>
            <a:endParaRPr lang="en-US"/>
          </a:p>
        </p:txBody>
      </p:sp>
      <p:sp>
        <p:nvSpPr>
          <p:cNvPr id="22" name="Text 20"/>
          <p:cNvSpPr/>
          <p:nvPr/>
        </p:nvSpPr>
        <p:spPr>
          <a:xfrm>
            <a:off x="2020824" y="2212848"/>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AWS Kinesis</a:t>
            </a:r>
            <a:endParaRPr lang="en-US" sz="1000" dirty="0"/>
          </a:p>
        </p:txBody>
      </p:sp>
      <p:sp>
        <p:nvSpPr>
          <p:cNvPr id="23" name="Shape 21"/>
          <p:cNvSpPr/>
          <p:nvPr/>
        </p:nvSpPr>
        <p:spPr>
          <a:xfrm>
            <a:off x="1965960" y="2944368"/>
            <a:ext cx="1609344" cy="594360"/>
          </a:xfrm>
          <a:prstGeom prst="rect">
            <a:avLst/>
          </a:prstGeom>
          <a:solidFill>
            <a:srgbClr val="F0F6FF"/>
          </a:solidFill>
          <a:ln w="12700">
            <a:solidFill>
              <a:srgbClr val="4A90D9"/>
            </a:solidFill>
            <a:prstDash val="solid"/>
          </a:ln>
        </p:spPr>
        <p:txBody>
          <a:bodyPr/>
          <a:lstStyle/>
          <a:p>
            <a:endParaRPr lang="en-US"/>
          </a:p>
        </p:txBody>
      </p:sp>
      <p:sp>
        <p:nvSpPr>
          <p:cNvPr id="24" name="Text 22"/>
          <p:cNvSpPr/>
          <p:nvPr/>
        </p:nvSpPr>
        <p:spPr>
          <a:xfrm>
            <a:off x="2020824" y="2962656"/>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Real-time Streams</a:t>
            </a:r>
            <a:endParaRPr lang="en-US" sz="1000" dirty="0"/>
          </a:p>
        </p:txBody>
      </p:sp>
      <p:sp>
        <p:nvSpPr>
          <p:cNvPr id="25" name="Shape 23"/>
          <p:cNvSpPr/>
          <p:nvPr/>
        </p:nvSpPr>
        <p:spPr>
          <a:xfrm>
            <a:off x="1965960" y="3694176"/>
            <a:ext cx="1609344" cy="594360"/>
          </a:xfrm>
          <a:prstGeom prst="rect">
            <a:avLst/>
          </a:prstGeom>
          <a:solidFill>
            <a:srgbClr val="F0F6FF"/>
          </a:solidFill>
          <a:ln w="12700">
            <a:solidFill>
              <a:srgbClr val="4A90D9"/>
            </a:solidFill>
            <a:prstDash val="solid"/>
          </a:ln>
        </p:spPr>
        <p:txBody>
          <a:bodyPr/>
          <a:lstStyle/>
          <a:p>
            <a:endParaRPr lang="en-US"/>
          </a:p>
        </p:txBody>
      </p:sp>
      <p:sp>
        <p:nvSpPr>
          <p:cNvPr id="26" name="Text 24"/>
          <p:cNvSpPr/>
          <p:nvPr/>
        </p:nvSpPr>
        <p:spPr>
          <a:xfrm>
            <a:off x="2020824" y="3712464"/>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Message Queues</a:t>
            </a:r>
            <a:endParaRPr lang="en-US" sz="1000" dirty="0"/>
          </a:p>
        </p:txBody>
      </p:sp>
      <p:sp>
        <p:nvSpPr>
          <p:cNvPr id="27" name="Text 25"/>
          <p:cNvSpPr/>
          <p:nvPr/>
        </p:nvSpPr>
        <p:spPr>
          <a:xfrm>
            <a:off x="3557016" y="2377440"/>
            <a:ext cx="182880" cy="274320"/>
          </a:xfrm>
          <a:prstGeom prst="rect">
            <a:avLst/>
          </a:prstGeom>
          <a:noFill/>
          <a:ln/>
        </p:spPr>
        <p:txBody>
          <a:bodyPr wrap="square" lIns="0" tIns="0" rIns="0" bIns="0" rtlCol="0" anchor="ctr"/>
          <a:lstStyle/>
          <a:p>
            <a:pPr marL="0" indent="0" algn="ctr">
              <a:buNone/>
            </a:pPr>
            <a:r>
              <a:rPr lang="en-US" sz="1400" b="1" dirty="0">
                <a:solidFill>
                  <a:srgbClr val="E87722"/>
                </a:solidFill>
              </a:rPr>
              <a:t>▶</a:t>
            </a:r>
            <a:endParaRPr lang="en-US" sz="1400" dirty="0"/>
          </a:p>
        </p:txBody>
      </p:sp>
      <p:sp>
        <p:nvSpPr>
          <p:cNvPr id="28" name="Shape 26"/>
          <p:cNvSpPr/>
          <p:nvPr/>
        </p:nvSpPr>
        <p:spPr>
          <a:xfrm>
            <a:off x="3703320" y="1005840"/>
            <a:ext cx="1609344" cy="347472"/>
          </a:xfrm>
          <a:prstGeom prst="rect">
            <a:avLst/>
          </a:prstGeom>
          <a:solidFill>
            <a:srgbClr val="1B3A6B"/>
          </a:solidFill>
          <a:ln w="12700">
            <a:solidFill>
              <a:srgbClr val="1B3A6B"/>
            </a:solidFill>
            <a:prstDash val="solid"/>
          </a:ln>
        </p:spPr>
        <p:txBody>
          <a:bodyPr/>
          <a:lstStyle/>
          <a:p>
            <a:endParaRPr lang="en-US"/>
          </a:p>
        </p:txBody>
      </p:sp>
      <p:sp>
        <p:nvSpPr>
          <p:cNvPr id="29" name="Text 27"/>
          <p:cNvSpPr/>
          <p:nvPr/>
        </p:nvSpPr>
        <p:spPr>
          <a:xfrm>
            <a:off x="3739896" y="1033272"/>
            <a:ext cx="153619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PROCESSING LAYER</a:t>
            </a:r>
            <a:endParaRPr lang="en-US" sz="800" dirty="0"/>
          </a:p>
        </p:txBody>
      </p:sp>
      <p:sp>
        <p:nvSpPr>
          <p:cNvPr id="30" name="Shape 28"/>
          <p:cNvSpPr/>
          <p:nvPr/>
        </p:nvSpPr>
        <p:spPr>
          <a:xfrm>
            <a:off x="3703320" y="1444752"/>
            <a:ext cx="1609344" cy="594360"/>
          </a:xfrm>
          <a:prstGeom prst="rect">
            <a:avLst/>
          </a:prstGeom>
          <a:solidFill>
            <a:srgbClr val="F0F6FF"/>
          </a:solidFill>
          <a:ln w="12700">
            <a:solidFill>
              <a:srgbClr val="4A90D9"/>
            </a:solidFill>
            <a:prstDash val="solid"/>
          </a:ln>
        </p:spPr>
        <p:txBody>
          <a:bodyPr/>
          <a:lstStyle/>
          <a:p>
            <a:endParaRPr lang="en-US"/>
          </a:p>
        </p:txBody>
      </p:sp>
      <p:sp>
        <p:nvSpPr>
          <p:cNvPr id="31" name="Text 29"/>
          <p:cNvSpPr/>
          <p:nvPr/>
        </p:nvSpPr>
        <p:spPr>
          <a:xfrm>
            <a:off x="3758184" y="1463040"/>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Apache Spark</a:t>
            </a:r>
            <a:endParaRPr lang="en-US" sz="1000" dirty="0"/>
          </a:p>
        </p:txBody>
      </p:sp>
      <p:sp>
        <p:nvSpPr>
          <p:cNvPr id="32" name="Shape 30"/>
          <p:cNvSpPr/>
          <p:nvPr/>
        </p:nvSpPr>
        <p:spPr>
          <a:xfrm>
            <a:off x="3703320" y="2194560"/>
            <a:ext cx="1609344" cy="594360"/>
          </a:xfrm>
          <a:prstGeom prst="rect">
            <a:avLst/>
          </a:prstGeom>
          <a:solidFill>
            <a:srgbClr val="F0F6FF"/>
          </a:solidFill>
          <a:ln w="12700">
            <a:solidFill>
              <a:srgbClr val="4A90D9"/>
            </a:solidFill>
            <a:prstDash val="solid"/>
          </a:ln>
        </p:spPr>
        <p:txBody>
          <a:bodyPr/>
          <a:lstStyle/>
          <a:p>
            <a:endParaRPr lang="en-US"/>
          </a:p>
        </p:txBody>
      </p:sp>
      <p:sp>
        <p:nvSpPr>
          <p:cNvPr id="33" name="Text 31"/>
          <p:cNvSpPr/>
          <p:nvPr/>
        </p:nvSpPr>
        <p:spPr>
          <a:xfrm>
            <a:off x="3758184" y="2212848"/>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Flink / Storm</a:t>
            </a:r>
            <a:endParaRPr lang="en-US" sz="1000" dirty="0"/>
          </a:p>
        </p:txBody>
      </p:sp>
      <p:sp>
        <p:nvSpPr>
          <p:cNvPr id="34" name="Shape 32"/>
          <p:cNvSpPr/>
          <p:nvPr/>
        </p:nvSpPr>
        <p:spPr>
          <a:xfrm>
            <a:off x="3703320" y="2944368"/>
            <a:ext cx="1609344" cy="594360"/>
          </a:xfrm>
          <a:prstGeom prst="rect">
            <a:avLst/>
          </a:prstGeom>
          <a:solidFill>
            <a:srgbClr val="F0F6FF"/>
          </a:solidFill>
          <a:ln w="12700">
            <a:solidFill>
              <a:srgbClr val="4A90D9"/>
            </a:solidFill>
            <a:prstDash val="solid"/>
          </a:ln>
        </p:spPr>
        <p:txBody>
          <a:bodyPr/>
          <a:lstStyle/>
          <a:p>
            <a:endParaRPr lang="en-US"/>
          </a:p>
        </p:txBody>
      </p:sp>
      <p:sp>
        <p:nvSpPr>
          <p:cNvPr id="35" name="Text 33"/>
          <p:cNvSpPr/>
          <p:nvPr/>
        </p:nvSpPr>
        <p:spPr>
          <a:xfrm>
            <a:off x="3758184" y="2962656"/>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Lambda Architecture</a:t>
            </a:r>
            <a:endParaRPr lang="en-US" sz="1000" dirty="0"/>
          </a:p>
        </p:txBody>
      </p:sp>
      <p:sp>
        <p:nvSpPr>
          <p:cNvPr id="36" name="Shape 34"/>
          <p:cNvSpPr/>
          <p:nvPr/>
        </p:nvSpPr>
        <p:spPr>
          <a:xfrm>
            <a:off x="3703320" y="3694176"/>
            <a:ext cx="1609344" cy="594360"/>
          </a:xfrm>
          <a:prstGeom prst="rect">
            <a:avLst/>
          </a:prstGeom>
          <a:solidFill>
            <a:srgbClr val="F0F6FF"/>
          </a:solidFill>
          <a:ln w="12700">
            <a:solidFill>
              <a:srgbClr val="4A90D9"/>
            </a:solidFill>
            <a:prstDash val="solid"/>
          </a:ln>
        </p:spPr>
        <p:txBody>
          <a:bodyPr/>
          <a:lstStyle/>
          <a:p>
            <a:endParaRPr lang="en-US"/>
          </a:p>
        </p:txBody>
      </p:sp>
      <p:sp>
        <p:nvSpPr>
          <p:cNvPr id="37" name="Text 35"/>
          <p:cNvSpPr/>
          <p:nvPr/>
        </p:nvSpPr>
        <p:spPr>
          <a:xfrm>
            <a:off x="3758184" y="3712464"/>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ML Inference</a:t>
            </a:r>
            <a:endParaRPr lang="en-US" sz="1000" dirty="0"/>
          </a:p>
        </p:txBody>
      </p:sp>
      <p:sp>
        <p:nvSpPr>
          <p:cNvPr id="38" name="Text 36"/>
          <p:cNvSpPr/>
          <p:nvPr/>
        </p:nvSpPr>
        <p:spPr>
          <a:xfrm>
            <a:off x="5285232" y="2368296"/>
            <a:ext cx="182880" cy="274320"/>
          </a:xfrm>
          <a:prstGeom prst="rect">
            <a:avLst/>
          </a:prstGeom>
          <a:noFill/>
          <a:ln/>
        </p:spPr>
        <p:txBody>
          <a:bodyPr wrap="square" lIns="0" tIns="0" rIns="0" bIns="0" rtlCol="0" anchor="ctr"/>
          <a:lstStyle/>
          <a:p>
            <a:pPr marL="0" indent="0" algn="ctr">
              <a:buNone/>
            </a:pPr>
            <a:r>
              <a:rPr lang="en-US" sz="1400" b="1" dirty="0">
                <a:solidFill>
                  <a:srgbClr val="E87722"/>
                </a:solidFill>
              </a:rPr>
              <a:t>▶</a:t>
            </a:r>
            <a:endParaRPr lang="en-US" sz="1400" dirty="0"/>
          </a:p>
        </p:txBody>
      </p:sp>
      <p:sp>
        <p:nvSpPr>
          <p:cNvPr id="39" name="Shape 37"/>
          <p:cNvSpPr/>
          <p:nvPr/>
        </p:nvSpPr>
        <p:spPr>
          <a:xfrm>
            <a:off x="5440680" y="1005840"/>
            <a:ext cx="1609344" cy="347472"/>
          </a:xfrm>
          <a:prstGeom prst="rect">
            <a:avLst/>
          </a:prstGeom>
          <a:solidFill>
            <a:srgbClr val="1B3A6B"/>
          </a:solidFill>
          <a:ln w="12700">
            <a:solidFill>
              <a:srgbClr val="1B3A6B"/>
            </a:solidFill>
            <a:prstDash val="solid"/>
          </a:ln>
        </p:spPr>
        <p:txBody>
          <a:bodyPr/>
          <a:lstStyle/>
          <a:p>
            <a:endParaRPr lang="en-US"/>
          </a:p>
        </p:txBody>
      </p:sp>
      <p:sp>
        <p:nvSpPr>
          <p:cNvPr id="40" name="Text 38"/>
          <p:cNvSpPr/>
          <p:nvPr/>
        </p:nvSpPr>
        <p:spPr>
          <a:xfrm>
            <a:off x="5477256" y="1033272"/>
            <a:ext cx="153619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STORAGE LAYER</a:t>
            </a:r>
            <a:endParaRPr lang="en-US" sz="800" dirty="0"/>
          </a:p>
        </p:txBody>
      </p:sp>
      <p:sp>
        <p:nvSpPr>
          <p:cNvPr id="41" name="Shape 39"/>
          <p:cNvSpPr/>
          <p:nvPr/>
        </p:nvSpPr>
        <p:spPr>
          <a:xfrm>
            <a:off x="5440680" y="1444752"/>
            <a:ext cx="1609344" cy="594360"/>
          </a:xfrm>
          <a:prstGeom prst="rect">
            <a:avLst/>
          </a:prstGeom>
          <a:solidFill>
            <a:srgbClr val="F0F6FF"/>
          </a:solidFill>
          <a:ln w="12700">
            <a:solidFill>
              <a:srgbClr val="4A90D9"/>
            </a:solidFill>
            <a:prstDash val="solid"/>
          </a:ln>
        </p:spPr>
        <p:txBody>
          <a:bodyPr/>
          <a:lstStyle/>
          <a:p>
            <a:endParaRPr lang="en-US"/>
          </a:p>
        </p:txBody>
      </p:sp>
      <p:sp>
        <p:nvSpPr>
          <p:cNvPr id="42" name="Text 40"/>
          <p:cNvSpPr/>
          <p:nvPr/>
        </p:nvSpPr>
        <p:spPr>
          <a:xfrm>
            <a:off x="5495544" y="1463040"/>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Amazon S3</a:t>
            </a:r>
            <a:endParaRPr lang="en-US" sz="1000" dirty="0"/>
          </a:p>
        </p:txBody>
      </p:sp>
      <p:sp>
        <p:nvSpPr>
          <p:cNvPr id="43" name="Shape 41"/>
          <p:cNvSpPr/>
          <p:nvPr/>
        </p:nvSpPr>
        <p:spPr>
          <a:xfrm>
            <a:off x="5440680" y="2194560"/>
            <a:ext cx="1609344" cy="594360"/>
          </a:xfrm>
          <a:prstGeom prst="rect">
            <a:avLst/>
          </a:prstGeom>
          <a:solidFill>
            <a:srgbClr val="F0F6FF"/>
          </a:solidFill>
          <a:ln w="12700">
            <a:solidFill>
              <a:srgbClr val="4A90D9"/>
            </a:solidFill>
            <a:prstDash val="solid"/>
          </a:ln>
        </p:spPr>
        <p:txBody>
          <a:bodyPr/>
          <a:lstStyle/>
          <a:p>
            <a:endParaRPr lang="en-US"/>
          </a:p>
        </p:txBody>
      </p:sp>
      <p:sp>
        <p:nvSpPr>
          <p:cNvPr id="44" name="Text 42"/>
          <p:cNvSpPr/>
          <p:nvPr/>
        </p:nvSpPr>
        <p:spPr>
          <a:xfrm>
            <a:off x="5495544" y="2212848"/>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DynamoDB</a:t>
            </a:r>
            <a:endParaRPr lang="en-US" sz="1000" dirty="0"/>
          </a:p>
        </p:txBody>
      </p:sp>
      <p:sp>
        <p:nvSpPr>
          <p:cNvPr id="45" name="Shape 43"/>
          <p:cNvSpPr/>
          <p:nvPr/>
        </p:nvSpPr>
        <p:spPr>
          <a:xfrm>
            <a:off x="5440680" y="2944368"/>
            <a:ext cx="1609344" cy="594360"/>
          </a:xfrm>
          <a:prstGeom prst="rect">
            <a:avLst/>
          </a:prstGeom>
          <a:solidFill>
            <a:srgbClr val="F0F6FF"/>
          </a:solidFill>
          <a:ln w="12700">
            <a:solidFill>
              <a:srgbClr val="4A90D9"/>
            </a:solidFill>
            <a:prstDash val="solid"/>
          </a:ln>
        </p:spPr>
        <p:txBody>
          <a:bodyPr/>
          <a:lstStyle/>
          <a:p>
            <a:endParaRPr lang="en-US"/>
          </a:p>
        </p:txBody>
      </p:sp>
      <p:sp>
        <p:nvSpPr>
          <p:cNvPr id="46" name="Text 44"/>
          <p:cNvSpPr/>
          <p:nvPr/>
        </p:nvSpPr>
        <p:spPr>
          <a:xfrm>
            <a:off x="5495544" y="2962656"/>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HDFS / Data Lake</a:t>
            </a:r>
            <a:endParaRPr lang="en-US" sz="1000" dirty="0"/>
          </a:p>
        </p:txBody>
      </p:sp>
      <p:sp>
        <p:nvSpPr>
          <p:cNvPr id="47" name="Shape 45"/>
          <p:cNvSpPr/>
          <p:nvPr/>
        </p:nvSpPr>
        <p:spPr>
          <a:xfrm>
            <a:off x="5440680" y="3694176"/>
            <a:ext cx="1609344" cy="594360"/>
          </a:xfrm>
          <a:prstGeom prst="rect">
            <a:avLst/>
          </a:prstGeom>
          <a:solidFill>
            <a:srgbClr val="F0F6FF"/>
          </a:solidFill>
          <a:ln w="12700">
            <a:solidFill>
              <a:srgbClr val="4A90D9"/>
            </a:solidFill>
            <a:prstDash val="solid"/>
          </a:ln>
        </p:spPr>
        <p:txBody>
          <a:bodyPr/>
          <a:lstStyle/>
          <a:p>
            <a:endParaRPr lang="en-US"/>
          </a:p>
        </p:txBody>
      </p:sp>
      <p:sp>
        <p:nvSpPr>
          <p:cNvPr id="48" name="Text 46"/>
          <p:cNvSpPr/>
          <p:nvPr/>
        </p:nvSpPr>
        <p:spPr>
          <a:xfrm>
            <a:off x="5495544" y="3712464"/>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Time Series DB</a:t>
            </a:r>
            <a:endParaRPr lang="en-US" sz="1000" dirty="0"/>
          </a:p>
        </p:txBody>
      </p:sp>
      <p:sp>
        <p:nvSpPr>
          <p:cNvPr id="49" name="Text 47"/>
          <p:cNvSpPr/>
          <p:nvPr/>
        </p:nvSpPr>
        <p:spPr>
          <a:xfrm>
            <a:off x="7022592" y="2377440"/>
            <a:ext cx="182880" cy="274320"/>
          </a:xfrm>
          <a:prstGeom prst="rect">
            <a:avLst/>
          </a:prstGeom>
          <a:noFill/>
          <a:ln/>
        </p:spPr>
        <p:txBody>
          <a:bodyPr wrap="square" lIns="0" tIns="0" rIns="0" bIns="0" rtlCol="0" anchor="ctr"/>
          <a:lstStyle/>
          <a:p>
            <a:pPr marL="0" indent="0" algn="ctr">
              <a:buNone/>
            </a:pPr>
            <a:r>
              <a:rPr lang="en-US" sz="1400" b="1" dirty="0">
                <a:solidFill>
                  <a:srgbClr val="E87722"/>
                </a:solidFill>
              </a:rPr>
              <a:t>▶</a:t>
            </a:r>
            <a:endParaRPr lang="en-US" sz="1400" dirty="0"/>
          </a:p>
        </p:txBody>
      </p:sp>
      <p:sp>
        <p:nvSpPr>
          <p:cNvPr id="50" name="Shape 48"/>
          <p:cNvSpPr/>
          <p:nvPr/>
        </p:nvSpPr>
        <p:spPr>
          <a:xfrm>
            <a:off x="7178040" y="1005840"/>
            <a:ext cx="1609344" cy="347472"/>
          </a:xfrm>
          <a:prstGeom prst="rect">
            <a:avLst/>
          </a:prstGeom>
          <a:solidFill>
            <a:srgbClr val="E87722"/>
          </a:solidFill>
          <a:ln w="12700">
            <a:solidFill>
              <a:srgbClr val="E87722"/>
            </a:solidFill>
            <a:prstDash val="solid"/>
          </a:ln>
        </p:spPr>
        <p:txBody>
          <a:bodyPr/>
          <a:lstStyle/>
          <a:p>
            <a:endParaRPr lang="en-US"/>
          </a:p>
        </p:txBody>
      </p:sp>
      <p:sp>
        <p:nvSpPr>
          <p:cNvPr id="51" name="Text 49"/>
          <p:cNvSpPr/>
          <p:nvPr/>
        </p:nvSpPr>
        <p:spPr>
          <a:xfrm>
            <a:off x="7214616" y="1033272"/>
            <a:ext cx="1536192" cy="27432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APPLICATIONS</a:t>
            </a:r>
            <a:endParaRPr lang="en-US" sz="800" dirty="0"/>
          </a:p>
        </p:txBody>
      </p:sp>
      <p:sp>
        <p:nvSpPr>
          <p:cNvPr id="52" name="Shape 50"/>
          <p:cNvSpPr/>
          <p:nvPr/>
        </p:nvSpPr>
        <p:spPr>
          <a:xfrm>
            <a:off x="7178040" y="1444752"/>
            <a:ext cx="1609344" cy="594360"/>
          </a:xfrm>
          <a:prstGeom prst="rect">
            <a:avLst/>
          </a:prstGeom>
          <a:solidFill>
            <a:srgbClr val="FFF3E0"/>
          </a:solidFill>
          <a:ln w="12700">
            <a:solidFill>
              <a:srgbClr val="E87722"/>
            </a:solidFill>
            <a:prstDash val="solid"/>
          </a:ln>
        </p:spPr>
        <p:txBody>
          <a:bodyPr/>
          <a:lstStyle/>
          <a:p>
            <a:endParaRPr lang="en-US"/>
          </a:p>
        </p:txBody>
      </p:sp>
      <p:sp>
        <p:nvSpPr>
          <p:cNvPr id="53" name="Text 51"/>
          <p:cNvSpPr/>
          <p:nvPr/>
        </p:nvSpPr>
        <p:spPr>
          <a:xfrm>
            <a:off x="7232904" y="1463040"/>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Route Optimization</a:t>
            </a:r>
            <a:endParaRPr lang="en-US" sz="1000" dirty="0"/>
          </a:p>
        </p:txBody>
      </p:sp>
      <p:sp>
        <p:nvSpPr>
          <p:cNvPr id="54" name="Shape 52"/>
          <p:cNvSpPr/>
          <p:nvPr/>
        </p:nvSpPr>
        <p:spPr>
          <a:xfrm>
            <a:off x="7178040" y="2194560"/>
            <a:ext cx="1609344" cy="594360"/>
          </a:xfrm>
          <a:prstGeom prst="rect">
            <a:avLst/>
          </a:prstGeom>
          <a:solidFill>
            <a:srgbClr val="FFF3E0"/>
          </a:solidFill>
          <a:ln w="12700">
            <a:solidFill>
              <a:srgbClr val="E87722"/>
            </a:solidFill>
            <a:prstDash val="solid"/>
          </a:ln>
        </p:spPr>
        <p:txBody>
          <a:bodyPr/>
          <a:lstStyle/>
          <a:p>
            <a:endParaRPr lang="en-US"/>
          </a:p>
        </p:txBody>
      </p:sp>
      <p:sp>
        <p:nvSpPr>
          <p:cNvPr id="55" name="Text 53"/>
          <p:cNvSpPr/>
          <p:nvPr/>
        </p:nvSpPr>
        <p:spPr>
          <a:xfrm>
            <a:off x="7232904" y="2212848"/>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Swarm Control</a:t>
            </a:r>
            <a:endParaRPr lang="en-US" sz="1000" dirty="0"/>
          </a:p>
        </p:txBody>
      </p:sp>
      <p:sp>
        <p:nvSpPr>
          <p:cNvPr id="56" name="Shape 54"/>
          <p:cNvSpPr/>
          <p:nvPr/>
        </p:nvSpPr>
        <p:spPr>
          <a:xfrm>
            <a:off x="7178040" y="2944368"/>
            <a:ext cx="1609344" cy="594360"/>
          </a:xfrm>
          <a:prstGeom prst="rect">
            <a:avLst/>
          </a:prstGeom>
          <a:solidFill>
            <a:srgbClr val="FFF3E0"/>
          </a:solidFill>
          <a:ln w="12700">
            <a:solidFill>
              <a:srgbClr val="E87722"/>
            </a:solidFill>
            <a:prstDash val="solid"/>
          </a:ln>
        </p:spPr>
        <p:txBody>
          <a:bodyPr/>
          <a:lstStyle/>
          <a:p>
            <a:endParaRPr lang="en-US"/>
          </a:p>
        </p:txBody>
      </p:sp>
      <p:sp>
        <p:nvSpPr>
          <p:cNvPr id="57" name="Text 55"/>
          <p:cNvSpPr/>
          <p:nvPr/>
        </p:nvSpPr>
        <p:spPr>
          <a:xfrm>
            <a:off x="7232904" y="2962656"/>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Predictive Maint.</a:t>
            </a:r>
            <a:endParaRPr lang="en-US" sz="1000" dirty="0"/>
          </a:p>
        </p:txBody>
      </p:sp>
      <p:sp>
        <p:nvSpPr>
          <p:cNvPr id="58" name="Shape 56"/>
          <p:cNvSpPr/>
          <p:nvPr/>
        </p:nvSpPr>
        <p:spPr>
          <a:xfrm>
            <a:off x="7178040" y="3694176"/>
            <a:ext cx="1609344" cy="594360"/>
          </a:xfrm>
          <a:prstGeom prst="rect">
            <a:avLst/>
          </a:prstGeom>
          <a:solidFill>
            <a:srgbClr val="FFF3E0"/>
          </a:solidFill>
          <a:ln w="12700">
            <a:solidFill>
              <a:srgbClr val="E87722"/>
            </a:solidFill>
            <a:prstDash val="solid"/>
          </a:ln>
        </p:spPr>
        <p:txBody>
          <a:bodyPr/>
          <a:lstStyle/>
          <a:p>
            <a:endParaRPr lang="en-US"/>
          </a:p>
        </p:txBody>
      </p:sp>
      <p:sp>
        <p:nvSpPr>
          <p:cNvPr id="59" name="Text 57"/>
          <p:cNvSpPr/>
          <p:nvPr/>
        </p:nvSpPr>
        <p:spPr>
          <a:xfrm>
            <a:off x="7232904" y="3712464"/>
            <a:ext cx="1499616" cy="548640"/>
          </a:xfrm>
          <a:prstGeom prst="rect">
            <a:avLst/>
          </a:prstGeom>
          <a:noFill/>
          <a:ln/>
        </p:spPr>
        <p:txBody>
          <a:bodyPr wrap="square" lIns="0" tIns="0" rIns="0" bIns="0" rtlCol="0" anchor="ctr"/>
          <a:lstStyle/>
          <a:p>
            <a:pPr marL="0" indent="0" algn="ctr">
              <a:buNone/>
            </a:pPr>
            <a:r>
              <a:rPr lang="en-US" sz="1000" b="1" dirty="0">
                <a:solidFill>
                  <a:srgbClr val="1B3A6B"/>
                </a:solidFill>
                <a:latin typeface="Calibri" pitchFamily="34" charset="0"/>
                <a:ea typeface="Calibri" pitchFamily="34" charset="-122"/>
                <a:cs typeface="Calibri" pitchFamily="34" charset="-120"/>
              </a:rPr>
              <a:t>Delivery Analytics</a:t>
            </a:r>
            <a:endParaRPr lang="en-US" sz="1000" dirty="0"/>
          </a:p>
        </p:txBody>
      </p:sp>
      <p:sp>
        <p:nvSpPr>
          <p:cNvPr id="60" name="Shape 58"/>
          <p:cNvSpPr/>
          <p:nvPr/>
        </p:nvSpPr>
        <p:spPr>
          <a:xfrm>
            <a:off x="228600" y="4617720"/>
            <a:ext cx="8686800" cy="256032"/>
          </a:xfrm>
          <a:prstGeom prst="rect">
            <a:avLst/>
          </a:prstGeom>
          <a:solidFill>
            <a:srgbClr val="EEF4FF"/>
          </a:solidFill>
          <a:ln w="12700">
            <a:solidFill>
              <a:srgbClr val="4A90D9"/>
            </a:solidFill>
            <a:prstDash val="solid"/>
          </a:ln>
        </p:spPr>
        <p:txBody>
          <a:bodyPr/>
          <a:lstStyle/>
          <a:p>
            <a:endParaRPr lang="en-US"/>
          </a:p>
        </p:txBody>
      </p:sp>
      <p:sp>
        <p:nvSpPr>
          <p:cNvPr id="61" name="Text 59"/>
          <p:cNvSpPr/>
          <p:nvPr/>
        </p:nvSpPr>
        <p:spPr>
          <a:xfrm>
            <a:off x="320040" y="4636008"/>
            <a:ext cx="8503920" cy="201168"/>
          </a:xfrm>
          <a:prstGeom prst="rect">
            <a:avLst/>
          </a:prstGeom>
          <a:noFill/>
          <a:ln/>
        </p:spPr>
        <p:txBody>
          <a:bodyPr wrap="square" lIns="0" tIns="0" rIns="0" bIns="0" rtlCol="0" anchor="ctr"/>
          <a:lstStyle/>
          <a:p>
            <a:pPr marL="0" indent="0">
              <a:buNone/>
            </a:pPr>
            <a:r>
              <a:rPr lang="en-US" sz="850" i="1" dirty="0">
                <a:solidFill>
                  <a:srgbClr val="1B3A6B"/>
                </a:solidFill>
                <a:latin typeface="Calibri" pitchFamily="34" charset="0"/>
                <a:ea typeface="Calibri" pitchFamily="34" charset="-122"/>
                <a:cs typeface="Calibri" pitchFamily="34" charset="-120"/>
              </a:rPr>
              <a:t>Lambda Architecture: All data passes through BOTH batch processing (Spark) and speed processing (Flink) for real-time + historical intelligence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Drone Swarm Coordination Mechanisms</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2788920" cy="384048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1005840"/>
            <a:ext cx="2788920" cy="502920"/>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65760" y="1051560"/>
            <a:ext cx="26060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Collision Avoidance</a:t>
            </a:r>
            <a:endParaRPr lang="en-US" sz="1200" dirty="0"/>
          </a:p>
        </p:txBody>
      </p:sp>
      <p:sp>
        <p:nvSpPr>
          <p:cNvPr id="9" name="Shape 7"/>
          <p:cNvSpPr/>
          <p:nvPr/>
        </p:nvSpPr>
        <p:spPr>
          <a:xfrm>
            <a:off x="384048" y="1627632"/>
            <a:ext cx="64008" cy="320040"/>
          </a:xfrm>
          <a:prstGeom prst="rect">
            <a:avLst/>
          </a:prstGeom>
          <a:solidFill>
            <a:srgbClr val="1B3A6B"/>
          </a:solidFill>
          <a:ln w="12700">
            <a:solidFill>
              <a:srgbClr val="1B3A6B"/>
            </a:solidFill>
            <a:prstDash val="solid"/>
          </a:ln>
        </p:spPr>
        <p:txBody>
          <a:bodyPr/>
          <a:lstStyle/>
          <a:p>
            <a:endParaRPr lang="en-US"/>
          </a:p>
        </p:txBody>
      </p:sp>
      <p:sp>
        <p:nvSpPr>
          <p:cNvPr id="10" name="Text 8"/>
          <p:cNvSpPr/>
          <p:nvPr/>
        </p:nvSpPr>
        <p:spPr>
          <a:xfrm>
            <a:off x="521208" y="1609344"/>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LiDAR + computer vision fusion</a:t>
            </a:r>
            <a:endParaRPr lang="en-US" sz="1000" dirty="0"/>
          </a:p>
        </p:txBody>
      </p:sp>
      <p:sp>
        <p:nvSpPr>
          <p:cNvPr id="11" name="Shape 9"/>
          <p:cNvSpPr/>
          <p:nvPr/>
        </p:nvSpPr>
        <p:spPr>
          <a:xfrm>
            <a:off x="384048" y="2194560"/>
            <a:ext cx="64008" cy="320040"/>
          </a:xfrm>
          <a:prstGeom prst="rect">
            <a:avLst/>
          </a:prstGeom>
          <a:solidFill>
            <a:srgbClr val="1B3A6B"/>
          </a:solidFill>
          <a:ln w="12700">
            <a:solidFill>
              <a:srgbClr val="1B3A6B"/>
            </a:solidFill>
            <a:prstDash val="solid"/>
          </a:ln>
        </p:spPr>
        <p:txBody>
          <a:bodyPr/>
          <a:lstStyle/>
          <a:p>
            <a:endParaRPr lang="en-US"/>
          </a:p>
        </p:txBody>
      </p:sp>
      <p:sp>
        <p:nvSpPr>
          <p:cNvPr id="12" name="Text 10"/>
          <p:cNvSpPr/>
          <p:nvPr/>
        </p:nvSpPr>
        <p:spPr>
          <a:xfrm>
            <a:off x="521208" y="2176272"/>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Real-time 3D airspace mapping</a:t>
            </a:r>
            <a:endParaRPr lang="en-US" sz="1000" dirty="0"/>
          </a:p>
        </p:txBody>
      </p:sp>
      <p:sp>
        <p:nvSpPr>
          <p:cNvPr id="13" name="Shape 11"/>
          <p:cNvSpPr/>
          <p:nvPr/>
        </p:nvSpPr>
        <p:spPr>
          <a:xfrm>
            <a:off x="384048" y="2761488"/>
            <a:ext cx="64008" cy="320040"/>
          </a:xfrm>
          <a:prstGeom prst="rect">
            <a:avLst/>
          </a:prstGeom>
          <a:solidFill>
            <a:srgbClr val="1B3A6B"/>
          </a:solidFill>
          <a:ln w="12700">
            <a:solidFill>
              <a:srgbClr val="1B3A6B"/>
            </a:solidFill>
            <a:prstDash val="solid"/>
          </a:ln>
        </p:spPr>
        <p:txBody>
          <a:bodyPr/>
          <a:lstStyle/>
          <a:p>
            <a:endParaRPr lang="en-US"/>
          </a:p>
        </p:txBody>
      </p:sp>
      <p:sp>
        <p:nvSpPr>
          <p:cNvPr id="14" name="Text 12"/>
          <p:cNvSpPr/>
          <p:nvPr/>
        </p:nvSpPr>
        <p:spPr>
          <a:xfrm>
            <a:off x="521208" y="2743200"/>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V2V (Vehicle-to-Vehicle) comm.</a:t>
            </a:r>
            <a:endParaRPr lang="en-US" sz="1000" dirty="0"/>
          </a:p>
        </p:txBody>
      </p:sp>
      <p:sp>
        <p:nvSpPr>
          <p:cNvPr id="15" name="Shape 13"/>
          <p:cNvSpPr/>
          <p:nvPr/>
        </p:nvSpPr>
        <p:spPr>
          <a:xfrm>
            <a:off x="384048" y="3328416"/>
            <a:ext cx="64008" cy="320040"/>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521208" y="3310128"/>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Predictive path adjustment</a:t>
            </a:r>
            <a:endParaRPr lang="en-US" sz="1000" dirty="0"/>
          </a:p>
        </p:txBody>
      </p:sp>
      <p:sp>
        <p:nvSpPr>
          <p:cNvPr id="17" name="Shape 15"/>
          <p:cNvSpPr/>
          <p:nvPr/>
        </p:nvSpPr>
        <p:spPr>
          <a:xfrm>
            <a:off x="384048" y="3895344"/>
            <a:ext cx="64008" cy="320040"/>
          </a:xfrm>
          <a:prstGeom prst="rect">
            <a:avLst/>
          </a:prstGeom>
          <a:solidFill>
            <a:srgbClr val="1B3A6B"/>
          </a:solidFill>
          <a:ln w="12700">
            <a:solidFill>
              <a:srgbClr val="1B3A6B"/>
            </a:solidFill>
            <a:prstDash val="solid"/>
          </a:ln>
        </p:spPr>
        <p:txBody>
          <a:bodyPr/>
          <a:lstStyle/>
          <a:p>
            <a:endParaRPr lang="en-US"/>
          </a:p>
        </p:txBody>
      </p:sp>
      <p:sp>
        <p:nvSpPr>
          <p:cNvPr id="18" name="Text 16"/>
          <p:cNvSpPr/>
          <p:nvPr/>
        </p:nvSpPr>
        <p:spPr>
          <a:xfrm>
            <a:off x="521208" y="3877056"/>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Live traffic &amp; airspace data</a:t>
            </a:r>
            <a:endParaRPr lang="en-US" sz="1000" dirty="0"/>
          </a:p>
        </p:txBody>
      </p:sp>
      <p:sp>
        <p:nvSpPr>
          <p:cNvPr id="19" name="Shape 17"/>
          <p:cNvSpPr/>
          <p:nvPr/>
        </p:nvSpPr>
        <p:spPr>
          <a:xfrm>
            <a:off x="3218688" y="1005840"/>
            <a:ext cx="2788920" cy="3840480"/>
          </a:xfrm>
          <a:prstGeom prst="rect">
            <a:avLst/>
          </a:prstGeom>
          <a:solidFill>
            <a:srgbClr val="FFFFFF"/>
          </a:solidFill>
          <a:ln w="12700">
            <a:solidFill>
              <a:srgbClr val="C8D8EE"/>
            </a:solidFill>
            <a:prstDash val="solid"/>
          </a:ln>
        </p:spPr>
        <p:txBody>
          <a:bodyPr/>
          <a:lstStyle/>
          <a:p>
            <a:endParaRPr lang="en-US"/>
          </a:p>
        </p:txBody>
      </p:sp>
      <p:sp>
        <p:nvSpPr>
          <p:cNvPr id="20" name="Shape 18"/>
          <p:cNvSpPr/>
          <p:nvPr/>
        </p:nvSpPr>
        <p:spPr>
          <a:xfrm>
            <a:off x="3218688" y="1005840"/>
            <a:ext cx="2788920" cy="502920"/>
          </a:xfrm>
          <a:prstGeom prst="rect">
            <a:avLst/>
          </a:prstGeom>
          <a:solidFill>
            <a:srgbClr val="E87722"/>
          </a:solidFill>
          <a:ln w="12700">
            <a:solidFill>
              <a:srgbClr val="E87722"/>
            </a:solidFill>
            <a:prstDash val="solid"/>
          </a:ln>
        </p:spPr>
        <p:txBody>
          <a:bodyPr/>
          <a:lstStyle/>
          <a:p>
            <a:endParaRPr lang="en-US"/>
          </a:p>
        </p:txBody>
      </p:sp>
      <p:sp>
        <p:nvSpPr>
          <p:cNvPr id="21" name="Text 19"/>
          <p:cNvSpPr/>
          <p:nvPr/>
        </p:nvSpPr>
        <p:spPr>
          <a:xfrm>
            <a:off x="3310128" y="1051560"/>
            <a:ext cx="26060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Dynamic Route Optimization</a:t>
            </a:r>
            <a:endParaRPr lang="en-US" sz="1200" dirty="0"/>
          </a:p>
        </p:txBody>
      </p:sp>
      <p:sp>
        <p:nvSpPr>
          <p:cNvPr id="22" name="Shape 20"/>
          <p:cNvSpPr/>
          <p:nvPr/>
        </p:nvSpPr>
        <p:spPr>
          <a:xfrm>
            <a:off x="3328416" y="1627632"/>
            <a:ext cx="64008" cy="320040"/>
          </a:xfrm>
          <a:prstGeom prst="rect">
            <a:avLst/>
          </a:prstGeom>
          <a:solidFill>
            <a:srgbClr val="E87722"/>
          </a:solidFill>
          <a:ln w="12700">
            <a:solidFill>
              <a:srgbClr val="E87722"/>
            </a:solidFill>
            <a:prstDash val="solid"/>
          </a:ln>
        </p:spPr>
        <p:txBody>
          <a:bodyPr/>
          <a:lstStyle/>
          <a:p>
            <a:endParaRPr lang="en-US"/>
          </a:p>
        </p:txBody>
      </p:sp>
      <p:sp>
        <p:nvSpPr>
          <p:cNvPr id="23" name="Text 21"/>
          <p:cNvSpPr/>
          <p:nvPr/>
        </p:nvSpPr>
        <p:spPr>
          <a:xfrm>
            <a:off x="3465576" y="1609344"/>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Reinforcement learning routing</a:t>
            </a:r>
            <a:endParaRPr lang="en-US" sz="1000" dirty="0"/>
          </a:p>
        </p:txBody>
      </p:sp>
      <p:sp>
        <p:nvSpPr>
          <p:cNvPr id="24" name="Shape 22"/>
          <p:cNvSpPr/>
          <p:nvPr/>
        </p:nvSpPr>
        <p:spPr>
          <a:xfrm>
            <a:off x="3328416" y="2194560"/>
            <a:ext cx="64008" cy="320040"/>
          </a:xfrm>
          <a:prstGeom prst="rect">
            <a:avLst/>
          </a:prstGeom>
          <a:solidFill>
            <a:srgbClr val="E87722"/>
          </a:solidFill>
          <a:ln w="12700">
            <a:solidFill>
              <a:srgbClr val="E87722"/>
            </a:solidFill>
            <a:prstDash val="solid"/>
          </a:ln>
        </p:spPr>
        <p:txBody>
          <a:bodyPr/>
          <a:lstStyle/>
          <a:p>
            <a:endParaRPr lang="en-US"/>
          </a:p>
        </p:txBody>
      </p:sp>
      <p:sp>
        <p:nvSpPr>
          <p:cNvPr id="25" name="Text 23"/>
          <p:cNvSpPr/>
          <p:nvPr/>
        </p:nvSpPr>
        <p:spPr>
          <a:xfrm>
            <a:off x="3465576" y="2176272"/>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Weather-adaptive flight paths</a:t>
            </a:r>
            <a:endParaRPr lang="en-US" sz="1000" dirty="0"/>
          </a:p>
        </p:txBody>
      </p:sp>
      <p:sp>
        <p:nvSpPr>
          <p:cNvPr id="26" name="Shape 24"/>
          <p:cNvSpPr/>
          <p:nvPr/>
        </p:nvSpPr>
        <p:spPr>
          <a:xfrm>
            <a:off x="3328416" y="2761488"/>
            <a:ext cx="64008" cy="320040"/>
          </a:xfrm>
          <a:prstGeom prst="rect">
            <a:avLst/>
          </a:prstGeom>
          <a:solidFill>
            <a:srgbClr val="E87722"/>
          </a:solidFill>
          <a:ln w="12700">
            <a:solidFill>
              <a:srgbClr val="E87722"/>
            </a:solidFill>
            <a:prstDash val="solid"/>
          </a:ln>
        </p:spPr>
        <p:txBody>
          <a:bodyPr/>
          <a:lstStyle/>
          <a:p>
            <a:endParaRPr lang="en-US"/>
          </a:p>
        </p:txBody>
      </p:sp>
      <p:sp>
        <p:nvSpPr>
          <p:cNvPr id="27" name="Text 25"/>
          <p:cNvSpPr/>
          <p:nvPr/>
        </p:nvSpPr>
        <p:spPr>
          <a:xfrm>
            <a:off x="3465576" y="2743200"/>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Geofencing &amp; restricted zones</a:t>
            </a:r>
            <a:endParaRPr lang="en-US" sz="1000" dirty="0"/>
          </a:p>
        </p:txBody>
      </p:sp>
      <p:sp>
        <p:nvSpPr>
          <p:cNvPr id="28" name="Shape 26"/>
          <p:cNvSpPr/>
          <p:nvPr/>
        </p:nvSpPr>
        <p:spPr>
          <a:xfrm>
            <a:off x="3328416" y="3328416"/>
            <a:ext cx="64008" cy="320040"/>
          </a:xfrm>
          <a:prstGeom prst="rect">
            <a:avLst/>
          </a:prstGeom>
          <a:solidFill>
            <a:srgbClr val="E87722"/>
          </a:solidFill>
          <a:ln w="12700">
            <a:solidFill>
              <a:srgbClr val="E87722"/>
            </a:solidFill>
            <a:prstDash val="solid"/>
          </a:ln>
        </p:spPr>
        <p:txBody>
          <a:bodyPr/>
          <a:lstStyle/>
          <a:p>
            <a:endParaRPr lang="en-US"/>
          </a:p>
        </p:txBody>
      </p:sp>
      <p:sp>
        <p:nvSpPr>
          <p:cNvPr id="29" name="Text 27"/>
          <p:cNvSpPr/>
          <p:nvPr/>
        </p:nvSpPr>
        <p:spPr>
          <a:xfrm>
            <a:off x="3465576" y="3310128"/>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Priority-based delivery queuing</a:t>
            </a:r>
            <a:endParaRPr lang="en-US" sz="1000" dirty="0"/>
          </a:p>
        </p:txBody>
      </p:sp>
      <p:sp>
        <p:nvSpPr>
          <p:cNvPr id="30" name="Shape 28"/>
          <p:cNvSpPr/>
          <p:nvPr/>
        </p:nvSpPr>
        <p:spPr>
          <a:xfrm>
            <a:off x="3328416" y="3895344"/>
            <a:ext cx="64008" cy="320040"/>
          </a:xfrm>
          <a:prstGeom prst="rect">
            <a:avLst/>
          </a:prstGeom>
          <a:solidFill>
            <a:srgbClr val="E87722"/>
          </a:solidFill>
          <a:ln w="12700">
            <a:solidFill>
              <a:srgbClr val="E87722"/>
            </a:solidFill>
            <a:prstDash val="solid"/>
          </a:ln>
        </p:spPr>
        <p:txBody>
          <a:bodyPr/>
          <a:lstStyle/>
          <a:p>
            <a:endParaRPr lang="en-US"/>
          </a:p>
        </p:txBody>
      </p:sp>
      <p:sp>
        <p:nvSpPr>
          <p:cNvPr id="31" name="Text 29"/>
          <p:cNvSpPr/>
          <p:nvPr/>
        </p:nvSpPr>
        <p:spPr>
          <a:xfrm>
            <a:off x="3465576" y="3877056"/>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Real-time rerouting algorithms</a:t>
            </a:r>
            <a:endParaRPr lang="en-US" sz="1000" dirty="0"/>
          </a:p>
        </p:txBody>
      </p:sp>
      <p:sp>
        <p:nvSpPr>
          <p:cNvPr id="32" name="Shape 30"/>
          <p:cNvSpPr/>
          <p:nvPr/>
        </p:nvSpPr>
        <p:spPr>
          <a:xfrm>
            <a:off x="6163056" y="1005840"/>
            <a:ext cx="2788920" cy="3840480"/>
          </a:xfrm>
          <a:prstGeom prst="rect">
            <a:avLst/>
          </a:prstGeom>
          <a:solidFill>
            <a:srgbClr val="FFFFFF"/>
          </a:solidFill>
          <a:ln w="12700">
            <a:solidFill>
              <a:srgbClr val="C8D8EE"/>
            </a:solidFill>
            <a:prstDash val="solid"/>
          </a:ln>
        </p:spPr>
        <p:txBody>
          <a:bodyPr/>
          <a:lstStyle/>
          <a:p>
            <a:endParaRPr lang="en-US"/>
          </a:p>
        </p:txBody>
      </p:sp>
      <p:sp>
        <p:nvSpPr>
          <p:cNvPr id="33" name="Shape 31"/>
          <p:cNvSpPr/>
          <p:nvPr/>
        </p:nvSpPr>
        <p:spPr>
          <a:xfrm>
            <a:off x="6163056" y="1005840"/>
            <a:ext cx="2788920" cy="502920"/>
          </a:xfrm>
          <a:prstGeom prst="rect">
            <a:avLst/>
          </a:prstGeom>
          <a:solidFill>
            <a:srgbClr val="4A90D9"/>
          </a:solidFill>
          <a:ln w="12700">
            <a:solidFill>
              <a:srgbClr val="4A90D9"/>
            </a:solidFill>
            <a:prstDash val="solid"/>
          </a:ln>
        </p:spPr>
        <p:txBody>
          <a:bodyPr/>
          <a:lstStyle/>
          <a:p>
            <a:endParaRPr lang="en-US"/>
          </a:p>
        </p:txBody>
      </p:sp>
      <p:sp>
        <p:nvSpPr>
          <p:cNvPr id="34" name="Text 32"/>
          <p:cNvSpPr/>
          <p:nvPr/>
        </p:nvSpPr>
        <p:spPr>
          <a:xfrm>
            <a:off x="6254496" y="1051560"/>
            <a:ext cx="260604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Centralized Command Center</a:t>
            </a:r>
            <a:endParaRPr lang="en-US" sz="1200" dirty="0"/>
          </a:p>
        </p:txBody>
      </p:sp>
      <p:sp>
        <p:nvSpPr>
          <p:cNvPr id="35" name="Shape 33"/>
          <p:cNvSpPr/>
          <p:nvPr/>
        </p:nvSpPr>
        <p:spPr>
          <a:xfrm>
            <a:off x="6272784" y="1627632"/>
            <a:ext cx="64008" cy="320040"/>
          </a:xfrm>
          <a:prstGeom prst="rect">
            <a:avLst/>
          </a:prstGeom>
          <a:solidFill>
            <a:srgbClr val="4A90D9"/>
          </a:solidFill>
          <a:ln w="12700">
            <a:solidFill>
              <a:srgbClr val="4A90D9"/>
            </a:solidFill>
            <a:prstDash val="solid"/>
          </a:ln>
        </p:spPr>
        <p:txBody>
          <a:bodyPr/>
          <a:lstStyle/>
          <a:p>
            <a:endParaRPr lang="en-US"/>
          </a:p>
        </p:txBody>
      </p:sp>
      <p:sp>
        <p:nvSpPr>
          <p:cNvPr id="36" name="Text 34"/>
          <p:cNvSpPr/>
          <p:nvPr/>
        </p:nvSpPr>
        <p:spPr>
          <a:xfrm>
            <a:off x="6409944" y="1609344"/>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AWS-based cloud control platform</a:t>
            </a:r>
            <a:endParaRPr lang="en-US" sz="1000" dirty="0"/>
          </a:p>
        </p:txBody>
      </p:sp>
      <p:sp>
        <p:nvSpPr>
          <p:cNvPr id="37" name="Shape 35"/>
          <p:cNvSpPr/>
          <p:nvPr/>
        </p:nvSpPr>
        <p:spPr>
          <a:xfrm>
            <a:off x="6272784" y="2194560"/>
            <a:ext cx="64008" cy="320040"/>
          </a:xfrm>
          <a:prstGeom prst="rect">
            <a:avLst/>
          </a:prstGeom>
          <a:solidFill>
            <a:srgbClr val="4A90D9"/>
          </a:solidFill>
          <a:ln w="12700">
            <a:solidFill>
              <a:srgbClr val="4A90D9"/>
            </a:solidFill>
            <a:prstDash val="solid"/>
          </a:ln>
        </p:spPr>
        <p:txBody>
          <a:bodyPr/>
          <a:lstStyle/>
          <a:p>
            <a:endParaRPr lang="en-US"/>
          </a:p>
        </p:txBody>
      </p:sp>
      <p:sp>
        <p:nvSpPr>
          <p:cNvPr id="38" name="Text 36"/>
          <p:cNvSpPr/>
          <p:nvPr/>
        </p:nvSpPr>
        <p:spPr>
          <a:xfrm>
            <a:off x="6409944" y="2176272"/>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Real-time swarm monitoring dashboard</a:t>
            </a:r>
            <a:endParaRPr lang="en-US" sz="1000" dirty="0"/>
          </a:p>
        </p:txBody>
      </p:sp>
      <p:sp>
        <p:nvSpPr>
          <p:cNvPr id="39" name="Shape 37"/>
          <p:cNvSpPr/>
          <p:nvPr/>
        </p:nvSpPr>
        <p:spPr>
          <a:xfrm>
            <a:off x="6272784" y="2761488"/>
            <a:ext cx="64008" cy="320040"/>
          </a:xfrm>
          <a:prstGeom prst="rect">
            <a:avLst/>
          </a:prstGeom>
          <a:solidFill>
            <a:srgbClr val="4A90D9"/>
          </a:solidFill>
          <a:ln w="12700">
            <a:solidFill>
              <a:srgbClr val="4A90D9"/>
            </a:solidFill>
            <a:prstDash val="solid"/>
          </a:ln>
        </p:spPr>
        <p:txBody>
          <a:bodyPr/>
          <a:lstStyle/>
          <a:p>
            <a:endParaRPr lang="en-US"/>
          </a:p>
        </p:txBody>
      </p:sp>
      <p:sp>
        <p:nvSpPr>
          <p:cNvPr id="40" name="Text 38"/>
          <p:cNvSpPr/>
          <p:nvPr/>
        </p:nvSpPr>
        <p:spPr>
          <a:xfrm>
            <a:off x="6409944" y="2743200"/>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Emergency override &amp; recall protocols</a:t>
            </a:r>
            <a:endParaRPr lang="en-US" sz="1000" dirty="0"/>
          </a:p>
        </p:txBody>
      </p:sp>
      <p:sp>
        <p:nvSpPr>
          <p:cNvPr id="41" name="Shape 39"/>
          <p:cNvSpPr/>
          <p:nvPr/>
        </p:nvSpPr>
        <p:spPr>
          <a:xfrm>
            <a:off x="6272784" y="3328416"/>
            <a:ext cx="64008" cy="320040"/>
          </a:xfrm>
          <a:prstGeom prst="rect">
            <a:avLst/>
          </a:prstGeom>
          <a:solidFill>
            <a:srgbClr val="4A90D9"/>
          </a:solidFill>
          <a:ln w="12700">
            <a:solidFill>
              <a:srgbClr val="4A90D9"/>
            </a:solidFill>
            <a:prstDash val="solid"/>
          </a:ln>
        </p:spPr>
        <p:txBody>
          <a:bodyPr/>
          <a:lstStyle/>
          <a:p>
            <a:endParaRPr lang="en-US"/>
          </a:p>
        </p:txBody>
      </p:sp>
      <p:sp>
        <p:nvSpPr>
          <p:cNvPr id="42" name="Text 40"/>
          <p:cNvSpPr/>
          <p:nvPr/>
        </p:nvSpPr>
        <p:spPr>
          <a:xfrm>
            <a:off x="6409944" y="3310128"/>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Fleet health &amp; battery management</a:t>
            </a:r>
            <a:endParaRPr lang="en-US" sz="1000" dirty="0"/>
          </a:p>
        </p:txBody>
      </p:sp>
      <p:sp>
        <p:nvSpPr>
          <p:cNvPr id="43" name="Shape 41"/>
          <p:cNvSpPr/>
          <p:nvPr/>
        </p:nvSpPr>
        <p:spPr>
          <a:xfrm>
            <a:off x="6272784" y="3895344"/>
            <a:ext cx="64008" cy="320040"/>
          </a:xfrm>
          <a:prstGeom prst="rect">
            <a:avLst/>
          </a:prstGeom>
          <a:solidFill>
            <a:srgbClr val="4A90D9"/>
          </a:solidFill>
          <a:ln w="12700">
            <a:solidFill>
              <a:srgbClr val="4A90D9"/>
            </a:solidFill>
            <a:prstDash val="solid"/>
          </a:ln>
        </p:spPr>
        <p:txBody>
          <a:bodyPr/>
          <a:lstStyle/>
          <a:p>
            <a:endParaRPr lang="en-US"/>
          </a:p>
        </p:txBody>
      </p:sp>
      <p:sp>
        <p:nvSpPr>
          <p:cNvPr id="44" name="Text 42"/>
          <p:cNvSpPr/>
          <p:nvPr/>
        </p:nvSpPr>
        <p:spPr>
          <a:xfrm>
            <a:off x="6409944" y="3877056"/>
            <a:ext cx="2450592" cy="384048"/>
          </a:xfrm>
          <a:prstGeom prst="rect">
            <a:avLst/>
          </a:prstGeom>
          <a:noFill/>
          <a:ln/>
        </p:spPr>
        <p:txBody>
          <a:bodyPr wrap="square" lIns="0" tIns="0" rIns="0" bIns="0" rtlCol="0" anchor="ctr"/>
          <a:lstStyle/>
          <a:p>
            <a:pPr marL="0" indent="0">
              <a:buNone/>
            </a:pPr>
            <a:r>
              <a:rPr lang="en-US" sz="1000" dirty="0">
                <a:solidFill>
                  <a:srgbClr val="444444"/>
                </a:solidFill>
                <a:latin typeface="Calibri" pitchFamily="34" charset="0"/>
                <a:ea typeface="Calibri" pitchFamily="34" charset="-122"/>
                <a:cs typeface="Calibri" pitchFamily="34" charset="-120"/>
              </a:rPr>
              <a:t>Delivery status tracking system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Challenges in Big Data Handling</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4206240" cy="114300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74320" y="1005840"/>
            <a:ext cx="4206240" cy="54864"/>
          </a:xfrm>
          <a:prstGeom prst="rect">
            <a:avLst/>
          </a:prstGeom>
          <a:solidFill>
            <a:srgbClr val="1B3A6B"/>
          </a:solidFill>
          <a:ln w="12700">
            <a:solidFill>
              <a:srgbClr val="1B3A6B"/>
            </a:solidFill>
            <a:prstDash val="solid"/>
          </a:ln>
        </p:spPr>
        <p:txBody>
          <a:bodyPr/>
          <a:lstStyle/>
          <a:p>
            <a:endParaRPr lang="en-US"/>
          </a:p>
        </p:txBody>
      </p:sp>
      <p:sp>
        <p:nvSpPr>
          <p:cNvPr id="8" name="Shape 6"/>
          <p:cNvSpPr/>
          <p:nvPr/>
        </p:nvSpPr>
        <p:spPr>
          <a:xfrm>
            <a:off x="3200400" y="1097280"/>
            <a:ext cx="1188720" cy="201168"/>
          </a:xfrm>
          <a:prstGeom prst="rect">
            <a:avLst/>
          </a:prstGeom>
          <a:solidFill>
            <a:srgbClr val="1B3A6B"/>
          </a:solidFill>
          <a:ln w="12700">
            <a:solidFill>
              <a:srgbClr val="1B3A6B"/>
            </a:solidFill>
            <a:prstDash val="solid"/>
          </a:ln>
        </p:spPr>
        <p:txBody>
          <a:bodyPr/>
          <a:lstStyle/>
          <a:p>
            <a:endParaRPr lang="en-US"/>
          </a:p>
        </p:txBody>
      </p:sp>
      <p:sp>
        <p:nvSpPr>
          <p:cNvPr id="9" name="Text 7"/>
          <p:cNvSpPr/>
          <p:nvPr/>
        </p:nvSpPr>
        <p:spPr>
          <a:xfrm>
            <a:off x="3200400" y="1097280"/>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Regulatory</a:t>
            </a:r>
            <a:endParaRPr lang="en-US" sz="700" dirty="0"/>
          </a:p>
        </p:txBody>
      </p:sp>
      <p:sp>
        <p:nvSpPr>
          <p:cNvPr id="10" name="Text 8"/>
          <p:cNvSpPr/>
          <p:nvPr/>
        </p:nvSpPr>
        <p:spPr>
          <a:xfrm>
            <a:off x="384048" y="1097280"/>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  FAA BVLOS Approval Delays (2025)</a:t>
            </a:r>
            <a:endParaRPr lang="en-US" sz="1200" dirty="0"/>
          </a:p>
        </p:txBody>
      </p:sp>
      <p:sp>
        <p:nvSpPr>
          <p:cNvPr id="11" name="Text 9"/>
          <p:cNvSpPr/>
          <p:nvPr/>
        </p:nvSpPr>
        <p:spPr>
          <a:xfrm>
            <a:off x="384048" y="1408176"/>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Amazon cannot fly drones Beyond Visual Line of Sight freely. FAA grants city-by-city approvals only — Prime Air waited 2+ years to expand from 2 to 5 cities, blocking rapid national growth.</a:t>
            </a:r>
            <a:endParaRPr lang="en-US" sz="900" dirty="0"/>
          </a:p>
        </p:txBody>
      </p:sp>
      <p:sp>
        <p:nvSpPr>
          <p:cNvPr id="12" name="Shape 10"/>
          <p:cNvSpPr/>
          <p:nvPr/>
        </p:nvSpPr>
        <p:spPr>
          <a:xfrm>
            <a:off x="4709160" y="1005840"/>
            <a:ext cx="4206240" cy="1143000"/>
          </a:xfrm>
          <a:prstGeom prst="rect">
            <a:avLst/>
          </a:prstGeom>
          <a:solidFill>
            <a:srgbClr val="FFFFFF"/>
          </a:solidFill>
          <a:ln w="12700">
            <a:solidFill>
              <a:srgbClr val="C8D8EE"/>
            </a:solidFill>
            <a:prstDash val="solid"/>
          </a:ln>
        </p:spPr>
        <p:txBody>
          <a:bodyPr/>
          <a:lstStyle/>
          <a:p>
            <a:endParaRPr lang="en-US"/>
          </a:p>
        </p:txBody>
      </p:sp>
      <p:sp>
        <p:nvSpPr>
          <p:cNvPr id="13" name="Shape 11"/>
          <p:cNvSpPr/>
          <p:nvPr/>
        </p:nvSpPr>
        <p:spPr>
          <a:xfrm>
            <a:off x="4709160" y="1005840"/>
            <a:ext cx="4206240" cy="54864"/>
          </a:xfrm>
          <a:prstGeom prst="rect">
            <a:avLst/>
          </a:prstGeom>
          <a:solidFill>
            <a:srgbClr val="E87722"/>
          </a:solidFill>
          <a:ln w="12700">
            <a:solidFill>
              <a:srgbClr val="E87722"/>
            </a:solidFill>
            <a:prstDash val="solid"/>
          </a:ln>
        </p:spPr>
        <p:txBody>
          <a:bodyPr/>
          <a:lstStyle/>
          <a:p>
            <a:endParaRPr lang="en-US"/>
          </a:p>
        </p:txBody>
      </p:sp>
      <p:sp>
        <p:nvSpPr>
          <p:cNvPr id="14" name="Shape 12"/>
          <p:cNvSpPr/>
          <p:nvPr/>
        </p:nvSpPr>
        <p:spPr>
          <a:xfrm>
            <a:off x="7635240" y="1097280"/>
            <a:ext cx="1188720" cy="201168"/>
          </a:xfrm>
          <a:prstGeom prst="rect">
            <a:avLst/>
          </a:prstGeom>
          <a:solidFill>
            <a:srgbClr val="E87722"/>
          </a:solidFill>
          <a:ln w="12700">
            <a:solidFill>
              <a:srgbClr val="E87722"/>
            </a:solidFill>
            <a:prstDash val="solid"/>
          </a:ln>
        </p:spPr>
        <p:txBody>
          <a:bodyPr/>
          <a:lstStyle/>
          <a:p>
            <a:endParaRPr lang="en-US"/>
          </a:p>
        </p:txBody>
      </p:sp>
      <p:sp>
        <p:nvSpPr>
          <p:cNvPr id="15" name="Text 13"/>
          <p:cNvSpPr/>
          <p:nvPr/>
        </p:nvSpPr>
        <p:spPr>
          <a:xfrm>
            <a:off x="7635240" y="1097280"/>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Connectivity</a:t>
            </a:r>
            <a:endParaRPr lang="en-US" sz="700" dirty="0"/>
          </a:p>
        </p:txBody>
      </p:sp>
      <p:sp>
        <p:nvSpPr>
          <p:cNvPr id="16" name="Text 14"/>
          <p:cNvSpPr/>
          <p:nvPr/>
        </p:nvSpPr>
        <p:spPr>
          <a:xfrm>
            <a:off x="4818888" y="1097280"/>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Urban 5G Signal Dropout (2025)</a:t>
            </a:r>
            <a:endParaRPr lang="en-US" sz="1200" dirty="0"/>
          </a:p>
        </p:txBody>
      </p:sp>
      <p:sp>
        <p:nvSpPr>
          <p:cNvPr id="17" name="Text 15"/>
          <p:cNvSpPr/>
          <p:nvPr/>
        </p:nvSpPr>
        <p:spPr>
          <a:xfrm>
            <a:off x="4818888" y="1408176"/>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In dense cities, tall buildings block 5G signals mid-flight. When drones lose cloud connectivity, real-time swarm coordination breaks — causing delivery failures in the highest-value urban zones.</a:t>
            </a:r>
            <a:endParaRPr lang="en-US" sz="900" dirty="0"/>
          </a:p>
        </p:txBody>
      </p:sp>
      <p:sp>
        <p:nvSpPr>
          <p:cNvPr id="18" name="Shape 16"/>
          <p:cNvSpPr/>
          <p:nvPr/>
        </p:nvSpPr>
        <p:spPr>
          <a:xfrm>
            <a:off x="274320" y="2267712"/>
            <a:ext cx="4206240" cy="1143000"/>
          </a:xfrm>
          <a:prstGeom prst="rect">
            <a:avLst/>
          </a:prstGeom>
          <a:solidFill>
            <a:srgbClr val="FFFFFF"/>
          </a:solidFill>
          <a:ln w="12700">
            <a:solidFill>
              <a:srgbClr val="C8D8EE"/>
            </a:solidFill>
            <a:prstDash val="solid"/>
          </a:ln>
        </p:spPr>
        <p:txBody>
          <a:bodyPr/>
          <a:lstStyle/>
          <a:p>
            <a:endParaRPr lang="en-US"/>
          </a:p>
        </p:txBody>
      </p:sp>
      <p:sp>
        <p:nvSpPr>
          <p:cNvPr id="19" name="Shape 17"/>
          <p:cNvSpPr/>
          <p:nvPr/>
        </p:nvSpPr>
        <p:spPr>
          <a:xfrm>
            <a:off x="274320" y="2267712"/>
            <a:ext cx="4206240" cy="54864"/>
          </a:xfrm>
          <a:prstGeom prst="rect">
            <a:avLst/>
          </a:prstGeom>
          <a:solidFill>
            <a:srgbClr val="1B3A6B"/>
          </a:solidFill>
          <a:ln w="12700">
            <a:solidFill>
              <a:srgbClr val="1B3A6B"/>
            </a:solidFill>
            <a:prstDash val="solid"/>
          </a:ln>
        </p:spPr>
        <p:txBody>
          <a:bodyPr/>
          <a:lstStyle/>
          <a:p>
            <a:endParaRPr lang="en-US"/>
          </a:p>
        </p:txBody>
      </p:sp>
      <p:sp>
        <p:nvSpPr>
          <p:cNvPr id="20" name="Shape 18"/>
          <p:cNvSpPr/>
          <p:nvPr/>
        </p:nvSpPr>
        <p:spPr>
          <a:xfrm>
            <a:off x="3200400" y="2359152"/>
            <a:ext cx="1188720" cy="201168"/>
          </a:xfrm>
          <a:prstGeom prst="rect">
            <a:avLst/>
          </a:prstGeom>
          <a:solidFill>
            <a:srgbClr val="1B3A6B"/>
          </a:solidFill>
          <a:ln w="12700">
            <a:solidFill>
              <a:srgbClr val="1B3A6B"/>
            </a:solidFill>
            <a:prstDash val="solid"/>
          </a:ln>
        </p:spPr>
        <p:txBody>
          <a:bodyPr/>
          <a:lstStyle/>
          <a:p>
            <a:endParaRPr lang="en-US"/>
          </a:p>
        </p:txBody>
      </p:sp>
      <p:sp>
        <p:nvSpPr>
          <p:cNvPr id="21" name="Text 19"/>
          <p:cNvSpPr/>
          <p:nvPr/>
        </p:nvSpPr>
        <p:spPr>
          <a:xfrm>
            <a:off x="3200400" y="2359152"/>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Hardware</a:t>
            </a:r>
            <a:endParaRPr lang="en-US" sz="700" dirty="0"/>
          </a:p>
        </p:txBody>
      </p:sp>
      <p:sp>
        <p:nvSpPr>
          <p:cNvPr id="22" name="Text 20"/>
          <p:cNvSpPr/>
          <p:nvPr/>
        </p:nvSpPr>
        <p:spPr>
          <a:xfrm>
            <a:off x="384048" y="2359152"/>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Battery Life &amp; Weather Limits (2025)</a:t>
            </a:r>
            <a:endParaRPr lang="en-US" sz="1200" dirty="0"/>
          </a:p>
        </p:txBody>
      </p:sp>
      <p:sp>
        <p:nvSpPr>
          <p:cNvPr id="23" name="Text 21"/>
          <p:cNvSpPr/>
          <p:nvPr/>
        </p:nvSpPr>
        <p:spPr>
          <a:xfrm>
            <a:off x="384048" y="2670048"/>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MK30 has ~30 min flight time and 10-mile range. Rain, strong winds or long delivery routes drain batteries before completion. Prime Air had to cancel 18% of deliveries in winter 2024 due to weather.</a:t>
            </a:r>
            <a:endParaRPr lang="en-US" sz="900" dirty="0"/>
          </a:p>
        </p:txBody>
      </p:sp>
      <p:sp>
        <p:nvSpPr>
          <p:cNvPr id="24" name="Shape 22"/>
          <p:cNvSpPr/>
          <p:nvPr/>
        </p:nvSpPr>
        <p:spPr>
          <a:xfrm>
            <a:off x="4709160" y="2267712"/>
            <a:ext cx="4206240" cy="1143000"/>
          </a:xfrm>
          <a:prstGeom prst="rect">
            <a:avLst/>
          </a:prstGeom>
          <a:solidFill>
            <a:srgbClr val="FFFFFF"/>
          </a:solidFill>
          <a:ln w="12700">
            <a:solidFill>
              <a:srgbClr val="C8D8EE"/>
            </a:solidFill>
            <a:prstDash val="solid"/>
          </a:ln>
        </p:spPr>
        <p:txBody>
          <a:bodyPr/>
          <a:lstStyle/>
          <a:p>
            <a:endParaRPr lang="en-US"/>
          </a:p>
        </p:txBody>
      </p:sp>
      <p:sp>
        <p:nvSpPr>
          <p:cNvPr id="25" name="Shape 23"/>
          <p:cNvSpPr/>
          <p:nvPr/>
        </p:nvSpPr>
        <p:spPr>
          <a:xfrm>
            <a:off x="4709160" y="2267712"/>
            <a:ext cx="4206240" cy="54864"/>
          </a:xfrm>
          <a:prstGeom prst="rect">
            <a:avLst/>
          </a:prstGeom>
          <a:solidFill>
            <a:srgbClr val="E87722"/>
          </a:solidFill>
          <a:ln w="12700">
            <a:solidFill>
              <a:srgbClr val="E87722"/>
            </a:solidFill>
            <a:prstDash val="solid"/>
          </a:ln>
        </p:spPr>
        <p:txBody>
          <a:bodyPr/>
          <a:lstStyle/>
          <a:p>
            <a:endParaRPr lang="en-US"/>
          </a:p>
        </p:txBody>
      </p:sp>
      <p:sp>
        <p:nvSpPr>
          <p:cNvPr id="26" name="Shape 24"/>
          <p:cNvSpPr/>
          <p:nvPr/>
        </p:nvSpPr>
        <p:spPr>
          <a:xfrm>
            <a:off x="7635240" y="2359152"/>
            <a:ext cx="1188720" cy="201168"/>
          </a:xfrm>
          <a:prstGeom prst="rect">
            <a:avLst/>
          </a:prstGeom>
          <a:solidFill>
            <a:srgbClr val="E87722"/>
          </a:solidFill>
          <a:ln w="12700">
            <a:solidFill>
              <a:srgbClr val="E87722"/>
            </a:solidFill>
            <a:prstDash val="solid"/>
          </a:ln>
        </p:spPr>
        <p:txBody>
          <a:bodyPr/>
          <a:lstStyle/>
          <a:p>
            <a:endParaRPr lang="en-US"/>
          </a:p>
        </p:txBody>
      </p:sp>
      <p:sp>
        <p:nvSpPr>
          <p:cNvPr id="27" name="Text 25"/>
          <p:cNvSpPr/>
          <p:nvPr/>
        </p:nvSpPr>
        <p:spPr>
          <a:xfrm>
            <a:off x="7635240" y="2359152"/>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Cybersecurity</a:t>
            </a:r>
            <a:endParaRPr lang="en-US" sz="700" dirty="0"/>
          </a:p>
        </p:txBody>
      </p:sp>
      <p:sp>
        <p:nvSpPr>
          <p:cNvPr id="28" name="Text 26"/>
          <p:cNvSpPr/>
          <p:nvPr/>
        </p:nvSpPr>
        <p:spPr>
          <a:xfrm>
            <a:off x="4818888" y="2359152"/>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GPS Spoofing &amp; Cyber Attacks (2026)</a:t>
            </a:r>
            <a:endParaRPr lang="en-US" sz="1200" dirty="0"/>
          </a:p>
        </p:txBody>
      </p:sp>
      <p:sp>
        <p:nvSpPr>
          <p:cNvPr id="29" name="Text 27"/>
          <p:cNvSpPr/>
          <p:nvPr/>
        </p:nvSpPr>
        <p:spPr>
          <a:xfrm>
            <a:off x="4818888" y="2670048"/>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Security researchers in 2025 demonstrated live GPS spoofing that forced Prime Air drones off course. At scale, a single spoofing attack can redirect an entire drone swarm to wrong locations.</a:t>
            </a:r>
            <a:endParaRPr lang="en-US" sz="900" dirty="0"/>
          </a:p>
        </p:txBody>
      </p:sp>
      <p:sp>
        <p:nvSpPr>
          <p:cNvPr id="30" name="Shape 28"/>
          <p:cNvSpPr/>
          <p:nvPr/>
        </p:nvSpPr>
        <p:spPr>
          <a:xfrm>
            <a:off x="274320" y="3529584"/>
            <a:ext cx="4206240" cy="1143000"/>
          </a:xfrm>
          <a:prstGeom prst="rect">
            <a:avLst/>
          </a:prstGeom>
          <a:solidFill>
            <a:srgbClr val="FFFFFF"/>
          </a:solidFill>
          <a:ln w="12700">
            <a:solidFill>
              <a:srgbClr val="C8D8EE"/>
            </a:solidFill>
            <a:prstDash val="solid"/>
          </a:ln>
        </p:spPr>
        <p:txBody>
          <a:bodyPr/>
          <a:lstStyle/>
          <a:p>
            <a:endParaRPr lang="en-US"/>
          </a:p>
        </p:txBody>
      </p:sp>
      <p:sp>
        <p:nvSpPr>
          <p:cNvPr id="31" name="Shape 29"/>
          <p:cNvSpPr/>
          <p:nvPr/>
        </p:nvSpPr>
        <p:spPr>
          <a:xfrm>
            <a:off x="274320" y="3529584"/>
            <a:ext cx="4206240" cy="54864"/>
          </a:xfrm>
          <a:prstGeom prst="rect">
            <a:avLst/>
          </a:prstGeom>
          <a:solidFill>
            <a:srgbClr val="1B3A6B"/>
          </a:solidFill>
          <a:ln w="12700">
            <a:solidFill>
              <a:srgbClr val="1B3A6B"/>
            </a:solidFill>
            <a:prstDash val="solid"/>
          </a:ln>
        </p:spPr>
        <p:txBody>
          <a:bodyPr/>
          <a:lstStyle/>
          <a:p>
            <a:endParaRPr lang="en-US"/>
          </a:p>
        </p:txBody>
      </p:sp>
      <p:sp>
        <p:nvSpPr>
          <p:cNvPr id="32" name="Shape 30"/>
          <p:cNvSpPr/>
          <p:nvPr/>
        </p:nvSpPr>
        <p:spPr>
          <a:xfrm>
            <a:off x="3200400" y="3621024"/>
            <a:ext cx="1188720" cy="201168"/>
          </a:xfrm>
          <a:prstGeom prst="rect">
            <a:avLst/>
          </a:prstGeom>
          <a:solidFill>
            <a:srgbClr val="1B3A6B"/>
          </a:solidFill>
          <a:ln w="12700">
            <a:solidFill>
              <a:srgbClr val="1B3A6B"/>
            </a:solidFill>
            <a:prstDash val="solid"/>
          </a:ln>
        </p:spPr>
        <p:txBody>
          <a:bodyPr/>
          <a:lstStyle/>
          <a:p>
            <a:endParaRPr lang="en-US"/>
          </a:p>
        </p:txBody>
      </p:sp>
      <p:sp>
        <p:nvSpPr>
          <p:cNvPr id="33" name="Text 31"/>
          <p:cNvSpPr/>
          <p:nvPr/>
        </p:nvSpPr>
        <p:spPr>
          <a:xfrm>
            <a:off x="3200400" y="3621024"/>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Social/Legal</a:t>
            </a:r>
            <a:endParaRPr lang="en-US" sz="700" dirty="0"/>
          </a:p>
        </p:txBody>
      </p:sp>
      <p:sp>
        <p:nvSpPr>
          <p:cNvPr id="34" name="Text 32"/>
          <p:cNvSpPr/>
          <p:nvPr/>
        </p:nvSpPr>
        <p:spPr>
          <a:xfrm>
            <a:off x="384048" y="3621024"/>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Public Privacy &amp; Noise Lawsuits (2025)</a:t>
            </a:r>
            <a:endParaRPr lang="en-US" sz="1200" dirty="0"/>
          </a:p>
        </p:txBody>
      </p:sp>
      <p:sp>
        <p:nvSpPr>
          <p:cNvPr id="35" name="Text 33"/>
          <p:cNvSpPr/>
          <p:nvPr/>
        </p:nvSpPr>
        <p:spPr>
          <a:xfrm>
            <a:off x="384048" y="3931920"/>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Residents in Lockeford CA filed class-action lawsuits over drone cameras filming private yards. Several Texas cities proposed no-fly zones citing 65+ decibel noise from drone swarms overhead.</a:t>
            </a:r>
            <a:endParaRPr lang="en-US" sz="900" dirty="0"/>
          </a:p>
        </p:txBody>
      </p:sp>
      <p:sp>
        <p:nvSpPr>
          <p:cNvPr id="36" name="Shape 34"/>
          <p:cNvSpPr/>
          <p:nvPr/>
        </p:nvSpPr>
        <p:spPr>
          <a:xfrm>
            <a:off x="4709160" y="3529584"/>
            <a:ext cx="4206240" cy="1143000"/>
          </a:xfrm>
          <a:prstGeom prst="rect">
            <a:avLst/>
          </a:prstGeom>
          <a:solidFill>
            <a:srgbClr val="FFFFFF"/>
          </a:solidFill>
          <a:ln w="12700">
            <a:solidFill>
              <a:srgbClr val="C8D8EE"/>
            </a:solidFill>
            <a:prstDash val="solid"/>
          </a:ln>
        </p:spPr>
        <p:txBody>
          <a:bodyPr/>
          <a:lstStyle/>
          <a:p>
            <a:endParaRPr lang="en-US"/>
          </a:p>
        </p:txBody>
      </p:sp>
      <p:sp>
        <p:nvSpPr>
          <p:cNvPr id="37" name="Shape 35"/>
          <p:cNvSpPr/>
          <p:nvPr/>
        </p:nvSpPr>
        <p:spPr>
          <a:xfrm>
            <a:off x="4709160" y="3529584"/>
            <a:ext cx="4206240" cy="54864"/>
          </a:xfrm>
          <a:prstGeom prst="rect">
            <a:avLst/>
          </a:prstGeom>
          <a:solidFill>
            <a:srgbClr val="E87722"/>
          </a:solidFill>
          <a:ln w="12700">
            <a:solidFill>
              <a:srgbClr val="E87722"/>
            </a:solidFill>
            <a:prstDash val="solid"/>
          </a:ln>
        </p:spPr>
        <p:txBody>
          <a:bodyPr/>
          <a:lstStyle/>
          <a:p>
            <a:endParaRPr lang="en-US"/>
          </a:p>
        </p:txBody>
      </p:sp>
      <p:sp>
        <p:nvSpPr>
          <p:cNvPr id="38" name="Shape 36"/>
          <p:cNvSpPr/>
          <p:nvPr/>
        </p:nvSpPr>
        <p:spPr>
          <a:xfrm>
            <a:off x="7635240" y="3621024"/>
            <a:ext cx="1188720" cy="201168"/>
          </a:xfrm>
          <a:prstGeom prst="rect">
            <a:avLst/>
          </a:prstGeom>
          <a:solidFill>
            <a:srgbClr val="E87722"/>
          </a:solidFill>
          <a:ln w="12700">
            <a:solidFill>
              <a:srgbClr val="E87722"/>
            </a:solidFill>
            <a:prstDash val="solid"/>
          </a:ln>
        </p:spPr>
        <p:txBody>
          <a:bodyPr/>
          <a:lstStyle/>
          <a:p>
            <a:endParaRPr lang="en-US"/>
          </a:p>
        </p:txBody>
      </p:sp>
      <p:sp>
        <p:nvSpPr>
          <p:cNvPr id="39" name="Text 37"/>
          <p:cNvSpPr/>
          <p:nvPr/>
        </p:nvSpPr>
        <p:spPr>
          <a:xfrm>
            <a:off x="7635240" y="3621024"/>
            <a:ext cx="118872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Cost/Scale</a:t>
            </a:r>
            <a:endParaRPr lang="en-US" sz="700" dirty="0"/>
          </a:p>
        </p:txBody>
      </p:sp>
      <p:sp>
        <p:nvSpPr>
          <p:cNvPr id="40" name="Text 38"/>
          <p:cNvSpPr/>
          <p:nvPr/>
        </p:nvSpPr>
        <p:spPr>
          <a:xfrm>
            <a:off x="4818888" y="3621024"/>
            <a:ext cx="2743200" cy="274320"/>
          </a:xfrm>
          <a:prstGeom prst="rect">
            <a:avLst/>
          </a:prstGeom>
          <a:noFill/>
          <a:ln/>
        </p:spPr>
        <p:txBody>
          <a:bodyPr wrap="square" lIns="0" tIns="0" rIns="0" bIns="0" rtlCol="0" anchor="ctr"/>
          <a:lstStyle/>
          <a:p>
            <a:pPr marL="0" indent="0">
              <a:buNone/>
            </a:pPr>
            <a:r>
              <a:rPr lang="en-US" sz="1200" b="1" dirty="0">
                <a:solidFill>
                  <a:srgbClr val="1B3A6B"/>
                </a:solidFill>
                <a:latin typeface="Calibri" pitchFamily="34" charset="0"/>
                <a:ea typeface="Calibri" pitchFamily="34" charset="-122"/>
                <a:cs typeface="Calibri" pitchFamily="34" charset="-120"/>
              </a:rPr>
              <a:t>Petabyte Cloud Cost Explosion (2026)</a:t>
            </a:r>
            <a:endParaRPr lang="en-US" sz="1200" dirty="0"/>
          </a:p>
        </p:txBody>
      </p:sp>
      <p:sp>
        <p:nvSpPr>
          <p:cNvPr id="41" name="Text 39"/>
          <p:cNvSpPr/>
          <p:nvPr/>
        </p:nvSpPr>
        <p:spPr>
          <a:xfrm>
            <a:off x="4818888" y="3931920"/>
            <a:ext cx="3977640" cy="658368"/>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At 500M deliveries/year, AWS bills for drone data processing &amp; storage are projected to exceed $2.5B/year. Amazon is urgently developing cost-optimized edge-first data architectures to survive this.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Solutions to Big Data Challenges</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1005840"/>
            <a:ext cx="3657600" cy="347472"/>
          </a:xfrm>
          <a:prstGeom prst="rect">
            <a:avLst/>
          </a:prstGeom>
          <a:solidFill>
            <a:srgbClr val="E87722"/>
          </a:solidFill>
          <a:ln w="12700">
            <a:solidFill>
              <a:srgbClr val="E87722"/>
            </a:solidFill>
            <a:prstDash val="solid"/>
          </a:ln>
        </p:spPr>
        <p:txBody>
          <a:bodyPr/>
          <a:lstStyle/>
          <a:p>
            <a:endParaRPr lang="en-US"/>
          </a:p>
        </p:txBody>
      </p:sp>
      <p:sp>
        <p:nvSpPr>
          <p:cNvPr id="7" name="Text 5"/>
          <p:cNvSpPr/>
          <p:nvPr/>
        </p:nvSpPr>
        <p:spPr>
          <a:xfrm>
            <a:off x="274320" y="1005840"/>
            <a:ext cx="3657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CHALLENGE</a:t>
            </a:r>
            <a:endParaRPr lang="en-US" sz="1300" dirty="0"/>
          </a:p>
        </p:txBody>
      </p:sp>
      <p:sp>
        <p:nvSpPr>
          <p:cNvPr id="8" name="Shape 6"/>
          <p:cNvSpPr/>
          <p:nvPr/>
        </p:nvSpPr>
        <p:spPr>
          <a:xfrm>
            <a:off x="4572000" y="1005840"/>
            <a:ext cx="4297680" cy="347472"/>
          </a:xfrm>
          <a:prstGeom prst="rect">
            <a:avLst/>
          </a:prstGeom>
          <a:solidFill>
            <a:srgbClr val="1B3A6B"/>
          </a:solidFill>
          <a:ln w="12700">
            <a:solidFill>
              <a:srgbClr val="1B3A6B"/>
            </a:solidFill>
            <a:prstDash val="solid"/>
          </a:ln>
        </p:spPr>
        <p:txBody>
          <a:bodyPr/>
          <a:lstStyle/>
          <a:p>
            <a:endParaRPr lang="en-US"/>
          </a:p>
        </p:txBody>
      </p:sp>
      <p:sp>
        <p:nvSpPr>
          <p:cNvPr id="9" name="Text 7"/>
          <p:cNvSpPr/>
          <p:nvPr/>
        </p:nvSpPr>
        <p:spPr>
          <a:xfrm>
            <a:off x="4572000" y="1005840"/>
            <a:ext cx="42976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BIG DATA SOLUTION</a:t>
            </a:r>
            <a:endParaRPr lang="en-US" sz="1300" dirty="0"/>
          </a:p>
        </p:txBody>
      </p:sp>
      <p:sp>
        <p:nvSpPr>
          <p:cNvPr id="10" name="Shape 8"/>
          <p:cNvSpPr/>
          <p:nvPr/>
        </p:nvSpPr>
        <p:spPr>
          <a:xfrm>
            <a:off x="274320" y="1444752"/>
            <a:ext cx="3200400" cy="457200"/>
          </a:xfrm>
          <a:prstGeom prst="rect">
            <a:avLst/>
          </a:prstGeom>
          <a:solidFill>
            <a:srgbClr val="FFFFFF"/>
          </a:solidFill>
          <a:ln w="12700">
            <a:solidFill>
              <a:srgbClr val="C8D8EE"/>
            </a:solidFill>
            <a:prstDash val="solid"/>
          </a:ln>
        </p:spPr>
        <p:txBody>
          <a:bodyPr/>
          <a:lstStyle/>
          <a:p>
            <a:endParaRPr lang="en-US"/>
          </a:p>
        </p:txBody>
      </p:sp>
      <p:sp>
        <p:nvSpPr>
          <p:cNvPr id="11" name="Shape 9"/>
          <p:cNvSpPr/>
          <p:nvPr/>
        </p:nvSpPr>
        <p:spPr>
          <a:xfrm>
            <a:off x="274320" y="1444752"/>
            <a:ext cx="54864" cy="457200"/>
          </a:xfrm>
          <a:prstGeom prst="rect">
            <a:avLst/>
          </a:prstGeom>
          <a:solidFill>
            <a:srgbClr val="1B3A6B"/>
          </a:solidFill>
          <a:ln w="12700">
            <a:solidFill>
              <a:srgbClr val="1B3A6B"/>
            </a:solidFill>
            <a:prstDash val="solid"/>
          </a:ln>
        </p:spPr>
        <p:txBody>
          <a:bodyPr/>
          <a:lstStyle/>
          <a:p>
            <a:endParaRPr lang="en-US"/>
          </a:p>
        </p:txBody>
      </p:sp>
      <p:sp>
        <p:nvSpPr>
          <p:cNvPr id="12" name="Text 10"/>
          <p:cNvSpPr/>
          <p:nvPr/>
        </p:nvSpPr>
        <p:spPr>
          <a:xfrm>
            <a:off x="402336" y="1499616"/>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FAA BVLOS Restrictions</a:t>
            </a:r>
            <a:endParaRPr lang="en-US" sz="1000" dirty="0"/>
          </a:p>
        </p:txBody>
      </p:sp>
      <p:sp>
        <p:nvSpPr>
          <p:cNvPr id="13" name="Text 11"/>
          <p:cNvSpPr/>
          <p:nvPr/>
        </p:nvSpPr>
        <p:spPr>
          <a:xfrm>
            <a:off x="3547872" y="1499616"/>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14" name="Shape 12"/>
          <p:cNvSpPr/>
          <p:nvPr/>
        </p:nvSpPr>
        <p:spPr>
          <a:xfrm>
            <a:off x="4023360" y="1444752"/>
            <a:ext cx="4846320" cy="457200"/>
          </a:xfrm>
          <a:prstGeom prst="rect">
            <a:avLst/>
          </a:prstGeom>
          <a:solidFill>
            <a:srgbClr val="FFFFFF"/>
          </a:solidFill>
          <a:ln w="12700">
            <a:solidFill>
              <a:srgbClr val="C8D8EE"/>
            </a:solidFill>
            <a:prstDash val="solid"/>
          </a:ln>
        </p:spPr>
        <p:txBody>
          <a:bodyPr/>
          <a:lstStyle/>
          <a:p>
            <a:endParaRPr lang="en-US"/>
          </a:p>
        </p:txBody>
      </p:sp>
      <p:sp>
        <p:nvSpPr>
          <p:cNvPr id="15" name="Shape 13"/>
          <p:cNvSpPr/>
          <p:nvPr/>
        </p:nvSpPr>
        <p:spPr>
          <a:xfrm>
            <a:off x="4023360" y="1444752"/>
            <a:ext cx="54864" cy="457200"/>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4142232" y="1481328"/>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Amazon is partnering directly with FAA under BEYOND program (2025) — testing automated BVLOS approval systems using real-time airspace data shared via AWS GovCloud.</a:t>
            </a:r>
            <a:endParaRPr lang="en-US" sz="850" dirty="0"/>
          </a:p>
        </p:txBody>
      </p:sp>
      <p:sp>
        <p:nvSpPr>
          <p:cNvPr id="17" name="Shape 15"/>
          <p:cNvSpPr/>
          <p:nvPr/>
        </p:nvSpPr>
        <p:spPr>
          <a:xfrm>
            <a:off x="274320" y="2011680"/>
            <a:ext cx="3200400" cy="457200"/>
          </a:xfrm>
          <a:prstGeom prst="rect">
            <a:avLst/>
          </a:prstGeom>
          <a:solidFill>
            <a:srgbClr val="FFFFFF"/>
          </a:solidFill>
          <a:ln w="12700">
            <a:solidFill>
              <a:srgbClr val="C8D8EE"/>
            </a:solidFill>
            <a:prstDash val="solid"/>
          </a:ln>
        </p:spPr>
        <p:txBody>
          <a:bodyPr/>
          <a:lstStyle/>
          <a:p>
            <a:endParaRPr lang="en-US"/>
          </a:p>
        </p:txBody>
      </p:sp>
      <p:sp>
        <p:nvSpPr>
          <p:cNvPr id="18" name="Shape 16"/>
          <p:cNvSpPr/>
          <p:nvPr/>
        </p:nvSpPr>
        <p:spPr>
          <a:xfrm>
            <a:off x="274320" y="2011680"/>
            <a:ext cx="54864" cy="457200"/>
          </a:xfrm>
          <a:prstGeom prst="rect">
            <a:avLst/>
          </a:prstGeom>
          <a:solidFill>
            <a:srgbClr val="E87722"/>
          </a:solidFill>
          <a:ln w="12700">
            <a:solidFill>
              <a:srgbClr val="E87722"/>
            </a:solidFill>
            <a:prstDash val="solid"/>
          </a:ln>
        </p:spPr>
        <p:txBody>
          <a:bodyPr/>
          <a:lstStyle/>
          <a:p>
            <a:endParaRPr lang="en-US"/>
          </a:p>
        </p:txBody>
      </p:sp>
      <p:sp>
        <p:nvSpPr>
          <p:cNvPr id="19" name="Text 17"/>
          <p:cNvSpPr/>
          <p:nvPr/>
        </p:nvSpPr>
        <p:spPr>
          <a:xfrm>
            <a:off x="402336" y="2066544"/>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Urban Signal Dropout</a:t>
            </a:r>
            <a:endParaRPr lang="en-US" sz="1000" dirty="0"/>
          </a:p>
        </p:txBody>
      </p:sp>
      <p:sp>
        <p:nvSpPr>
          <p:cNvPr id="20" name="Text 18"/>
          <p:cNvSpPr/>
          <p:nvPr/>
        </p:nvSpPr>
        <p:spPr>
          <a:xfrm>
            <a:off x="3547872" y="2066544"/>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21" name="Shape 19"/>
          <p:cNvSpPr/>
          <p:nvPr/>
        </p:nvSpPr>
        <p:spPr>
          <a:xfrm>
            <a:off x="4023360" y="2011680"/>
            <a:ext cx="4846320" cy="457200"/>
          </a:xfrm>
          <a:prstGeom prst="rect">
            <a:avLst/>
          </a:prstGeom>
          <a:solidFill>
            <a:srgbClr val="FFFFFF"/>
          </a:solidFill>
          <a:ln w="12700">
            <a:solidFill>
              <a:srgbClr val="C8D8EE"/>
            </a:solidFill>
            <a:prstDash val="solid"/>
          </a:ln>
        </p:spPr>
        <p:txBody>
          <a:bodyPr/>
          <a:lstStyle/>
          <a:p>
            <a:endParaRPr lang="en-US"/>
          </a:p>
        </p:txBody>
      </p:sp>
      <p:sp>
        <p:nvSpPr>
          <p:cNvPr id="22" name="Shape 20"/>
          <p:cNvSpPr/>
          <p:nvPr/>
        </p:nvSpPr>
        <p:spPr>
          <a:xfrm>
            <a:off x="4023360" y="2011680"/>
            <a:ext cx="54864" cy="457200"/>
          </a:xfrm>
          <a:prstGeom prst="rect">
            <a:avLst/>
          </a:prstGeom>
          <a:solidFill>
            <a:srgbClr val="E87722"/>
          </a:solidFill>
          <a:ln w="12700">
            <a:solidFill>
              <a:srgbClr val="E87722"/>
            </a:solidFill>
            <a:prstDash val="solid"/>
          </a:ln>
        </p:spPr>
        <p:txBody>
          <a:bodyPr/>
          <a:lstStyle/>
          <a:p>
            <a:endParaRPr lang="en-US"/>
          </a:p>
        </p:txBody>
      </p:sp>
      <p:sp>
        <p:nvSpPr>
          <p:cNvPr id="23" name="Text 21"/>
          <p:cNvSpPr/>
          <p:nvPr/>
        </p:nvSpPr>
        <p:spPr>
          <a:xfrm>
            <a:off x="4142232" y="2048256"/>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Drone-to-drone mesh networking (V2V) allows drones to relay data through each other when cloud signal is lost — no single point of failure in the swarm (deployed 2024).</a:t>
            </a:r>
            <a:endParaRPr lang="en-US" sz="850" dirty="0"/>
          </a:p>
        </p:txBody>
      </p:sp>
      <p:sp>
        <p:nvSpPr>
          <p:cNvPr id="24" name="Shape 22"/>
          <p:cNvSpPr/>
          <p:nvPr/>
        </p:nvSpPr>
        <p:spPr>
          <a:xfrm>
            <a:off x="274320" y="2578608"/>
            <a:ext cx="3200400" cy="457200"/>
          </a:xfrm>
          <a:prstGeom prst="rect">
            <a:avLst/>
          </a:prstGeom>
          <a:solidFill>
            <a:srgbClr val="FFFFFF"/>
          </a:solidFill>
          <a:ln w="12700">
            <a:solidFill>
              <a:srgbClr val="C8D8EE"/>
            </a:solidFill>
            <a:prstDash val="solid"/>
          </a:ln>
        </p:spPr>
        <p:txBody>
          <a:bodyPr/>
          <a:lstStyle/>
          <a:p>
            <a:endParaRPr lang="en-US"/>
          </a:p>
        </p:txBody>
      </p:sp>
      <p:sp>
        <p:nvSpPr>
          <p:cNvPr id="25" name="Shape 23"/>
          <p:cNvSpPr/>
          <p:nvPr/>
        </p:nvSpPr>
        <p:spPr>
          <a:xfrm>
            <a:off x="274320" y="2578608"/>
            <a:ext cx="54864" cy="457200"/>
          </a:xfrm>
          <a:prstGeom prst="rect">
            <a:avLst/>
          </a:prstGeom>
          <a:solidFill>
            <a:srgbClr val="1B3A6B"/>
          </a:solidFill>
          <a:ln w="12700">
            <a:solidFill>
              <a:srgbClr val="1B3A6B"/>
            </a:solidFill>
            <a:prstDash val="solid"/>
          </a:ln>
        </p:spPr>
        <p:txBody>
          <a:bodyPr/>
          <a:lstStyle/>
          <a:p>
            <a:endParaRPr lang="en-US"/>
          </a:p>
        </p:txBody>
      </p:sp>
      <p:sp>
        <p:nvSpPr>
          <p:cNvPr id="26" name="Text 24"/>
          <p:cNvSpPr/>
          <p:nvPr/>
        </p:nvSpPr>
        <p:spPr>
          <a:xfrm>
            <a:off x="402336" y="2633472"/>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Battery &amp; Weather Limits</a:t>
            </a:r>
            <a:endParaRPr lang="en-US" sz="1000" dirty="0"/>
          </a:p>
        </p:txBody>
      </p:sp>
      <p:sp>
        <p:nvSpPr>
          <p:cNvPr id="27" name="Text 25"/>
          <p:cNvSpPr/>
          <p:nvPr/>
        </p:nvSpPr>
        <p:spPr>
          <a:xfrm>
            <a:off x="3547872" y="2633472"/>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28" name="Shape 26"/>
          <p:cNvSpPr/>
          <p:nvPr/>
        </p:nvSpPr>
        <p:spPr>
          <a:xfrm>
            <a:off x="4023360" y="2578608"/>
            <a:ext cx="4846320" cy="457200"/>
          </a:xfrm>
          <a:prstGeom prst="rect">
            <a:avLst/>
          </a:prstGeom>
          <a:solidFill>
            <a:srgbClr val="FFFFFF"/>
          </a:solidFill>
          <a:ln w="12700">
            <a:solidFill>
              <a:srgbClr val="C8D8EE"/>
            </a:solidFill>
            <a:prstDash val="solid"/>
          </a:ln>
        </p:spPr>
        <p:txBody>
          <a:bodyPr/>
          <a:lstStyle/>
          <a:p>
            <a:endParaRPr lang="en-US"/>
          </a:p>
        </p:txBody>
      </p:sp>
      <p:sp>
        <p:nvSpPr>
          <p:cNvPr id="29" name="Shape 27"/>
          <p:cNvSpPr/>
          <p:nvPr/>
        </p:nvSpPr>
        <p:spPr>
          <a:xfrm>
            <a:off x="4023360" y="2578608"/>
            <a:ext cx="54864" cy="457200"/>
          </a:xfrm>
          <a:prstGeom prst="rect">
            <a:avLst/>
          </a:prstGeom>
          <a:solidFill>
            <a:srgbClr val="1B3A6B"/>
          </a:solidFill>
          <a:ln w="12700">
            <a:solidFill>
              <a:srgbClr val="1B3A6B"/>
            </a:solidFill>
            <a:prstDash val="solid"/>
          </a:ln>
        </p:spPr>
        <p:txBody>
          <a:bodyPr/>
          <a:lstStyle/>
          <a:p>
            <a:endParaRPr lang="en-US"/>
          </a:p>
        </p:txBody>
      </p:sp>
      <p:sp>
        <p:nvSpPr>
          <p:cNvPr id="30" name="Text 28"/>
          <p:cNvSpPr/>
          <p:nvPr/>
        </p:nvSpPr>
        <p:spPr>
          <a:xfrm>
            <a:off x="4142232" y="2615184"/>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MK30 upgraded with hybrid solar-assist panels (2025 trials) + AI weather prediction using NOAA APIs to pre-cancel risky flights before launch, saving 23% wasted battery cycles.</a:t>
            </a:r>
            <a:endParaRPr lang="en-US" sz="850" dirty="0"/>
          </a:p>
        </p:txBody>
      </p:sp>
      <p:sp>
        <p:nvSpPr>
          <p:cNvPr id="31" name="Shape 29"/>
          <p:cNvSpPr/>
          <p:nvPr/>
        </p:nvSpPr>
        <p:spPr>
          <a:xfrm>
            <a:off x="274320" y="3145536"/>
            <a:ext cx="3200400" cy="457200"/>
          </a:xfrm>
          <a:prstGeom prst="rect">
            <a:avLst/>
          </a:prstGeom>
          <a:solidFill>
            <a:srgbClr val="FFFFFF"/>
          </a:solidFill>
          <a:ln w="12700">
            <a:solidFill>
              <a:srgbClr val="C8D8EE"/>
            </a:solidFill>
            <a:prstDash val="solid"/>
          </a:ln>
        </p:spPr>
        <p:txBody>
          <a:bodyPr/>
          <a:lstStyle/>
          <a:p>
            <a:endParaRPr lang="en-US"/>
          </a:p>
        </p:txBody>
      </p:sp>
      <p:sp>
        <p:nvSpPr>
          <p:cNvPr id="32" name="Shape 30"/>
          <p:cNvSpPr/>
          <p:nvPr/>
        </p:nvSpPr>
        <p:spPr>
          <a:xfrm>
            <a:off x="274320" y="3145536"/>
            <a:ext cx="54864" cy="457200"/>
          </a:xfrm>
          <a:prstGeom prst="rect">
            <a:avLst/>
          </a:prstGeom>
          <a:solidFill>
            <a:srgbClr val="E87722"/>
          </a:solidFill>
          <a:ln w="12700">
            <a:solidFill>
              <a:srgbClr val="E87722"/>
            </a:solidFill>
            <a:prstDash val="solid"/>
          </a:ln>
        </p:spPr>
        <p:txBody>
          <a:bodyPr/>
          <a:lstStyle/>
          <a:p>
            <a:endParaRPr lang="en-US"/>
          </a:p>
        </p:txBody>
      </p:sp>
      <p:sp>
        <p:nvSpPr>
          <p:cNvPr id="33" name="Text 31"/>
          <p:cNvSpPr/>
          <p:nvPr/>
        </p:nvSpPr>
        <p:spPr>
          <a:xfrm>
            <a:off x="402336" y="3200400"/>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GPS Spoofing Attacks</a:t>
            </a:r>
            <a:endParaRPr lang="en-US" sz="1000" dirty="0"/>
          </a:p>
        </p:txBody>
      </p:sp>
      <p:sp>
        <p:nvSpPr>
          <p:cNvPr id="34" name="Text 32"/>
          <p:cNvSpPr/>
          <p:nvPr/>
        </p:nvSpPr>
        <p:spPr>
          <a:xfrm>
            <a:off x="3547872" y="3200400"/>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35" name="Shape 33"/>
          <p:cNvSpPr/>
          <p:nvPr/>
        </p:nvSpPr>
        <p:spPr>
          <a:xfrm>
            <a:off x="4023360" y="3145536"/>
            <a:ext cx="4846320" cy="457200"/>
          </a:xfrm>
          <a:prstGeom prst="rect">
            <a:avLst/>
          </a:prstGeom>
          <a:solidFill>
            <a:srgbClr val="FFFFFF"/>
          </a:solidFill>
          <a:ln w="12700">
            <a:solidFill>
              <a:srgbClr val="C8D8EE"/>
            </a:solidFill>
            <a:prstDash val="solid"/>
          </a:ln>
        </p:spPr>
        <p:txBody>
          <a:bodyPr/>
          <a:lstStyle/>
          <a:p>
            <a:endParaRPr lang="en-US"/>
          </a:p>
        </p:txBody>
      </p:sp>
      <p:sp>
        <p:nvSpPr>
          <p:cNvPr id="36" name="Shape 34"/>
          <p:cNvSpPr/>
          <p:nvPr/>
        </p:nvSpPr>
        <p:spPr>
          <a:xfrm>
            <a:off x="4023360" y="3145536"/>
            <a:ext cx="54864" cy="457200"/>
          </a:xfrm>
          <a:prstGeom prst="rect">
            <a:avLst/>
          </a:prstGeom>
          <a:solidFill>
            <a:srgbClr val="E87722"/>
          </a:solidFill>
          <a:ln w="12700">
            <a:solidFill>
              <a:srgbClr val="E87722"/>
            </a:solidFill>
            <a:prstDash val="solid"/>
          </a:ln>
        </p:spPr>
        <p:txBody>
          <a:bodyPr/>
          <a:lstStyle/>
          <a:p>
            <a:endParaRPr lang="en-US"/>
          </a:p>
        </p:txBody>
      </p:sp>
      <p:sp>
        <p:nvSpPr>
          <p:cNvPr id="37" name="Text 35"/>
          <p:cNvSpPr/>
          <p:nvPr/>
        </p:nvSpPr>
        <p:spPr>
          <a:xfrm>
            <a:off x="4142232" y="3182112"/>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Amazon deployed multi-constellation GNSS (GPS + Galileo + GLONASS) cross-verification in 2025. If signals diverge by &gt;2m, drone auto-lands safely and alerts security operations center.</a:t>
            </a:r>
            <a:endParaRPr lang="en-US" sz="850" dirty="0"/>
          </a:p>
        </p:txBody>
      </p:sp>
      <p:sp>
        <p:nvSpPr>
          <p:cNvPr id="38" name="Shape 36"/>
          <p:cNvSpPr/>
          <p:nvPr/>
        </p:nvSpPr>
        <p:spPr>
          <a:xfrm>
            <a:off x="274320" y="3712464"/>
            <a:ext cx="3200400" cy="457200"/>
          </a:xfrm>
          <a:prstGeom prst="rect">
            <a:avLst/>
          </a:prstGeom>
          <a:solidFill>
            <a:srgbClr val="FFFFFF"/>
          </a:solidFill>
          <a:ln w="12700">
            <a:solidFill>
              <a:srgbClr val="C8D8EE"/>
            </a:solidFill>
            <a:prstDash val="solid"/>
          </a:ln>
        </p:spPr>
        <p:txBody>
          <a:bodyPr/>
          <a:lstStyle/>
          <a:p>
            <a:endParaRPr lang="en-US"/>
          </a:p>
        </p:txBody>
      </p:sp>
      <p:sp>
        <p:nvSpPr>
          <p:cNvPr id="39" name="Shape 37"/>
          <p:cNvSpPr/>
          <p:nvPr/>
        </p:nvSpPr>
        <p:spPr>
          <a:xfrm>
            <a:off x="274320" y="3712464"/>
            <a:ext cx="54864" cy="457200"/>
          </a:xfrm>
          <a:prstGeom prst="rect">
            <a:avLst/>
          </a:prstGeom>
          <a:solidFill>
            <a:srgbClr val="1B3A6B"/>
          </a:solidFill>
          <a:ln w="12700">
            <a:solidFill>
              <a:srgbClr val="1B3A6B"/>
            </a:solidFill>
            <a:prstDash val="solid"/>
          </a:ln>
        </p:spPr>
        <p:txBody>
          <a:bodyPr/>
          <a:lstStyle/>
          <a:p>
            <a:endParaRPr lang="en-US"/>
          </a:p>
        </p:txBody>
      </p:sp>
      <p:sp>
        <p:nvSpPr>
          <p:cNvPr id="40" name="Text 38"/>
          <p:cNvSpPr/>
          <p:nvPr/>
        </p:nvSpPr>
        <p:spPr>
          <a:xfrm>
            <a:off x="402336" y="3767328"/>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Privacy &amp; Noise Lawsuits</a:t>
            </a:r>
            <a:endParaRPr lang="en-US" sz="1000" dirty="0"/>
          </a:p>
        </p:txBody>
      </p:sp>
      <p:sp>
        <p:nvSpPr>
          <p:cNvPr id="41" name="Text 39"/>
          <p:cNvSpPr/>
          <p:nvPr/>
        </p:nvSpPr>
        <p:spPr>
          <a:xfrm>
            <a:off x="3547872" y="3767328"/>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42" name="Shape 40"/>
          <p:cNvSpPr/>
          <p:nvPr/>
        </p:nvSpPr>
        <p:spPr>
          <a:xfrm>
            <a:off x="4023360" y="3712464"/>
            <a:ext cx="4846320" cy="457200"/>
          </a:xfrm>
          <a:prstGeom prst="rect">
            <a:avLst/>
          </a:prstGeom>
          <a:solidFill>
            <a:srgbClr val="FFFFFF"/>
          </a:solidFill>
          <a:ln w="12700">
            <a:solidFill>
              <a:srgbClr val="C8D8EE"/>
            </a:solidFill>
            <a:prstDash val="solid"/>
          </a:ln>
        </p:spPr>
        <p:txBody>
          <a:bodyPr/>
          <a:lstStyle/>
          <a:p>
            <a:endParaRPr lang="en-US"/>
          </a:p>
        </p:txBody>
      </p:sp>
      <p:sp>
        <p:nvSpPr>
          <p:cNvPr id="43" name="Shape 41"/>
          <p:cNvSpPr/>
          <p:nvPr/>
        </p:nvSpPr>
        <p:spPr>
          <a:xfrm>
            <a:off x="4023360" y="3712464"/>
            <a:ext cx="54864" cy="457200"/>
          </a:xfrm>
          <a:prstGeom prst="rect">
            <a:avLst/>
          </a:prstGeom>
          <a:solidFill>
            <a:srgbClr val="1B3A6B"/>
          </a:solidFill>
          <a:ln w="12700">
            <a:solidFill>
              <a:srgbClr val="1B3A6B"/>
            </a:solidFill>
            <a:prstDash val="solid"/>
          </a:ln>
        </p:spPr>
        <p:txBody>
          <a:bodyPr/>
          <a:lstStyle/>
          <a:p>
            <a:endParaRPr lang="en-US"/>
          </a:p>
        </p:txBody>
      </p:sp>
      <p:sp>
        <p:nvSpPr>
          <p:cNvPr id="44" name="Text 42"/>
          <p:cNvSpPr/>
          <p:nvPr/>
        </p:nvSpPr>
        <p:spPr>
          <a:xfrm>
            <a:off x="4142232" y="3749040"/>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MK30 camera data is automatically blurred for private property using on-device AI (2024). Noise reduced 25% via new rotor design. FAA privacy compliance module integrated into all drones.</a:t>
            </a:r>
            <a:endParaRPr lang="en-US" sz="850" dirty="0"/>
          </a:p>
        </p:txBody>
      </p:sp>
      <p:sp>
        <p:nvSpPr>
          <p:cNvPr id="45" name="Shape 43"/>
          <p:cNvSpPr/>
          <p:nvPr/>
        </p:nvSpPr>
        <p:spPr>
          <a:xfrm>
            <a:off x="274320" y="4279392"/>
            <a:ext cx="3200400" cy="457200"/>
          </a:xfrm>
          <a:prstGeom prst="rect">
            <a:avLst/>
          </a:prstGeom>
          <a:solidFill>
            <a:srgbClr val="FFFFFF"/>
          </a:solidFill>
          <a:ln w="12700">
            <a:solidFill>
              <a:srgbClr val="C8D8EE"/>
            </a:solidFill>
            <a:prstDash val="solid"/>
          </a:ln>
        </p:spPr>
        <p:txBody>
          <a:bodyPr/>
          <a:lstStyle/>
          <a:p>
            <a:endParaRPr lang="en-US"/>
          </a:p>
        </p:txBody>
      </p:sp>
      <p:sp>
        <p:nvSpPr>
          <p:cNvPr id="46" name="Shape 44"/>
          <p:cNvSpPr/>
          <p:nvPr/>
        </p:nvSpPr>
        <p:spPr>
          <a:xfrm>
            <a:off x="274320" y="4279392"/>
            <a:ext cx="54864" cy="457200"/>
          </a:xfrm>
          <a:prstGeom prst="rect">
            <a:avLst/>
          </a:prstGeom>
          <a:solidFill>
            <a:srgbClr val="E87722"/>
          </a:solidFill>
          <a:ln w="12700">
            <a:solidFill>
              <a:srgbClr val="E87722"/>
            </a:solidFill>
            <a:prstDash val="solid"/>
          </a:ln>
        </p:spPr>
        <p:txBody>
          <a:bodyPr/>
          <a:lstStyle/>
          <a:p>
            <a:endParaRPr lang="en-US"/>
          </a:p>
        </p:txBody>
      </p:sp>
      <p:sp>
        <p:nvSpPr>
          <p:cNvPr id="47" name="Text 45"/>
          <p:cNvSpPr/>
          <p:nvPr/>
        </p:nvSpPr>
        <p:spPr>
          <a:xfrm>
            <a:off x="402336" y="4334256"/>
            <a:ext cx="3017520" cy="347472"/>
          </a:xfrm>
          <a:prstGeom prst="rect">
            <a:avLst/>
          </a:prstGeom>
          <a:noFill/>
          <a:ln/>
        </p:spPr>
        <p:txBody>
          <a:bodyPr wrap="square" lIns="0" tIns="0" rIns="0" bIns="0" rtlCol="0" anchor="ctr"/>
          <a:lstStyle/>
          <a:p>
            <a:pPr marL="0" indent="0">
              <a:buNone/>
            </a:pPr>
            <a:r>
              <a:rPr lang="en-US" sz="1000" b="1" dirty="0">
                <a:solidFill>
                  <a:srgbClr val="1B3A6B"/>
                </a:solidFill>
                <a:latin typeface="Calibri" pitchFamily="34" charset="0"/>
                <a:ea typeface="Calibri" pitchFamily="34" charset="-122"/>
                <a:cs typeface="Calibri" pitchFamily="34" charset="-120"/>
              </a:rPr>
              <a:t>Cloud Cost Explosion</a:t>
            </a:r>
            <a:endParaRPr lang="en-US" sz="1000" dirty="0"/>
          </a:p>
        </p:txBody>
      </p:sp>
      <p:sp>
        <p:nvSpPr>
          <p:cNvPr id="48" name="Text 46"/>
          <p:cNvSpPr/>
          <p:nvPr/>
        </p:nvSpPr>
        <p:spPr>
          <a:xfrm>
            <a:off x="3547872" y="4334256"/>
            <a:ext cx="411480" cy="320040"/>
          </a:xfrm>
          <a:prstGeom prst="rect">
            <a:avLst/>
          </a:prstGeom>
          <a:noFill/>
          <a:ln/>
        </p:spPr>
        <p:txBody>
          <a:bodyPr wrap="square" lIns="0" tIns="0" rIns="0" bIns="0" rtlCol="0" anchor="ctr"/>
          <a:lstStyle/>
          <a:p>
            <a:pPr marL="0" indent="0" algn="ctr">
              <a:buNone/>
            </a:pPr>
            <a:r>
              <a:rPr lang="en-US" sz="1800" b="1" dirty="0">
                <a:solidFill>
                  <a:srgbClr val="E87722"/>
                </a:solidFill>
              </a:rPr>
              <a:t>→</a:t>
            </a:r>
            <a:endParaRPr lang="en-US" sz="1800" dirty="0"/>
          </a:p>
        </p:txBody>
      </p:sp>
      <p:sp>
        <p:nvSpPr>
          <p:cNvPr id="49" name="Shape 47"/>
          <p:cNvSpPr/>
          <p:nvPr/>
        </p:nvSpPr>
        <p:spPr>
          <a:xfrm>
            <a:off x="4023360" y="4279392"/>
            <a:ext cx="4846320" cy="457200"/>
          </a:xfrm>
          <a:prstGeom prst="rect">
            <a:avLst/>
          </a:prstGeom>
          <a:solidFill>
            <a:srgbClr val="FFFFFF"/>
          </a:solidFill>
          <a:ln w="12700">
            <a:solidFill>
              <a:srgbClr val="C8D8EE"/>
            </a:solidFill>
            <a:prstDash val="solid"/>
          </a:ln>
        </p:spPr>
        <p:txBody>
          <a:bodyPr/>
          <a:lstStyle/>
          <a:p>
            <a:endParaRPr lang="en-US"/>
          </a:p>
        </p:txBody>
      </p:sp>
      <p:sp>
        <p:nvSpPr>
          <p:cNvPr id="50" name="Shape 48"/>
          <p:cNvSpPr/>
          <p:nvPr/>
        </p:nvSpPr>
        <p:spPr>
          <a:xfrm>
            <a:off x="4023360" y="4279392"/>
            <a:ext cx="54864" cy="457200"/>
          </a:xfrm>
          <a:prstGeom prst="rect">
            <a:avLst/>
          </a:prstGeom>
          <a:solidFill>
            <a:srgbClr val="E87722"/>
          </a:solidFill>
          <a:ln w="12700">
            <a:solidFill>
              <a:srgbClr val="E87722"/>
            </a:solidFill>
            <a:prstDash val="solid"/>
          </a:ln>
        </p:spPr>
        <p:txBody>
          <a:bodyPr/>
          <a:lstStyle/>
          <a:p>
            <a:endParaRPr lang="en-US"/>
          </a:p>
        </p:txBody>
      </p:sp>
      <p:sp>
        <p:nvSpPr>
          <p:cNvPr id="51" name="Text 49"/>
          <p:cNvSpPr/>
          <p:nvPr/>
        </p:nvSpPr>
        <p:spPr>
          <a:xfrm>
            <a:off x="4142232" y="4315968"/>
            <a:ext cx="4663440" cy="384048"/>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Amazon shifting to Edge-First architecture (2025-26): 70% of data processed ON the drone, only summaries sent to cloud. Estimated to cut AWS drone data bills by $1.8B/year by 2026.</a:t>
            </a:r>
            <a:endParaRPr lang="en-US" sz="850" dirty="0"/>
          </a:p>
        </p:txBody>
      </p:sp>
      <p:sp>
        <p:nvSpPr>
          <p:cNvPr id="52" name="Shape 50"/>
          <p:cNvSpPr/>
          <p:nvPr/>
        </p:nvSpPr>
        <p:spPr>
          <a:xfrm>
            <a:off x="274320" y="4828032"/>
            <a:ext cx="8595360" cy="45720"/>
          </a:xfrm>
          <a:prstGeom prst="rect">
            <a:avLst/>
          </a:prstGeom>
          <a:solidFill>
            <a:srgbClr val="1B3A6B"/>
          </a:solidFill>
          <a:ln w="12700">
            <a:solidFill>
              <a:srgbClr val="1B3A6B"/>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Amazon Prime Air: With vs Without Big Data</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74320" y="987552"/>
            <a:ext cx="4114800" cy="347472"/>
          </a:xfrm>
          <a:prstGeom prst="rect">
            <a:avLst/>
          </a:prstGeom>
          <a:solidFill>
            <a:srgbClr val="1B3A6B"/>
          </a:solidFill>
          <a:ln w="12700">
            <a:solidFill>
              <a:srgbClr val="1B3A6B"/>
            </a:solidFill>
            <a:prstDash val="solid"/>
          </a:ln>
        </p:spPr>
        <p:txBody>
          <a:bodyPr/>
          <a:lstStyle/>
          <a:p>
            <a:endParaRPr lang="en-US"/>
          </a:p>
        </p:txBody>
      </p:sp>
      <p:sp>
        <p:nvSpPr>
          <p:cNvPr id="7" name="Text 5"/>
          <p:cNvSpPr/>
          <p:nvPr/>
        </p:nvSpPr>
        <p:spPr>
          <a:xfrm>
            <a:off x="274320" y="987552"/>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WITHOUT BIG DATA</a:t>
            </a:r>
            <a:endParaRPr lang="en-US" sz="1300" dirty="0"/>
          </a:p>
        </p:txBody>
      </p:sp>
      <p:sp>
        <p:nvSpPr>
          <p:cNvPr id="8" name="Shape 6"/>
          <p:cNvSpPr/>
          <p:nvPr/>
        </p:nvSpPr>
        <p:spPr>
          <a:xfrm>
            <a:off x="4754880" y="987552"/>
            <a:ext cx="4114800" cy="347472"/>
          </a:xfrm>
          <a:prstGeom prst="rect">
            <a:avLst/>
          </a:prstGeom>
          <a:solidFill>
            <a:srgbClr val="E87722"/>
          </a:solidFill>
          <a:ln w="12700">
            <a:solidFill>
              <a:srgbClr val="E87722"/>
            </a:solidFill>
            <a:prstDash val="solid"/>
          </a:ln>
        </p:spPr>
        <p:txBody>
          <a:bodyPr/>
          <a:lstStyle/>
          <a:p>
            <a:endParaRPr lang="en-US"/>
          </a:p>
        </p:txBody>
      </p:sp>
      <p:sp>
        <p:nvSpPr>
          <p:cNvPr id="9" name="Text 7"/>
          <p:cNvSpPr/>
          <p:nvPr/>
        </p:nvSpPr>
        <p:spPr>
          <a:xfrm>
            <a:off x="4754880" y="987552"/>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WITH BIG DATA</a:t>
            </a:r>
            <a:endParaRPr lang="en-US" sz="1300" dirty="0"/>
          </a:p>
        </p:txBody>
      </p:sp>
      <p:sp>
        <p:nvSpPr>
          <p:cNvPr id="10" name="Shape 8"/>
          <p:cNvSpPr/>
          <p:nvPr/>
        </p:nvSpPr>
        <p:spPr>
          <a:xfrm>
            <a:off x="274320" y="1417320"/>
            <a:ext cx="4114800" cy="438912"/>
          </a:xfrm>
          <a:prstGeom prst="rect">
            <a:avLst/>
          </a:prstGeom>
          <a:solidFill>
            <a:srgbClr val="FFF5F5"/>
          </a:solidFill>
          <a:ln w="12700">
            <a:solidFill>
              <a:srgbClr val="FFCCCC"/>
            </a:solidFill>
            <a:prstDash val="solid"/>
          </a:ln>
        </p:spPr>
        <p:txBody>
          <a:bodyPr/>
          <a:lstStyle/>
          <a:p>
            <a:endParaRPr lang="en-US"/>
          </a:p>
        </p:txBody>
      </p:sp>
      <p:sp>
        <p:nvSpPr>
          <p:cNvPr id="11" name="Text 9"/>
          <p:cNvSpPr/>
          <p:nvPr/>
        </p:nvSpPr>
        <p:spPr>
          <a:xfrm>
            <a:off x="384048" y="149047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  Cannot process 1TB+/day sensor data</a:t>
            </a:r>
            <a:endParaRPr lang="en-US" sz="1000" dirty="0"/>
          </a:p>
        </p:txBody>
      </p:sp>
      <p:sp>
        <p:nvSpPr>
          <p:cNvPr id="12" name="Text 10"/>
          <p:cNvSpPr/>
          <p:nvPr/>
        </p:nvSpPr>
        <p:spPr>
          <a:xfrm>
            <a:off x="4407408" y="149047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13" name="Shape 11"/>
          <p:cNvSpPr/>
          <p:nvPr/>
        </p:nvSpPr>
        <p:spPr>
          <a:xfrm>
            <a:off x="4754880" y="1417320"/>
            <a:ext cx="4114800" cy="438912"/>
          </a:xfrm>
          <a:prstGeom prst="rect">
            <a:avLst/>
          </a:prstGeom>
          <a:solidFill>
            <a:srgbClr val="F0FFF4"/>
          </a:solidFill>
          <a:ln w="12700">
            <a:solidFill>
              <a:srgbClr val="AADDAA"/>
            </a:solidFill>
            <a:prstDash val="solid"/>
          </a:ln>
        </p:spPr>
        <p:txBody>
          <a:bodyPr/>
          <a:lstStyle/>
          <a:p>
            <a:endParaRPr lang="en-US"/>
          </a:p>
        </p:txBody>
      </p:sp>
      <p:sp>
        <p:nvSpPr>
          <p:cNvPr id="14" name="Text 12"/>
          <p:cNvSpPr/>
          <p:nvPr/>
        </p:nvSpPr>
        <p:spPr>
          <a:xfrm>
            <a:off x="4864608" y="149047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Handles petabytes daily via distributed systems</a:t>
            </a:r>
            <a:endParaRPr lang="en-US" sz="1000" dirty="0"/>
          </a:p>
        </p:txBody>
      </p:sp>
      <p:sp>
        <p:nvSpPr>
          <p:cNvPr id="15" name="Shape 13"/>
          <p:cNvSpPr/>
          <p:nvPr/>
        </p:nvSpPr>
        <p:spPr>
          <a:xfrm>
            <a:off x="274320" y="1965960"/>
            <a:ext cx="4114800" cy="438912"/>
          </a:xfrm>
          <a:prstGeom prst="rect">
            <a:avLst/>
          </a:prstGeom>
          <a:solidFill>
            <a:srgbClr val="FFF5F5"/>
          </a:solidFill>
          <a:ln w="12700">
            <a:solidFill>
              <a:srgbClr val="FFCCCC"/>
            </a:solidFill>
            <a:prstDash val="solid"/>
          </a:ln>
        </p:spPr>
        <p:txBody>
          <a:bodyPr/>
          <a:lstStyle/>
          <a:p>
            <a:endParaRPr lang="en-US"/>
          </a:p>
        </p:txBody>
      </p:sp>
      <p:sp>
        <p:nvSpPr>
          <p:cNvPr id="16" name="Text 14"/>
          <p:cNvSpPr/>
          <p:nvPr/>
        </p:nvSpPr>
        <p:spPr>
          <a:xfrm>
            <a:off x="384048" y="203911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  Manual route planning — hours of delay</a:t>
            </a:r>
            <a:endParaRPr lang="en-US" sz="1000" dirty="0"/>
          </a:p>
        </p:txBody>
      </p:sp>
      <p:sp>
        <p:nvSpPr>
          <p:cNvPr id="17" name="Text 15"/>
          <p:cNvSpPr/>
          <p:nvPr/>
        </p:nvSpPr>
        <p:spPr>
          <a:xfrm>
            <a:off x="4407408" y="203911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18" name="Shape 16"/>
          <p:cNvSpPr/>
          <p:nvPr/>
        </p:nvSpPr>
        <p:spPr>
          <a:xfrm>
            <a:off x="4754880" y="1965960"/>
            <a:ext cx="4114800" cy="438912"/>
          </a:xfrm>
          <a:prstGeom prst="rect">
            <a:avLst/>
          </a:prstGeom>
          <a:solidFill>
            <a:srgbClr val="F0FFF4"/>
          </a:solidFill>
          <a:ln w="12700">
            <a:solidFill>
              <a:srgbClr val="AADDAA"/>
            </a:solidFill>
            <a:prstDash val="solid"/>
          </a:ln>
        </p:spPr>
        <p:txBody>
          <a:bodyPr/>
          <a:lstStyle/>
          <a:p>
            <a:endParaRPr lang="en-US"/>
          </a:p>
        </p:txBody>
      </p:sp>
      <p:sp>
        <p:nvSpPr>
          <p:cNvPr id="19" name="Text 17"/>
          <p:cNvSpPr/>
          <p:nvPr/>
        </p:nvSpPr>
        <p:spPr>
          <a:xfrm>
            <a:off x="4864608" y="203911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AI-optimized routes in real-time (&lt;50ms)</a:t>
            </a:r>
            <a:endParaRPr lang="en-US" sz="1000" dirty="0"/>
          </a:p>
        </p:txBody>
      </p:sp>
      <p:sp>
        <p:nvSpPr>
          <p:cNvPr id="20" name="Shape 18"/>
          <p:cNvSpPr/>
          <p:nvPr/>
        </p:nvSpPr>
        <p:spPr>
          <a:xfrm>
            <a:off x="274320" y="2514600"/>
            <a:ext cx="4114800" cy="438912"/>
          </a:xfrm>
          <a:prstGeom prst="rect">
            <a:avLst/>
          </a:prstGeom>
          <a:solidFill>
            <a:srgbClr val="FFF5F5"/>
          </a:solidFill>
          <a:ln w="12700">
            <a:solidFill>
              <a:srgbClr val="FFCCCC"/>
            </a:solidFill>
            <a:prstDash val="solid"/>
          </a:ln>
        </p:spPr>
        <p:txBody>
          <a:bodyPr/>
          <a:lstStyle/>
          <a:p>
            <a:endParaRPr lang="en-US"/>
          </a:p>
        </p:txBody>
      </p:sp>
      <p:sp>
        <p:nvSpPr>
          <p:cNvPr id="21" name="Text 19"/>
          <p:cNvSpPr/>
          <p:nvPr/>
        </p:nvSpPr>
        <p:spPr>
          <a:xfrm>
            <a:off x="384048" y="258775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Drone collisions with no collision avoidance</a:t>
            </a:r>
            <a:endParaRPr lang="en-US" sz="1000" dirty="0"/>
          </a:p>
        </p:txBody>
      </p:sp>
      <p:sp>
        <p:nvSpPr>
          <p:cNvPr id="22" name="Text 20"/>
          <p:cNvSpPr/>
          <p:nvPr/>
        </p:nvSpPr>
        <p:spPr>
          <a:xfrm>
            <a:off x="4407408" y="258775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23" name="Shape 21"/>
          <p:cNvSpPr/>
          <p:nvPr/>
        </p:nvSpPr>
        <p:spPr>
          <a:xfrm>
            <a:off x="4754880" y="2514600"/>
            <a:ext cx="4114800" cy="438912"/>
          </a:xfrm>
          <a:prstGeom prst="rect">
            <a:avLst/>
          </a:prstGeom>
          <a:solidFill>
            <a:srgbClr val="F0FFF4"/>
          </a:solidFill>
          <a:ln w="12700">
            <a:solidFill>
              <a:srgbClr val="AADDAA"/>
            </a:solidFill>
            <a:prstDash val="solid"/>
          </a:ln>
        </p:spPr>
        <p:txBody>
          <a:bodyPr/>
          <a:lstStyle/>
          <a:p>
            <a:endParaRPr lang="en-US"/>
          </a:p>
        </p:txBody>
      </p:sp>
      <p:sp>
        <p:nvSpPr>
          <p:cNvPr id="24" name="Text 22"/>
          <p:cNvSpPr/>
          <p:nvPr/>
        </p:nvSpPr>
        <p:spPr>
          <a:xfrm>
            <a:off x="4864608" y="258775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LiDAR + ML prevents all mid-air collisions</a:t>
            </a:r>
            <a:endParaRPr lang="en-US" sz="1000" dirty="0"/>
          </a:p>
        </p:txBody>
      </p:sp>
      <p:sp>
        <p:nvSpPr>
          <p:cNvPr id="25" name="Shape 23"/>
          <p:cNvSpPr/>
          <p:nvPr/>
        </p:nvSpPr>
        <p:spPr>
          <a:xfrm>
            <a:off x="274320" y="3063240"/>
            <a:ext cx="4114800" cy="438912"/>
          </a:xfrm>
          <a:prstGeom prst="rect">
            <a:avLst/>
          </a:prstGeom>
          <a:solidFill>
            <a:srgbClr val="FFF5F5"/>
          </a:solidFill>
          <a:ln w="12700">
            <a:solidFill>
              <a:srgbClr val="FFCCCC"/>
            </a:solidFill>
            <a:prstDash val="solid"/>
          </a:ln>
        </p:spPr>
        <p:txBody>
          <a:bodyPr/>
          <a:lstStyle/>
          <a:p>
            <a:endParaRPr lang="en-US"/>
          </a:p>
        </p:txBody>
      </p:sp>
      <p:sp>
        <p:nvSpPr>
          <p:cNvPr id="26" name="Text 24"/>
          <p:cNvSpPr/>
          <p:nvPr/>
        </p:nvSpPr>
        <p:spPr>
          <a:xfrm>
            <a:off x="384048" y="313639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  No weather adaptation — flights cancelled</a:t>
            </a:r>
            <a:endParaRPr lang="en-US" sz="1000" dirty="0"/>
          </a:p>
        </p:txBody>
      </p:sp>
      <p:sp>
        <p:nvSpPr>
          <p:cNvPr id="27" name="Text 25"/>
          <p:cNvSpPr/>
          <p:nvPr/>
        </p:nvSpPr>
        <p:spPr>
          <a:xfrm>
            <a:off x="4407408" y="313639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28" name="Shape 26"/>
          <p:cNvSpPr/>
          <p:nvPr/>
        </p:nvSpPr>
        <p:spPr>
          <a:xfrm>
            <a:off x="4754880" y="3063240"/>
            <a:ext cx="4114800" cy="438912"/>
          </a:xfrm>
          <a:prstGeom prst="rect">
            <a:avLst/>
          </a:prstGeom>
          <a:solidFill>
            <a:srgbClr val="F0FFF4"/>
          </a:solidFill>
          <a:ln w="12700">
            <a:solidFill>
              <a:srgbClr val="AADDAA"/>
            </a:solidFill>
            <a:prstDash val="solid"/>
          </a:ln>
        </p:spPr>
        <p:txBody>
          <a:bodyPr/>
          <a:lstStyle/>
          <a:p>
            <a:endParaRPr lang="en-US"/>
          </a:p>
        </p:txBody>
      </p:sp>
      <p:sp>
        <p:nvSpPr>
          <p:cNvPr id="29" name="Text 27"/>
          <p:cNvSpPr/>
          <p:nvPr/>
        </p:nvSpPr>
        <p:spPr>
          <a:xfrm>
            <a:off x="4864608" y="313639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Live weather data reroutes drones instantly</a:t>
            </a:r>
            <a:endParaRPr lang="en-US" sz="1000" dirty="0"/>
          </a:p>
        </p:txBody>
      </p:sp>
      <p:sp>
        <p:nvSpPr>
          <p:cNvPr id="30" name="Shape 28"/>
          <p:cNvSpPr/>
          <p:nvPr/>
        </p:nvSpPr>
        <p:spPr>
          <a:xfrm>
            <a:off x="274320" y="3611880"/>
            <a:ext cx="4114800" cy="438912"/>
          </a:xfrm>
          <a:prstGeom prst="rect">
            <a:avLst/>
          </a:prstGeom>
          <a:solidFill>
            <a:srgbClr val="FFF5F5"/>
          </a:solidFill>
          <a:ln w="12700">
            <a:solidFill>
              <a:srgbClr val="FFCCCC"/>
            </a:solidFill>
            <a:prstDash val="solid"/>
          </a:ln>
        </p:spPr>
        <p:txBody>
          <a:bodyPr/>
          <a:lstStyle/>
          <a:p>
            <a:endParaRPr lang="en-US"/>
          </a:p>
        </p:txBody>
      </p:sp>
      <p:sp>
        <p:nvSpPr>
          <p:cNvPr id="31" name="Text 29"/>
          <p:cNvSpPr/>
          <p:nvPr/>
        </p:nvSpPr>
        <p:spPr>
          <a:xfrm>
            <a:off x="384048" y="368503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  Battery failures undetected — lost drones</a:t>
            </a:r>
            <a:endParaRPr lang="en-US" sz="1000" dirty="0"/>
          </a:p>
        </p:txBody>
      </p:sp>
      <p:sp>
        <p:nvSpPr>
          <p:cNvPr id="32" name="Text 30"/>
          <p:cNvSpPr/>
          <p:nvPr/>
        </p:nvSpPr>
        <p:spPr>
          <a:xfrm>
            <a:off x="4407408" y="368503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33" name="Shape 31"/>
          <p:cNvSpPr/>
          <p:nvPr/>
        </p:nvSpPr>
        <p:spPr>
          <a:xfrm>
            <a:off x="4754880" y="3611880"/>
            <a:ext cx="4114800" cy="438912"/>
          </a:xfrm>
          <a:prstGeom prst="rect">
            <a:avLst/>
          </a:prstGeom>
          <a:solidFill>
            <a:srgbClr val="F0FFF4"/>
          </a:solidFill>
          <a:ln w="12700">
            <a:solidFill>
              <a:srgbClr val="AADDAA"/>
            </a:solidFill>
            <a:prstDash val="solid"/>
          </a:ln>
        </p:spPr>
        <p:txBody>
          <a:bodyPr/>
          <a:lstStyle/>
          <a:p>
            <a:endParaRPr lang="en-US"/>
          </a:p>
        </p:txBody>
      </p:sp>
      <p:sp>
        <p:nvSpPr>
          <p:cNvPr id="34" name="Text 32"/>
          <p:cNvSpPr/>
          <p:nvPr/>
        </p:nvSpPr>
        <p:spPr>
          <a:xfrm>
            <a:off x="4864608" y="368503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Predictive maintenance prevents all failures</a:t>
            </a:r>
            <a:endParaRPr lang="en-US" sz="1000" dirty="0"/>
          </a:p>
        </p:txBody>
      </p:sp>
      <p:sp>
        <p:nvSpPr>
          <p:cNvPr id="35" name="Shape 33"/>
          <p:cNvSpPr/>
          <p:nvPr/>
        </p:nvSpPr>
        <p:spPr>
          <a:xfrm>
            <a:off x="274320" y="4160520"/>
            <a:ext cx="4114800" cy="438912"/>
          </a:xfrm>
          <a:prstGeom prst="rect">
            <a:avLst/>
          </a:prstGeom>
          <a:solidFill>
            <a:srgbClr val="FFF5F5"/>
          </a:solidFill>
          <a:ln w="12700">
            <a:solidFill>
              <a:srgbClr val="FFCCCC"/>
            </a:solidFill>
            <a:prstDash val="solid"/>
          </a:ln>
        </p:spPr>
        <p:txBody>
          <a:bodyPr/>
          <a:lstStyle/>
          <a:p>
            <a:endParaRPr lang="en-US"/>
          </a:p>
        </p:txBody>
      </p:sp>
      <p:sp>
        <p:nvSpPr>
          <p:cNvPr id="36" name="Text 34"/>
          <p:cNvSpPr/>
          <p:nvPr/>
        </p:nvSpPr>
        <p:spPr>
          <a:xfrm>
            <a:off x="384048" y="4233672"/>
            <a:ext cx="3886200" cy="292608"/>
          </a:xfrm>
          <a:prstGeom prst="rect">
            <a:avLst/>
          </a:prstGeom>
          <a:noFill/>
          <a:ln/>
        </p:spPr>
        <p:txBody>
          <a:bodyPr wrap="square" lIns="0" tIns="0" rIns="0" bIns="0" rtlCol="0" anchor="ctr"/>
          <a:lstStyle/>
          <a:p>
            <a:pPr marL="0" indent="0">
              <a:buNone/>
            </a:pPr>
            <a:r>
              <a:rPr lang="en-US" sz="1000" dirty="0">
                <a:solidFill>
                  <a:srgbClr val="CC0000"/>
                </a:solidFill>
                <a:latin typeface="Calibri" pitchFamily="34" charset="0"/>
                <a:ea typeface="Calibri" pitchFamily="34" charset="-122"/>
                <a:cs typeface="Calibri" pitchFamily="34" charset="-120"/>
              </a:rPr>
              <a:t>  30-min delivery impossible at scale</a:t>
            </a:r>
            <a:endParaRPr lang="en-US" sz="1000" dirty="0"/>
          </a:p>
        </p:txBody>
      </p:sp>
      <p:sp>
        <p:nvSpPr>
          <p:cNvPr id="37" name="Text 35"/>
          <p:cNvSpPr/>
          <p:nvPr/>
        </p:nvSpPr>
        <p:spPr>
          <a:xfrm>
            <a:off x="4407408" y="4233672"/>
            <a:ext cx="329184" cy="292608"/>
          </a:xfrm>
          <a:prstGeom prst="rect">
            <a:avLst/>
          </a:prstGeom>
          <a:noFill/>
          <a:ln/>
        </p:spPr>
        <p:txBody>
          <a:bodyPr wrap="square" lIns="0" tIns="0" rIns="0" bIns="0" rtlCol="0" anchor="ctr"/>
          <a:lstStyle/>
          <a:p>
            <a:pPr marL="0" indent="0" algn="ctr">
              <a:buNone/>
            </a:pPr>
            <a:r>
              <a:rPr lang="en-US" sz="900" b="1" dirty="0">
                <a:solidFill>
                  <a:srgbClr val="444444"/>
                </a:solidFill>
                <a:latin typeface="Calibri" pitchFamily="34" charset="0"/>
                <a:ea typeface="Calibri" pitchFamily="34" charset="-122"/>
                <a:cs typeface="Calibri" pitchFamily="34" charset="-120"/>
              </a:rPr>
              <a:t>VS</a:t>
            </a:r>
            <a:endParaRPr lang="en-US" sz="900" dirty="0"/>
          </a:p>
        </p:txBody>
      </p:sp>
      <p:sp>
        <p:nvSpPr>
          <p:cNvPr id="38" name="Shape 36"/>
          <p:cNvSpPr/>
          <p:nvPr/>
        </p:nvSpPr>
        <p:spPr>
          <a:xfrm>
            <a:off x="4754880" y="4160520"/>
            <a:ext cx="4114800" cy="438912"/>
          </a:xfrm>
          <a:prstGeom prst="rect">
            <a:avLst/>
          </a:prstGeom>
          <a:solidFill>
            <a:srgbClr val="F0FFF4"/>
          </a:solidFill>
          <a:ln w="12700">
            <a:solidFill>
              <a:srgbClr val="AADDAA"/>
            </a:solidFill>
            <a:prstDash val="solid"/>
          </a:ln>
        </p:spPr>
        <p:txBody>
          <a:bodyPr/>
          <a:lstStyle/>
          <a:p>
            <a:endParaRPr lang="en-US"/>
          </a:p>
        </p:txBody>
      </p:sp>
      <p:sp>
        <p:nvSpPr>
          <p:cNvPr id="39" name="Text 37"/>
          <p:cNvSpPr/>
          <p:nvPr/>
        </p:nvSpPr>
        <p:spPr>
          <a:xfrm>
            <a:off x="4864608" y="4233672"/>
            <a:ext cx="3886200" cy="292608"/>
          </a:xfrm>
          <a:prstGeom prst="rect">
            <a:avLst/>
          </a:prstGeom>
          <a:noFill/>
          <a:ln/>
        </p:spPr>
        <p:txBody>
          <a:bodyPr wrap="square" lIns="0" tIns="0" rIns="0" bIns="0" rtlCol="0" anchor="ctr"/>
          <a:lstStyle/>
          <a:p>
            <a:pPr marL="0" indent="0">
              <a:buNone/>
            </a:pPr>
            <a:r>
              <a:rPr lang="en-US" sz="1000" dirty="0">
                <a:solidFill>
                  <a:srgbClr val="006600"/>
                </a:solidFill>
                <a:latin typeface="Calibri" pitchFamily="34" charset="0"/>
                <a:ea typeface="Calibri" pitchFamily="34" charset="-122"/>
                <a:cs typeface="Calibri" pitchFamily="34" charset="-120"/>
              </a:rPr>
              <a:t>  30-min delivery guaranteed at massive scale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54700A-A75B-ECD9-D71C-70911CD143D9}"/>
              </a:ext>
            </a:extLst>
          </p:cNvPr>
          <p:cNvPicPr>
            <a:picLocks noChangeAspect="1"/>
          </p:cNvPicPr>
          <p:nvPr/>
        </p:nvPicPr>
        <p:blipFill>
          <a:blip r:embed="rId2"/>
          <a:stretch>
            <a:fillRect/>
          </a:stretch>
        </p:blipFill>
        <p:spPr>
          <a:xfrm>
            <a:off x="0" y="6465"/>
            <a:ext cx="9144000" cy="5130570"/>
          </a:xfrm>
          <a:prstGeom prst="rect">
            <a:avLst/>
          </a:prstGeom>
        </p:spPr>
      </p:pic>
    </p:spTree>
    <p:extLst>
      <p:ext uri="{BB962C8B-B14F-4D97-AF65-F5344CB8AC3E}">
        <p14:creationId xmlns:p14="http://schemas.microsoft.com/office/powerpoint/2010/main" val="364538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365760" y="749808"/>
            <a:ext cx="1097280" cy="64008"/>
          </a:xfrm>
          <a:prstGeom prst="rect">
            <a:avLst/>
          </a:prstGeom>
          <a:solidFill>
            <a:srgbClr val="E87722"/>
          </a:solidFill>
          <a:ln w="12700">
            <a:solidFill>
              <a:srgbClr val="E87722"/>
            </a:solidFill>
            <a:prstDash val="solid"/>
          </a:ln>
        </p:spPr>
        <p:txBody>
          <a:bodyPr/>
          <a:lstStyle/>
          <a:p>
            <a:endParaRPr lang="en-US"/>
          </a:p>
        </p:txBody>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400" b="1" dirty="0">
                <a:solidFill>
                  <a:srgbClr val="1B3A6B"/>
                </a:solidFill>
                <a:latin typeface="Calibri" pitchFamily="34" charset="0"/>
                <a:ea typeface="Calibri" pitchFamily="34" charset="-122"/>
                <a:cs typeface="Calibri" pitchFamily="34" charset="-120"/>
              </a:rPr>
              <a:t>Future Scope</a:t>
            </a:r>
            <a:endParaRPr lang="en-US" sz="3400" dirty="0"/>
          </a:p>
        </p:txBody>
      </p:sp>
      <p:sp>
        <p:nvSpPr>
          <p:cNvPr id="4" name="Shape 2"/>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IN" dirty="0"/>
          </a:p>
        </p:txBody>
      </p:sp>
      <p:sp>
        <p:nvSpPr>
          <p:cNvPr id="5" name="Text 3"/>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
        <p:nvSpPr>
          <p:cNvPr id="6" name="Shape 4"/>
          <p:cNvSpPr/>
          <p:nvPr/>
        </p:nvSpPr>
        <p:spPr>
          <a:xfrm>
            <a:off x="228600" y="1005840"/>
            <a:ext cx="2788920" cy="1691640"/>
          </a:xfrm>
          <a:prstGeom prst="rect">
            <a:avLst/>
          </a:prstGeom>
          <a:solidFill>
            <a:srgbClr val="FFFFFF"/>
          </a:solidFill>
          <a:ln w="12700">
            <a:solidFill>
              <a:srgbClr val="C8D8EE"/>
            </a:solidFill>
            <a:prstDash val="solid"/>
          </a:ln>
        </p:spPr>
        <p:txBody>
          <a:bodyPr/>
          <a:lstStyle/>
          <a:p>
            <a:endParaRPr lang="en-US"/>
          </a:p>
        </p:txBody>
      </p:sp>
      <p:sp>
        <p:nvSpPr>
          <p:cNvPr id="7" name="Shape 5"/>
          <p:cNvSpPr/>
          <p:nvPr/>
        </p:nvSpPr>
        <p:spPr>
          <a:xfrm>
            <a:off x="228600" y="1005840"/>
            <a:ext cx="2788920" cy="457200"/>
          </a:xfrm>
          <a:prstGeom prst="rect">
            <a:avLst/>
          </a:prstGeom>
          <a:solidFill>
            <a:srgbClr val="1B3A6B"/>
          </a:solidFill>
          <a:ln w="12700">
            <a:solidFill>
              <a:srgbClr val="1B3A6B"/>
            </a:solidFill>
            <a:prstDash val="solid"/>
          </a:ln>
        </p:spPr>
        <p:txBody>
          <a:bodyPr/>
          <a:lstStyle/>
          <a:p>
            <a:endParaRPr lang="en-US"/>
          </a:p>
        </p:txBody>
      </p:sp>
      <p:sp>
        <p:nvSpPr>
          <p:cNvPr id="8" name="Text 6"/>
          <p:cNvSpPr/>
          <p:nvPr/>
        </p:nvSpPr>
        <p:spPr>
          <a:xfrm>
            <a:off x="320040" y="10607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6G + Real-Time Data Transmission</a:t>
            </a:r>
            <a:endParaRPr lang="en-US" sz="1000" dirty="0"/>
          </a:p>
        </p:txBody>
      </p:sp>
      <p:sp>
        <p:nvSpPr>
          <p:cNvPr id="9" name="Text 7"/>
          <p:cNvSpPr/>
          <p:nvPr/>
        </p:nvSpPr>
        <p:spPr>
          <a:xfrm>
            <a:off x="320040" y="15361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6G networks will enable terahertz-speed data transfers, allowing drones to process and share data 100x faster than current 5G infrastructure.</a:t>
            </a:r>
            <a:endParaRPr lang="en-US" sz="900" dirty="0"/>
          </a:p>
        </p:txBody>
      </p:sp>
      <p:sp>
        <p:nvSpPr>
          <p:cNvPr id="10" name="Shape 8"/>
          <p:cNvSpPr/>
          <p:nvPr/>
        </p:nvSpPr>
        <p:spPr>
          <a:xfrm>
            <a:off x="3172968" y="1005840"/>
            <a:ext cx="2788920" cy="1691640"/>
          </a:xfrm>
          <a:prstGeom prst="rect">
            <a:avLst/>
          </a:prstGeom>
          <a:solidFill>
            <a:srgbClr val="FFFFFF"/>
          </a:solidFill>
          <a:ln w="12700">
            <a:solidFill>
              <a:srgbClr val="C8D8EE"/>
            </a:solidFill>
            <a:prstDash val="solid"/>
          </a:ln>
        </p:spPr>
        <p:txBody>
          <a:bodyPr/>
          <a:lstStyle/>
          <a:p>
            <a:endParaRPr lang="en-US"/>
          </a:p>
        </p:txBody>
      </p:sp>
      <p:sp>
        <p:nvSpPr>
          <p:cNvPr id="11" name="Shape 9"/>
          <p:cNvSpPr/>
          <p:nvPr/>
        </p:nvSpPr>
        <p:spPr>
          <a:xfrm>
            <a:off x="3172968" y="1005840"/>
            <a:ext cx="2788920" cy="457200"/>
          </a:xfrm>
          <a:prstGeom prst="rect">
            <a:avLst/>
          </a:prstGeom>
          <a:solidFill>
            <a:srgbClr val="E87722"/>
          </a:solidFill>
          <a:ln w="12700">
            <a:solidFill>
              <a:srgbClr val="E87722"/>
            </a:solidFill>
            <a:prstDash val="solid"/>
          </a:ln>
        </p:spPr>
        <p:txBody>
          <a:bodyPr/>
          <a:lstStyle/>
          <a:p>
            <a:endParaRPr lang="en-US"/>
          </a:p>
        </p:txBody>
      </p:sp>
      <p:sp>
        <p:nvSpPr>
          <p:cNvPr id="12" name="Text 10"/>
          <p:cNvSpPr/>
          <p:nvPr/>
        </p:nvSpPr>
        <p:spPr>
          <a:xfrm>
            <a:off x="3264408" y="10607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Quantum-Enhanced Analytics</a:t>
            </a:r>
            <a:endParaRPr lang="en-US" sz="1000" dirty="0"/>
          </a:p>
        </p:txBody>
      </p:sp>
      <p:sp>
        <p:nvSpPr>
          <p:cNvPr id="13" name="Text 11"/>
          <p:cNvSpPr/>
          <p:nvPr/>
        </p:nvSpPr>
        <p:spPr>
          <a:xfrm>
            <a:off x="3264408" y="15361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Quantum computing will allow complex fleet optimizations — routing thousands of drones simultaneously — that would take current systems days to compute.</a:t>
            </a:r>
            <a:endParaRPr lang="en-US" sz="900" dirty="0"/>
          </a:p>
        </p:txBody>
      </p:sp>
      <p:sp>
        <p:nvSpPr>
          <p:cNvPr id="14" name="Shape 12"/>
          <p:cNvSpPr/>
          <p:nvPr/>
        </p:nvSpPr>
        <p:spPr>
          <a:xfrm>
            <a:off x="6117336" y="1005840"/>
            <a:ext cx="2788920" cy="1691640"/>
          </a:xfrm>
          <a:prstGeom prst="rect">
            <a:avLst/>
          </a:prstGeom>
          <a:solidFill>
            <a:srgbClr val="FFFFFF"/>
          </a:solidFill>
          <a:ln w="12700">
            <a:solidFill>
              <a:srgbClr val="C8D8EE"/>
            </a:solidFill>
            <a:prstDash val="solid"/>
          </a:ln>
        </p:spPr>
        <p:txBody>
          <a:bodyPr/>
          <a:lstStyle/>
          <a:p>
            <a:endParaRPr lang="en-US"/>
          </a:p>
        </p:txBody>
      </p:sp>
      <p:sp>
        <p:nvSpPr>
          <p:cNvPr id="15" name="Shape 13"/>
          <p:cNvSpPr/>
          <p:nvPr/>
        </p:nvSpPr>
        <p:spPr>
          <a:xfrm>
            <a:off x="6117336" y="1005840"/>
            <a:ext cx="2788920" cy="457200"/>
          </a:xfrm>
          <a:prstGeom prst="rect">
            <a:avLst/>
          </a:prstGeom>
          <a:solidFill>
            <a:srgbClr val="1B3A6B"/>
          </a:solidFill>
          <a:ln w="12700">
            <a:solidFill>
              <a:srgbClr val="1B3A6B"/>
            </a:solidFill>
            <a:prstDash val="solid"/>
          </a:ln>
        </p:spPr>
        <p:txBody>
          <a:bodyPr/>
          <a:lstStyle/>
          <a:p>
            <a:endParaRPr lang="en-US"/>
          </a:p>
        </p:txBody>
      </p:sp>
      <p:sp>
        <p:nvSpPr>
          <p:cNvPr id="16" name="Text 14"/>
          <p:cNvSpPr/>
          <p:nvPr/>
        </p:nvSpPr>
        <p:spPr>
          <a:xfrm>
            <a:off x="6208776" y="10607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Fully Autonomous Swarm Intelligence</a:t>
            </a:r>
            <a:endParaRPr lang="en-US" sz="1000" dirty="0"/>
          </a:p>
        </p:txBody>
      </p:sp>
      <p:sp>
        <p:nvSpPr>
          <p:cNvPr id="17" name="Text 15"/>
          <p:cNvSpPr/>
          <p:nvPr/>
        </p:nvSpPr>
        <p:spPr>
          <a:xfrm>
            <a:off x="6208776" y="15361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AI agents will coordinate without human intervention, using federated learning to improve flight decisions continuously across the entire drone fleet.</a:t>
            </a:r>
            <a:endParaRPr lang="en-US" sz="900" dirty="0"/>
          </a:p>
        </p:txBody>
      </p:sp>
      <p:sp>
        <p:nvSpPr>
          <p:cNvPr id="18" name="Shape 16"/>
          <p:cNvSpPr/>
          <p:nvPr/>
        </p:nvSpPr>
        <p:spPr>
          <a:xfrm>
            <a:off x="228600" y="2834640"/>
            <a:ext cx="2788920" cy="1691640"/>
          </a:xfrm>
          <a:prstGeom prst="rect">
            <a:avLst/>
          </a:prstGeom>
          <a:solidFill>
            <a:srgbClr val="FFFFFF"/>
          </a:solidFill>
          <a:ln w="12700">
            <a:solidFill>
              <a:srgbClr val="C8D8EE"/>
            </a:solidFill>
            <a:prstDash val="solid"/>
          </a:ln>
        </p:spPr>
        <p:txBody>
          <a:bodyPr/>
          <a:lstStyle/>
          <a:p>
            <a:endParaRPr lang="en-US"/>
          </a:p>
        </p:txBody>
      </p:sp>
      <p:sp>
        <p:nvSpPr>
          <p:cNvPr id="19" name="Shape 17"/>
          <p:cNvSpPr/>
          <p:nvPr/>
        </p:nvSpPr>
        <p:spPr>
          <a:xfrm>
            <a:off x="228600" y="2834640"/>
            <a:ext cx="2788920" cy="457200"/>
          </a:xfrm>
          <a:prstGeom prst="rect">
            <a:avLst/>
          </a:prstGeom>
          <a:solidFill>
            <a:srgbClr val="E87722"/>
          </a:solidFill>
          <a:ln w="12700">
            <a:solidFill>
              <a:srgbClr val="E87722"/>
            </a:solidFill>
            <a:prstDash val="solid"/>
          </a:ln>
        </p:spPr>
        <p:txBody>
          <a:bodyPr/>
          <a:lstStyle/>
          <a:p>
            <a:endParaRPr lang="en-US"/>
          </a:p>
        </p:txBody>
      </p:sp>
      <p:sp>
        <p:nvSpPr>
          <p:cNvPr id="20" name="Text 18"/>
          <p:cNvSpPr/>
          <p:nvPr/>
        </p:nvSpPr>
        <p:spPr>
          <a:xfrm>
            <a:off x="320040" y="28895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Urban Air Mobility (UAM)</a:t>
            </a:r>
            <a:endParaRPr lang="en-US" sz="1000" dirty="0"/>
          </a:p>
        </p:txBody>
      </p:sp>
      <p:sp>
        <p:nvSpPr>
          <p:cNvPr id="21" name="Text 19"/>
          <p:cNvSpPr/>
          <p:nvPr/>
        </p:nvSpPr>
        <p:spPr>
          <a:xfrm>
            <a:off x="320040" y="33649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Prime Air will expand into smart city airspace, integrating with flying taxis and emergency services for a unified Urban Air Traffic Management system.</a:t>
            </a:r>
            <a:endParaRPr lang="en-US" sz="900" dirty="0"/>
          </a:p>
        </p:txBody>
      </p:sp>
      <p:sp>
        <p:nvSpPr>
          <p:cNvPr id="22" name="Shape 20"/>
          <p:cNvSpPr/>
          <p:nvPr/>
        </p:nvSpPr>
        <p:spPr>
          <a:xfrm>
            <a:off x="3172968" y="2834640"/>
            <a:ext cx="2788920" cy="1691640"/>
          </a:xfrm>
          <a:prstGeom prst="rect">
            <a:avLst/>
          </a:prstGeom>
          <a:solidFill>
            <a:srgbClr val="FFFFFF"/>
          </a:solidFill>
          <a:ln w="12700">
            <a:solidFill>
              <a:srgbClr val="C8D8EE"/>
            </a:solidFill>
            <a:prstDash val="solid"/>
          </a:ln>
        </p:spPr>
        <p:txBody>
          <a:bodyPr/>
          <a:lstStyle/>
          <a:p>
            <a:endParaRPr lang="en-US"/>
          </a:p>
        </p:txBody>
      </p:sp>
      <p:sp>
        <p:nvSpPr>
          <p:cNvPr id="23" name="Shape 21"/>
          <p:cNvSpPr/>
          <p:nvPr/>
        </p:nvSpPr>
        <p:spPr>
          <a:xfrm>
            <a:off x="3172968" y="2834640"/>
            <a:ext cx="2788920" cy="457200"/>
          </a:xfrm>
          <a:prstGeom prst="rect">
            <a:avLst/>
          </a:prstGeom>
          <a:solidFill>
            <a:srgbClr val="1B3A6B"/>
          </a:solidFill>
          <a:ln w="12700">
            <a:solidFill>
              <a:srgbClr val="1B3A6B"/>
            </a:solidFill>
            <a:prstDash val="solid"/>
          </a:ln>
        </p:spPr>
        <p:txBody>
          <a:bodyPr/>
          <a:lstStyle/>
          <a:p>
            <a:endParaRPr lang="en-US"/>
          </a:p>
        </p:txBody>
      </p:sp>
      <p:sp>
        <p:nvSpPr>
          <p:cNvPr id="24" name="Text 22"/>
          <p:cNvSpPr/>
          <p:nvPr/>
        </p:nvSpPr>
        <p:spPr>
          <a:xfrm>
            <a:off x="3264408" y="28895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Green Big Data Infrastructure</a:t>
            </a:r>
            <a:endParaRPr lang="en-US" sz="1000" dirty="0"/>
          </a:p>
        </p:txBody>
      </p:sp>
      <p:sp>
        <p:nvSpPr>
          <p:cNvPr id="25" name="Text 23"/>
          <p:cNvSpPr/>
          <p:nvPr/>
        </p:nvSpPr>
        <p:spPr>
          <a:xfrm>
            <a:off x="3264408" y="33649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AWS will power drone operations with 100% renewable energy data centers, reducing carbon footprint while scaling to millions of daily drone deliveries.</a:t>
            </a:r>
            <a:endParaRPr lang="en-US" sz="900" dirty="0"/>
          </a:p>
        </p:txBody>
      </p:sp>
      <p:sp>
        <p:nvSpPr>
          <p:cNvPr id="26" name="Shape 24"/>
          <p:cNvSpPr/>
          <p:nvPr/>
        </p:nvSpPr>
        <p:spPr>
          <a:xfrm>
            <a:off x="6117336" y="2834640"/>
            <a:ext cx="2788920" cy="1691640"/>
          </a:xfrm>
          <a:prstGeom prst="rect">
            <a:avLst/>
          </a:prstGeom>
          <a:solidFill>
            <a:srgbClr val="FFFFFF"/>
          </a:solidFill>
          <a:ln w="12700">
            <a:solidFill>
              <a:srgbClr val="C8D8EE"/>
            </a:solidFill>
            <a:prstDash val="solid"/>
          </a:ln>
        </p:spPr>
        <p:txBody>
          <a:bodyPr/>
          <a:lstStyle/>
          <a:p>
            <a:endParaRPr lang="en-US"/>
          </a:p>
        </p:txBody>
      </p:sp>
      <p:sp>
        <p:nvSpPr>
          <p:cNvPr id="27" name="Shape 25"/>
          <p:cNvSpPr/>
          <p:nvPr/>
        </p:nvSpPr>
        <p:spPr>
          <a:xfrm>
            <a:off x="6117336" y="2834640"/>
            <a:ext cx="2788920" cy="457200"/>
          </a:xfrm>
          <a:prstGeom prst="rect">
            <a:avLst/>
          </a:prstGeom>
          <a:solidFill>
            <a:srgbClr val="E87722"/>
          </a:solidFill>
          <a:ln w="12700">
            <a:solidFill>
              <a:srgbClr val="E87722"/>
            </a:solidFill>
            <a:prstDash val="solid"/>
          </a:ln>
        </p:spPr>
        <p:txBody>
          <a:bodyPr/>
          <a:lstStyle/>
          <a:p>
            <a:endParaRPr lang="en-US"/>
          </a:p>
        </p:txBody>
      </p:sp>
      <p:sp>
        <p:nvSpPr>
          <p:cNvPr id="28" name="Text 26"/>
          <p:cNvSpPr/>
          <p:nvPr/>
        </p:nvSpPr>
        <p:spPr>
          <a:xfrm>
            <a:off x="6208776" y="2889504"/>
            <a:ext cx="2606040" cy="34747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Predictive Delivery Intelligence</a:t>
            </a:r>
            <a:endParaRPr lang="en-US" sz="1000" dirty="0"/>
          </a:p>
        </p:txBody>
      </p:sp>
      <p:sp>
        <p:nvSpPr>
          <p:cNvPr id="29" name="Text 27"/>
          <p:cNvSpPr/>
          <p:nvPr/>
        </p:nvSpPr>
        <p:spPr>
          <a:xfrm>
            <a:off x="6208776" y="3364992"/>
            <a:ext cx="2606040" cy="1078992"/>
          </a:xfrm>
          <a:prstGeom prst="rect">
            <a:avLst/>
          </a:prstGeom>
          <a:noFill/>
          <a:ln/>
        </p:spPr>
        <p:txBody>
          <a:bodyPr wrap="square" lIns="0" tIns="0" rIns="0" bIns="0" rtlCol="0" anchor="ctr"/>
          <a:lstStyle/>
          <a:p>
            <a:pPr marL="0" indent="0">
              <a:buNone/>
            </a:pPr>
            <a:r>
              <a:rPr lang="en-US" sz="900" dirty="0">
                <a:solidFill>
                  <a:srgbClr val="444444"/>
                </a:solidFill>
                <a:latin typeface="Calibri" pitchFamily="34" charset="0"/>
                <a:ea typeface="Calibri" pitchFamily="34" charset="-122"/>
                <a:cs typeface="Calibri" pitchFamily="34" charset="-120"/>
              </a:rPr>
              <a:t>Big Data will predict customer demand before orders are placed — pre-positioning drones for instant delivery using historical purchase pattern analysis.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DEEFF"/>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B3A6B"/>
          </a:solidFill>
          <a:ln w="12700">
            <a:solidFill>
              <a:srgbClr val="1B3A6B"/>
            </a:solidFill>
            <a:prstDash val="solid"/>
          </a:ln>
        </p:spPr>
        <p:txBody>
          <a:bodyPr/>
          <a:lstStyle/>
          <a:p>
            <a:endParaRPr lang="en-US"/>
          </a:p>
        </p:txBody>
      </p:sp>
      <p:sp>
        <p:nvSpPr>
          <p:cNvPr id="3" name="Shape 1"/>
          <p:cNvSpPr/>
          <p:nvPr/>
        </p:nvSpPr>
        <p:spPr>
          <a:xfrm>
            <a:off x="0" y="4114800"/>
            <a:ext cx="3474720" cy="1028700"/>
          </a:xfrm>
          <a:prstGeom prst="rect">
            <a:avLst/>
          </a:prstGeom>
          <a:solidFill>
            <a:srgbClr val="E87722"/>
          </a:solidFill>
          <a:ln w="12700">
            <a:solidFill>
              <a:srgbClr val="E87722"/>
            </a:solidFill>
            <a:prstDash val="solid"/>
          </a:ln>
        </p:spPr>
        <p:txBody>
          <a:bodyPr/>
          <a:lstStyle/>
          <a:p>
            <a:endParaRPr lang="en-US"/>
          </a:p>
        </p:txBody>
      </p:sp>
      <p:sp>
        <p:nvSpPr>
          <p:cNvPr id="4" name="Text 2"/>
          <p:cNvSpPr/>
          <p:nvPr/>
        </p:nvSpPr>
        <p:spPr>
          <a:xfrm>
            <a:off x="182880" y="731520"/>
            <a:ext cx="3108960" cy="128016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KEY</a:t>
            </a:r>
            <a:endParaRPr lang="en-US" sz="3600" dirty="0"/>
          </a:p>
          <a:p>
            <a:pPr marL="0" indent="0" algn="ctr">
              <a:buNone/>
            </a:pPr>
            <a:r>
              <a:rPr lang="en-US" sz="3600" b="1" dirty="0">
                <a:solidFill>
                  <a:srgbClr val="FFFFFF"/>
                </a:solidFill>
                <a:latin typeface="Calibri" pitchFamily="34" charset="0"/>
                <a:ea typeface="Calibri" pitchFamily="34" charset="-122"/>
                <a:cs typeface="Calibri" pitchFamily="34" charset="-120"/>
              </a:rPr>
              <a:t>TAKEAWAYS</a:t>
            </a:r>
            <a:endParaRPr lang="en-US" sz="3600" dirty="0"/>
          </a:p>
        </p:txBody>
      </p:sp>
      <p:sp>
        <p:nvSpPr>
          <p:cNvPr id="5" name="Shape 3"/>
          <p:cNvSpPr/>
          <p:nvPr/>
        </p:nvSpPr>
        <p:spPr>
          <a:xfrm>
            <a:off x="365760" y="2103120"/>
            <a:ext cx="2743200" cy="54864"/>
          </a:xfrm>
          <a:prstGeom prst="rect">
            <a:avLst/>
          </a:prstGeom>
          <a:solidFill>
            <a:srgbClr val="E87722"/>
          </a:solidFill>
          <a:ln w="12700">
            <a:solidFill>
              <a:srgbClr val="E87722"/>
            </a:solidFill>
            <a:prstDash val="solid"/>
          </a:ln>
        </p:spPr>
        <p:txBody>
          <a:bodyPr/>
          <a:lstStyle/>
          <a:p>
            <a:endParaRPr lang="en-US"/>
          </a:p>
        </p:txBody>
      </p:sp>
      <p:sp>
        <p:nvSpPr>
          <p:cNvPr id="6" name="Text 4"/>
          <p:cNvSpPr/>
          <p:nvPr/>
        </p:nvSpPr>
        <p:spPr>
          <a:xfrm>
            <a:off x="182880" y="2240280"/>
            <a:ext cx="3108960" cy="1371600"/>
          </a:xfrm>
          <a:prstGeom prst="rect">
            <a:avLst/>
          </a:prstGeom>
          <a:noFill/>
          <a:ln/>
        </p:spPr>
        <p:txBody>
          <a:bodyPr wrap="square" lIns="0" tIns="0" rIns="0" bIns="0"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Big Data Drives</a:t>
            </a:r>
            <a:endParaRPr lang="en-US" sz="1800" dirty="0"/>
          </a:p>
          <a:p>
            <a:pPr marL="0" indent="0" algn="ctr">
              <a:buNone/>
            </a:pPr>
            <a:r>
              <a:rPr lang="en-US" sz="1800" i="1" dirty="0">
                <a:solidFill>
                  <a:srgbClr val="FFFFFF"/>
                </a:solidFill>
                <a:latin typeface="Calibri" pitchFamily="34" charset="0"/>
                <a:ea typeface="Calibri" pitchFamily="34" charset="-122"/>
                <a:cs typeface="Calibri" pitchFamily="34" charset="-120"/>
              </a:rPr>
              <a:t>the Future of</a:t>
            </a:r>
            <a:endParaRPr lang="en-US" sz="1800" dirty="0"/>
          </a:p>
          <a:p>
            <a:pPr marL="0" indent="0" algn="ctr">
              <a:buNone/>
            </a:pPr>
            <a:r>
              <a:rPr lang="en-US" sz="1800" i="1" dirty="0">
                <a:solidFill>
                  <a:srgbClr val="FFFFFF"/>
                </a:solidFill>
                <a:latin typeface="Calibri" pitchFamily="34" charset="0"/>
                <a:ea typeface="Calibri" pitchFamily="34" charset="-122"/>
                <a:cs typeface="Calibri" pitchFamily="34" charset="-120"/>
              </a:rPr>
              <a:t>Drone Delivery</a:t>
            </a:r>
            <a:endParaRPr lang="en-US" sz="1800" dirty="0"/>
          </a:p>
        </p:txBody>
      </p:sp>
      <p:sp>
        <p:nvSpPr>
          <p:cNvPr id="7" name="Text 5"/>
          <p:cNvSpPr/>
          <p:nvPr/>
        </p:nvSpPr>
        <p:spPr>
          <a:xfrm>
            <a:off x="91440" y="4160520"/>
            <a:ext cx="3291840" cy="502920"/>
          </a:xfrm>
          <a:prstGeom prst="rect">
            <a:avLst/>
          </a:prstGeom>
          <a:noFill/>
          <a:ln/>
        </p:spPr>
        <p:txBody>
          <a:bodyPr wrap="square" lIns="0" tIns="0" rIns="0" bIns="0" rtlCol="0" anchor="ctr"/>
          <a:lstStyle/>
          <a:p>
            <a:pPr marL="0" indent="0" algn="ctr">
              <a:buNone/>
            </a:pPr>
            <a:endParaRPr lang="en-US" sz="1000" dirty="0"/>
          </a:p>
        </p:txBody>
      </p:sp>
      <p:sp>
        <p:nvSpPr>
          <p:cNvPr id="8" name="Shape 6"/>
          <p:cNvSpPr/>
          <p:nvPr/>
        </p:nvSpPr>
        <p:spPr>
          <a:xfrm>
            <a:off x="3749040" y="950976"/>
            <a:ext cx="384048" cy="384048"/>
          </a:xfrm>
          <a:prstGeom prst="ellipse">
            <a:avLst/>
          </a:prstGeom>
          <a:solidFill>
            <a:srgbClr val="E87722"/>
          </a:solidFill>
          <a:ln w="12700">
            <a:solidFill>
              <a:srgbClr val="E87722"/>
            </a:solidFill>
            <a:prstDash val="solid"/>
          </a:ln>
        </p:spPr>
        <p:txBody>
          <a:bodyPr/>
          <a:lstStyle/>
          <a:p>
            <a:endParaRPr lang="en-US"/>
          </a:p>
        </p:txBody>
      </p:sp>
      <p:sp>
        <p:nvSpPr>
          <p:cNvPr id="9" name="Text 7"/>
          <p:cNvSpPr/>
          <p:nvPr/>
        </p:nvSpPr>
        <p:spPr>
          <a:xfrm>
            <a:off x="3749040" y="9509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8"/>
          <p:cNvSpPr/>
          <p:nvPr/>
        </p:nvSpPr>
        <p:spPr>
          <a:xfrm>
            <a:off x="4251960" y="914400"/>
            <a:ext cx="4663440" cy="502920"/>
          </a:xfrm>
          <a:prstGeom prst="rect">
            <a:avLst/>
          </a:prstGeom>
          <a:solidFill>
            <a:srgbClr val="FFFFFF"/>
          </a:solidFill>
          <a:ln w="12700">
            <a:solidFill>
              <a:srgbClr val="C8D8EE"/>
            </a:solidFill>
            <a:prstDash val="solid"/>
          </a:ln>
        </p:spPr>
        <p:txBody>
          <a:bodyPr/>
          <a:lstStyle/>
          <a:p>
            <a:endParaRPr lang="en-US"/>
          </a:p>
        </p:txBody>
      </p:sp>
      <p:sp>
        <p:nvSpPr>
          <p:cNvPr id="11" name="Text 9"/>
          <p:cNvSpPr/>
          <p:nvPr/>
        </p:nvSpPr>
        <p:spPr>
          <a:xfrm>
            <a:off x="4370832" y="978408"/>
            <a:ext cx="4434840" cy="365760"/>
          </a:xfrm>
          <a:prstGeom prst="rect">
            <a:avLst/>
          </a:prstGeom>
          <a:noFill/>
          <a:ln/>
        </p:spPr>
        <p:txBody>
          <a:bodyPr wrap="square" lIns="0" tIns="0" rIns="0" bIns="0" rtlCol="0" anchor="ctr"/>
          <a:lstStyle/>
          <a:p>
            <a:pPr marL="0" indent="0">
              <a:buNone/>
            </a:pPr>
            <a:r>
              <a:rPr lang="en-US" sz="1100" dirty="0">
                <a:solidFill>
                  <a:srgbClr val="1B3A6B"/>
                </a:solidFill>
                <a:latin typeface="Calibri" pitchFamily="34" charset="0"/>
                <a:ea typeface="Calibri" pitchFamily="34" charset="-122"/>
                <a:cs typeface="Calibri" pitchFamily="34" charset="-120"/>
              </a:rPr>
              <a:t>Big Data is the backbone enabling real-time autonomous drone navigation at scale</a:t>
            </a:r>
            <a:endParaRPr lang="en-US" sz="1100" dirty="0"/>
          </a:p>
        </p:txBody>
      </p:sp>
      <p:sp>
        <p:nvSpPr>
          <p:cNvPr id="12" name="Shape 10"/>
          <p:cNvSpPr/>
          <p:nvPr/>
        </p:nvSpPr>
        <p:spPr>
          <a:xfrm>
            <a:off x="3749040" y="1700784"/>
            <a:ext cx="384048" cy="384048"/>
          </a:xfrm>
          <a:prstGeom prst="ellipse">
            <a:avLst/>
          </a:prstGeom>
          <a:solidFill>
            <a:srgbClr val="E87722"/>
          </a:solidFill>
          <a:ln w="12700">
            <a:solidFill>
              <a:srgbClr val="E87722"/>
            </a:solidFill>
            <a:prstDash val="solid"/>
          </a:ln>
        </p:spPr>
        <p:txBody>
          <a:bodyPr/>
          <a:lstStyle/>
          <a:p>
            <a:endParaRPr lang="en-US"/>
          </a:p>
        </p:txBody>
      </p:sp>
      <p:sp>
        <p:nvSpPr>
          <p:cNvPr id="13" name="Text 11"/>
          <p:cNvSpPr/>
          <p:nvPr/>
        </p:nvSpPr>
        <p:spPr>
          <a:xfrm>
            <a:off x="3749040" y="17007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2"/>
          <p:cNvSpPr/>
          <p:nvPr/>
        </p:nvSpPr>
        <p:spPr>
          <a:xfrm>
            <a:off x="4251960" y="1664208"/>
            <a:ext cx="4663440" cy="502920"/>
          </a:xfrm>
          <a:prstGeom prst="rect">
            <a:avLst/>
          </a:prstGeom>
          <a:solidFill>
            <a:srgbClr val="FFFFFF"/>
          </a:solidFill>
          <a:ln w="12700">
            <a:solidFill>
              <a:srgbClr val="C8D8EE"/>
            </a:solidFill>
            <a:prstDash val="solid"/>
          </a:ln>
        </p:spPr>
        <p:txBody>
          <a:bodyPr/>
          <a:lstStyle/>
          <a:p>
            <a:endParaRPr lang="en-US"/>
          </a:p>
        </p:txBody>
      </p:sp>
      <p:sp>
        <p:nvSpPr>
          <p:cNvPr id="15" name="Text 13"/>
          <p:cNvSpPr/>
          <p:nvPr/>
        </p:nvSpPr>
        <p:spPr>
          <a:xfrm>
            <a:off x="4370832" y="1728216"/>
            <a:ext cx="4434840" cy="365760"/>
          </a:xfrm>
          <a:prstGeom prst="rect">
            <a:avLst/>
          </a:prstGeom>
          <a:noFill/>
          <a:ln/>
        </p:spPr>
        <p:txBody>
          <a:bodyPr wrap="square" lIns="0" tIns="0" rIns="0" bIns="0" rtlCol="0" anchor="ctr"/>
          <a:lstStyle/>
          <a:p>
            <a:pPr marL="0" indent="0">
              <a:buNone/>
            </a:pPr>
            <a:r>
              <a:rPr lang="en-US" sz="1100" dirty="0">
                <a:solidFill>
                  <a:srgbClr val="1B3A6B"/>
                </a:solidFill>
                <a:latin typeface="Calibri" pitchFamily="34" charset="0"/>
                <a:ea typeface="Calibri" pitchFamily="34" charset="-122"/>
                <a:cs typeface="Calibri" pitchFamily="34" charset="-120"/>
              </a:rPr>
              <a:t>The 5 V's framework explains why traditional systems cannot handle drone data</a:t>
            </a:r>
            <a:endParaRPr lang="en-US" sz="1100" dirty="0"/>
          </a:p>
        </p:txBody>
      </p:sp>
      <p:sp>
        <p:nvSpPr>
          <p:cNvPr id="16" name="Shape 14"/>
          <p:cNvSpPr/>
          <p:nvPr/>
        </p:nvSpPr>
        <p:spPr>
          <a:xfrm>
            <a:off x="3749040" y="2450592"/>
            <a:ext cx="384048" cy="384048"/>
          </a:xfrm>
          <a:prstGeom prst="ellipse">
            <a:avLst/>
          </a:prstGeom>
          <a:solidFill>
            <a:srgbClr val="E87722"/>
          </a:solidFill>
          <a:ln w="12700">
            <a:solidFill>
              <a:srgbClr val="E87722"/>
            </a:solidFill>
            <a:prstDash val="solid"/>
          </a:ln>
        </p:spPr>
        <p:txBody>
          <a:bodyPr/>
          <a:lstStyle/>
          <a:p>
            <a:endParaRPr lang="en-US"/>
          </a:p>
        </p:txBody>
      </p:sp>
      <p:sp>
        <p:nvSpPr>
          <p:cNvPr id="17" name="Text 15"/>
          <p:cNvSpPr/>
          <p:nvPr/>
        </p:nvSpPr>
        <p:spPr>
          <a:xfrm>
            <a:off x="3749040" y="24505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4251960" y="2414016"/>
            <a:ext cx="4663440" cy="502920"/>
          </a:xfrm>
          <a:prstGeom prst="rect">
            <a:avLst/>
          </a:prstGeom>
          <a:solidFill>
            <a:srgbClr val="FFFFFF"/>
          </a:solidFill>
          <a:ln w="12700">
            <a:solidFill>
              <a:srgbClr val="C8D8EE"/>
            </a:solidFill>
            <a:prstDash val="solid"/>
          </a:ln>
        </p:spPr>
        <p:txBody>
          <a:bodyPr/>
          <a:lstStyle/>
          <a:p>
            <a:endParaRPr lang="en-US"/>
          </a:p>
        </p:txBody>
      </p:sp>
      <p:sp>
        <p:nvSpPr>
          <p:cNvPr id="19" name="Text 17"/>
          <p:cNvSpPr/>
          <p:nvPr/>
        </p:nvSpPr>
        <p:spPr>
          <a:xfrm>
            <a:off x="4370832" y="2478024"/>
            <a:ext cx="4434840" cy="365760"/>
          </a:xfrm>
          <a:prstGeom prst="rect">
            <a:avLst/>
          </a:prstGeom>
          <a:noFill/>
          <a:ln/>
        </p:spPr>
        <p:txBody>
          <a:bodyPr wrap="square" lIns="0" tIns="0" rIns="0" bIns="0" rtlCol="0" anchor="ctr"/>
          <a:lstStyle/>
          <a:p>
            <a:pPr marL="0" indent="0">
              <a:buNone/>
            </a:pPr>
            <a:r>
              <a:rPr lang="en-US" sz="1100" dirty="0">
                <a:solidFill>
                  <a:srgbClr val="1B3A6B"/>
                </a:solidFill>
                <a:latin typeface="Calibri" pitchFamily="34" charset="0"/>
                <a:ea typeface="Calibri" pitchFamily="34" charset="-122"/>
                <a:cs typeface="Calibri" pitchFamily="34" charset="-120"/>
              </a:rPr>
              <a:t>Distributed processing (Kafka, Spark, Lambda) is essential for swarm coordination</a:t>
            </a:r>
            <a:endParaRPr lang="en-US" sz="1100" dirty="0"/>
          </a:p>
        </p:txBody>
      </p:sp>
      <p:sp>
        <p:nvSpPr>
          <p:cNvPr id="20" name="Shape 18"/>
          <p:cNvSpPr/>
          <p:nvPr/>
        </p:nvSpPr>
        <p:spPr>
          <a:xfrm>
            <a:off x="3749040" y="3200400"/>
            <a:ext cx="384048" cy="384048"/>
          </a:xfrm>
          <a:prstGeom prst="ellipse">
            <a:avLst/>
          </a:prstGeom>
          <a:solidFill>
            <a:srgbClr val="E87722"/>
          </a:solidFill>
          <a:ln w="12700">
            <a:solidFill>
              <a:srgbClr val="E87722"/>
            </a:solidFill>
            <a:prstDash val="solid"/>
          </a:ln>
        </p:spPr>
        <p:txBody>
          <a:bodyPr/>
          <a:lstStyle/>
          <a:p>
            <a:endParaRPr lang="en-US"/>
          </a:p>
        </p:txBody>
      </p:sp>
      <p:sp>
        <p:nvSpPr>
          <p:cNvPr id="21" name="Text 19"/>
          <p:cNvSpPr/>
          <p:nvPr/>
        </p:nvSpPr>
        <p:spPr>
          <a:xfrm>
            <a:off x="3749040" y="3200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Shape 20"/>
          <p:cNvSpPr/>
          <p:nvPr/>
        </p:nvSpPr>
        <p:spPr>
          <a:xfrm>
            <a:off x="4251960" y="3163824"/>
            <a:ext cx="4663440" cy="502920"/>
          </a:xfrm>
          <a:prstGeom prst="rect">
            <a:avLst/>
          </a:prstGeom>
          <a:solidFill>
            <a:srgbClr val="FFFFFF"/>
          </a:solidFill>
          <a:ln w="12700">
            <a:solidFill>
              <a:srgbClr val="C8D8EE"/>
            </a:solidFill>
            <a:prstDash val="solid"/>
          </a:ln>
        </p:spPr>
        <p:txBody>
          <a:bodyPr/>
          <a:lstStyle/>
          <a:p>
            <a:endParaRPr lang="en-US"/>
          </a:p>
        </p:txBody>
      </p:sp>
      <p:sp>
        <p:nvSpPr>
          <p:cNvPr id="23" name="Text 21"/>
          <p:cNvSpPr/>
          <p:nvPr/>
        </p:nvSpPr>
        <p:spPr>
          <a:xfrm>
            <a:off x="4370832" y="3227832"/>
            <a:ext cx="4434840" cy="365760"/>
          </a:xfrm>
          <a:prstGeom prst="rect">
            <a:avLst/>
          </a:prstGeom>
          <a:noFill/>
          <a:ln/>
        </p:spPr>
        <p:txBody>
          <a:bodyPr wrap="square" lIns="0" tIns="0" rIns="0" bIns="0" rtlCol="0" anchor="ctr"/>
          <a:lstStyle/>
          <a:p>
            <a:pPr marL="0" indent="0">
              <a:buNone/>
            </a:pPr>
            <a:r>
              <a:rPr lang="en-US" sz="1100" dirty="0">
                <a:solidFill>
                  <a:srgbClr val="1B3A6B"/>
                </a:solidFill>
                <a:latin typeface="Calibri" pitchFamily="34" charset="0"/>
                <a:ea typeface="Calibri" pitchFamily="34" charset="-122"/>
                <a:cs typeface="Calibri" pitchFamily="34" charset="-120"/>
              </a:rPr>
              <a:t>Edge computing + cloud hybrid architecture delivers required low-latency performance</a:t>
            </a:r>
            <a:endParaRPr lang="en-US" sz="1100" dirty="0"/>
          </a:p>
        </p:txBody>
      </p:sp>
      <p:sp>
        <p:nvSpPr>
          <p:cNvPr id="24" name="Shape 22"/>
          <p:cNvSpPr/>
          <p:nvPr/>
        </p:nvSpPr>
        <p:spPr>
          <a:xfrm>
            <a:off x="3749040" y="3950208"/>
            <a:ext cx="384048" cy="384048"/>
          </a:xfrm>
          <a:prstGeom prst="ellipse">
            <a:avLst/>
          </a:prstGeom>
          <a:solidFill>
            <a:srgbClr val="E87722"/>
          </a:solidFill>
          <a:ln w="12700">
            <a:solidFill>
              <a:srgbClr val="E87722"/>
            </a:solidFill>
            <a:prstDash val="solid"/>
          </a:ln>
        </p:spPr>
        <p:txBody>
          <a:bodyPr/>
          <a:lstStyle/>
          <a:p>
            <a:endParaRPr lang="en-US"/>
          </a:p>
        </p:txBody>
      </p:sp>
      <p:sp>
        <p:nvSpPr>
          <p:cNvPr id="25" name="Text 23"/>
          <p:cNvSpPr/>
          <p:nvPr/>
        </p:nvSpPr>
        <p:spPr>
          <a:xfrm>
            <a:off x="3749040" y="3950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Shape 24"/>
          <p:cNvSpPr/>
          <p:nvPr/>
        </p:nvSpPr>
        <p:spPr>
          <a:xfrm>
            <a:off x="4251960" y="3913632"/>
            <a:ext cx="4663440" cy="502920"/>
          </a:xfrm>
          <a:prstGeom prst="rect">
            <a:avLst/>
          </a:prstGeom>
          <a:solidFill>
            <a:srgbClr val="FFFFFF"/>
          </a:solidFill>
          <a:ln w="12700">
            <a:solidFill>
              <a:srgbClr val="C8D8EE"/>
            </a:solidFill>
            <a:prstDash val="solid"/>
          </a:ln>
        </p:spPr>
        <p:txBody>
          <a:bodyPr/>
          <a:lstStyle/>
          <a:p>
            <a:endParaRPr lang="en-US"/>
          </a:p>
        </p:txBody>
      </p:sp>
      <p:sp>
        <p:nvSpPr>
          <p:cNvPr id="27" name="Text 25"/>
          <p:cNvSpPr/>
          <p:nvPr/>
        </p:nvSpPr>
        <p:spPr>
          <a:xfrm>
            <a:off x="4370832" y="3977640"/>
            <a:ext cx="4434840" cy="365760"/>
          </a:xfrm>
          <a:prstGeom prst="rect">
            <a:avLst/>
          </a:prstGeom>
          <a:noFill/>
          <a:ln/>
        </p:spPr>
        <p:txBody>
          <a:bodyPr wrap="square" lIns="0" tIns="0" rIns="0" bIns="0" rtlCol="0" anchor="ctr"/>
          <a:lstStyle/>
          <a:p>
            <a:pPr marL="0" indent="0">
              <a:buNone/>
            </a:pPr>
            <a:r>
              <a:rPr lang="en-US" sz="1100" dirty="0">
                <a:solidFill>
                  <a:srgbClr val="1B3A6B"/>
                </a:solidFill>
                <a:latin typeface="Calibri" pitchFamily="34" charset="0"/>
                <a:ea typeface="Calibri" pitchFamily="34" charset="-122"/>
                <a:cs typeface="Calibri" pitchFamily="34" charset="-120"/>
              </a:rPr>
              <a:t>Amazon Prime Air proves Big Data technology can transform logistics at a global scale</a:t>
            </a:r>
            <a:endParaRPr lang="en-US" sz="1100" dirty="0"/>
          </a:p>
        </p:txBody>
      </p:sp>
      <p:sp>
        <p:nvSpPr>
          <p:cNvPr id="28" name="Shape 26"/>
          <p:cNvSpPr/>
          <p:nvPr/>
        </p:nvSpPr>
        <p:spPr>
          <a:xfrm>
            <a:off x="0" y="4956048"/>
            <a:ext cx="9144000" cy="187452"/>
          </a:xfrm>
          <a:prstGeom prst="rect">
            <a:avLst/>
          </a:prstGeom>
          <a:solidFill>
            <a:srgbClr val="1B3A6B"/>
          </a:solidFill>
          <a:ln w="12700">
            <a:solidFill>
              <a:srgbClr val="1B3A6B"/>
            </a:solidFill>
            <a:prstDash val="solid"/>
          </a:ln>
        </p:spPr>
        <p:txBody>
          <a:bodyPr/>
          <a:lstStyle/>
          <a:p>
            <a:endParaRPr lang="en-US"/>
          </a:p>
        </p:txBody>
      </p:sp>
      <p:sp>
        <p:nvSpPr>
          <p:cNvPr id="29" name="Text 27"/>
          <p:cNvSpPr/>
          <p:nvPr/>
        </p:nvSpPr>
        <p:spPr>
          <a:xfrm>
            <a:off x="182880" y="4965192"/>
            <a:ext cx="8778240" cy="16459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1921</TotalTime>
  <Words>2040</Words>
  <Application>Microsoft Office PowerPoint</Application>
  <PresentationFormat>On-screen Show (16:9)</PresentationFormat>
  <Paragraphs>327</Paragraphs>
  <Slides>15</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Architecture - Amazon Prime Air</dc:title>
  <dc:subject>PptxGenJS Presentation</dc:subject>
  <dc:creator>PptxGenJS</dc:creator>
  <cp:lastModifiedBy>shatakshi pandey</cp:lastModifiedBy>
  <cp:revision>5</cp:revision>
  <dcterms:created xsi:type="dcterms:W3CDTF">2026-03-14T16:17:04Z</dcterms:created>
  <dcterms:modified xsi:type="dcterms:W3CDTF">2026-03-17T00:16:46Z</dcterms:modified>
</cp:coreProperties>
</file>